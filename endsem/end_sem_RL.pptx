
<file path=[Content_Types].xml><?xml version="1.0" encoding="utf-8"?>
<Types xmlns="http://schemas.openxmlformats.org/package/2006/content-types">
  <Default Extension="xml" ContentType="application/xml"/>
  <Default Extension="jpeg" ContentType="image/jpeg"/>
  <Default Extension="JPG" ContentType="image/.jpg"/>
  <Default Extension="xlsx" ContentType="application/vnd.openxmlformats-officedocument.spreadsheetml.sheet"/>
  <Default Extension="png" ContentType="image/png"/>
  <Default Extension="rels" ContentType="application/vnd.openxmlformats-package.relationships+xml"/>
  <Override PartName="/customXml/itemProps1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colors2.xml" ContentType="application/vnd.ms-office.chartcolorstyle+xml"/>
  <Override PartName="/ppt/charts/style1.xml" ContentType="application/vnd.ms-office.chartstyle+xml"/>
  <Override PartName="/ppt/charts/style2.xml" ContentType="application/vnd.ms-office.chartstyle+xml"/>
  <Override PartName="/ppt/media/image11.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87" r:id="rId5"/>
    <p:sldId id="288" r:id="rId6"/>
    <p:sldId id="289" r:id="rId7"/>
    <p:sldId id="291" r:id="rId8"/>
    <p:sldId id="275" r:id="rId9"/>
    <p:sldId id="290" r:id="rId10"/>
    <p:sldId id="292" r:id="rId11"/>
    <p:sldId id="294" r:id="rId12"/>
    <p:sldId id="299" r:id="rId13"/>
    <p:sldId id="262" r:id="rId14"/>
    <p:sldId id="264" r:id="rId15"/>
    <p:sldId id="268" r:id="rId16"/>
    <p:sldId id="298" r:id="rId17"/>
    <p:sldId id="300" r:id="rId18"/>
    <p:sldId id="302" r:id="rId19"/>
    <p:sldId id="304" r:id="rId20"/>
    <p:sldId id="280" r:id="rId21"/>
    <p:sldId id="286" r:id="rId22"/>
    <p:sldId id="282" r:id="rId23"/>
    <p:sldId id="295" r:id="rId24"/>
    <p:sldId id="285" r:id="rId25"/>
    <p:sldId id="305" r:id="rId26"/>
    <p:sldId id="296" r:id="rId27"/>
    <p:sldId id="284" r:id="rId28"/>
    <p:sldId id="297" r:id="rId29"/>
    <p:sldId id="279"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AD36"/>
    <a:srgbClr val="FF6C0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customXml" Target="../customXml/item1.xml"/><Relationship Id="rId34" Type="http://schemas.openxmlformats.org/officeDocument/2006/relationships/customXmlProps" Target="../customXml/itemProps12.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package" Target="../embeddings/Workbook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defTabSz="914400">
              <a:defRPr lang="en-US" sz="1400" b="1" i="0" u="none" strike="noStrike" kern="1200" baseline="0">
                <a:solidFill>
                  <a:schemeClr val="tx1">
                    <a:lumMod val="75000"/>
                    <a:lumOff val="25000"/>
                  </a:schemeClr>
                </a:solidFill>
                <a:latin typeface="+mn-lt"/>
                <a:ea typeface="+mn-ea"/>
                <a:cs typeface="+mn-cs"/>
              </a:defRPr>
            </a:pPr>
            <a:r>
              <a:t>Mines Fatalities</a:t>
            </a:r>
          </a:p>
        </c:rich>
      </c:tx>
      <c:layout>
        <c:manualLayout>
          <c:xMode val="edge"/>
          <c:yMode val="edge"/>
          <c:x val="0.335168793742281"/>
          <c:y val="0.0611593689062223"/>
        </c:manualLayout>
      </c:layout>
      <c:overlay val="0"/>
      <c:spPr>
        <a:noFill/>
        <a:ln>
          <a:noFill/>
        </a:ln>
        <a:effectLst/>
      </c:spPr>
    </c:title>
    <c:autoTitleDeleted val="0"/>
    <c:plotArea>
      <c:layout>
        <c:manualLayout>
          <c:layoutTarget val="inner"/>
          <c:xMode val="edge"/>
          <c:yMode val="edge"/>
          <c:x val="0.226884150535521"/>
          <c:y val="0.139238325004308"/>
          <c:w val="0.473715240247617"/>
          <c:h val="0.830777184215061"/>
        </c:manualLayout>
      </c:layout>
      <c:pieChart>
        <c:varyColors val="1"/>
        <c:ser>
          <c:idx val="0"/>
          <c:order val="0"/>
          <c:tx>
            <c:strRef>
              <c:f>Sheet1!$B$1</c:f>
              <c:strCache>
                <c:ptCount val="1"/>
                <c:pt idx="0">
                  <c:v>Fatalities</c:v>
                </c:pt>
              </c:strCache>
            </c:strRef>
          </c:tx>
          <c:spPr>
            <a:effectLst>
              <a:glow>
                <a:schemeClr val="tx1">
                  <a:lumMod val="95000"/>
                  <a:lumOff val="5000"/>
                </a:schemeClr>
              </a:glow>
            </a:effectLst>
          </c:spPr>
          <c:explosion val="0"/>
          <c:dPt>
            <c:idx val="0"/>
            <c:bubble3D val="0"/>
            <c:spPr>
              <a:solidFill>
                <a:schemeClr val="accent1"/>
              </a:solidFill>
              <a:ln>
                <a:solidFill>
                  <a:schemeClr val="bg1"/>
                </a:solidFill>
              </a:ln>
              <a:effectLst>
                <a:glow>
                  <a:schemeClr val="tx1">
                    <a:lumMod val="95000"/>
                    <a:lumOff val="5000"/>
                  </a:schemeClr>
                </a:glow>
              </a:effectLst>
            </c:spPr>
          </c:dPt>
          <c:dPt>
            <c:idx val="1"/>
            <c:bubble3D val="0"/>
            <c:spPr>
              <a:solidFill>
                <a:schemeClr val="accent2"/>
              </a:solidFill>
              <a:ln>
                <a:solidFill>
                  <a:schemeClr val="bg1"/>
                </a:solidFill>
              </a:ln>
              <a:effectLst>
                <a:glow>
                  <a:schemeClr val="tx1">
                    <a:lumMod val="95000"/>
                    <a:lumOff val="5000"/>
                  </a:schemeClr>
                </a:glow>
              </a:effectLst>
            </c:spPr>
          </c:dPt>
          <c:dPt>
            <c:idx val="2"/>
            <c:bubble3D val="0"/>
            <c:spPr>
              <a:solidFill>
                <a:schemeClr val="bg1">
                  <a:lumMod val="75000"/>
                </a:schemeClr>
              </a:solidFill>
              <a:ln>
                <a:solidFill>
                  <a:schemeClr val="bg1"/>
                </a:solidFill>
              </a:ln>
              <a:effectLst>
                <a:glow>
                  <a:schemeClr val="tx1">
                    <a:lumMod val="95000"/>
                    <a:lumOff val="5000"/>
                  </a:schemeClr>
                </a:glow>
              </a:effectLst>
            </c:spPr>
          </c:dPt>
          <c:dPt>
            <c:idx val="3"/>
            <c:bubble3D val="0"/>
            <c:spPr>
              <a:solidFill>
                <a:schemeClr val="accent4"/>
              </a:solidFill>
              <a:ln>
                <a:solidFill>
                  <a:schemeClr val="bg1"/>
                </a:solidFill>
              </a:ln>
              <a:effectLst>
                <a:glow>
                  <a:schemeClr val="tx1">
                    <a:lumMod val="95000"/>
                    <a:lumOff val="5000"/>
                  </a:schemeClr>
                </a:glow>
              </a:effectLst>
            </c:spPr>
          </c:dPt>
          <c:dLbls>
            <c:dLbl>
              <c:idx val="0"/>
              <c:layout>
                <c:manualLayout>
                  <c:x val="-0.191667196547057"/>
                  <c:y val="0.178151283448982"/>
                </c:manualLayout>
              </c:layout>
              <c:numFmt formatCode="General" sourceLinked="1"/>
              <c:spPr>
                <a:noFill/>
                <a:ln>
                  <a:noFill/>
                </a:ln>
                <a:effectLst>
                  <a:glow>
                    <a:schemeClr val="accent4"/>
                  </a:glow>
                </a:effectLst>
              </c:spPr>
              <c:txPr>
                <a:bodyPr rot="0" spcFirstLastPara="0" vertOverflow="ellipsis" vert="horz" wrap="square" lIns="38100" tIns="19050" rIns="38100" bIns="19050" anchor="ctr" anchorCtr="1"/>
                <a:lstStyle/>
                <a:p>
                  <a:pPr>
                    <a:defRPr lang="en-US" sz="1000" b="1" i="0" u="none" strike="noStrike" kern="1200" spc="0" baseline="0">
                      <a:solidFill>
                        <a:schemeClr val="accent4"/>
                      </a:solidFill>
                      <a:latin typeface="+mn-lt"/>
                      <a:ea typeface="+mn-ea"/>
                      <a:cs typeface="+mn-cs"/>
                    </a:defRPr>
                  </a:pPr>
                </a:p>
              </c:txPr>
              <c:dLblPos val="bestFit"/>
              <c:showLegendKey val="0"/>
              <c:showVal val="0"/>
              <c:showCatName val="1"/>
              <c:showSerName val="0"/>
              <c:showPercent val="1"/>
              <c:showBubbleSize val="0"/>
              <c:separator>
</c:separator>
              <c:extLst>
                <c:ext xmlns:c15="http://schemas.microsoft.com/office/drawing/2012/chart" uri="{CE6537A1-D6FC-4f65-9D91-7224C49458BB}">
                  <c15:layout/>
                </c:ext>
              </c:extLst>
            </c:dLbl>
            <c:dLbl>
              <c:idx val="1"/>
              <c:layout/>
              <c:numFmt formatCode="General" sourceLinked="1"/>
              <c:spPr>
                <a:noFill/>
                <a:ln>
                  <a:noFill/>
                </a:ln>
                <a:effectLst/>
              </c:spPr>
              <c:txPr>
                <a:bodyPr rot="0" spcFirstLastPara="0" vertOverflow="ellipsis" vert="horz" wrap="square" lIns="38100" tIns="19050" rIns="38100" bIns="19050" anchor="ctr" anchorCtr="1"/>
                <a:lstStyle/>
                <a:p>
                  <a:pPr>
                    <a:defRPr lang="en-US" sz="1000" b="1" i="0" u="none" strike="noStrike" kern="1200" spc="0" baseline="0">
                      <a:solidFill>
                        <a:schemeClr val="accent4"/>
                      </a:solidFill>
                      <a:latin typeface="+mn-lt"/>
                      <a:ea typeface="+mn-ea"/>
                      <a:cs typeface="+mn-cs"/>
                    </a:defRPr>
                  </a:pPr>
                </a:p>
              </c:txPr>
              <c:dLblPos val="inEnd"/>
              <c:showLegendKey val="0"/>
              <c:showVal val="0"/>
              <c:showCatName val="1"/>
              <c:showSerName val="0"/>
              <c:showPercent val="1"/>
              <c:showBubbleSize val="0"/>
              <c:separator>
</c:separator>
              <c:extLst>
                <c:ext xmlns:c15="http://schemas.microsoft.com/office/drawing/2012/chart" uri="{CE6537A1-D6FC-4f65-9D91-7224C49458BB}"/>
              </c:extLst>
            </c:dLbl>
            <c:dLbl>
              <c:idx val="2"/>
              <c:layout/>
              <c:numFmt formatCode="General" sourceLinked="1"/>
              <c:spPr>
                <a:noFill/>
                <a:ln>
                  <a:noFill/>
                </a:ln>
                <a:effectLst/>
              </c:spPr>
              <c:txPr>
                <a:bodyPr rot="0" spcFirstLastPara="0" vertOverflow="ellipsis" vert="horz" wrap="square" lIns="38100" tIns="19050" rIns="38100" bIns="19050" anchor="ctr" anchorCtr="1"/>
                <a:lstStyle/>
                <a:p>
                  <a:pPr>
                    <a:defRPr lang="en-US" sz="1000" b="1" i="0" u="none" strike="noStrike" kern="1200" spc="0" baseline="0">
                      <a:solidFill>
                        <a:schemeClr val="tx2"/>
                      </a:solidFill>
                      <a:latin typeface="+mn-lt"/>
                      <a:ea typeface="+mn-ea"/>
                      <a:cs typeface="+mn-cs"/>
                    </a:defRPr>
                  </a:pPr>
                </a:p>
              </c:txPr>
              <c:dLblPos val="inEnd"/>
              <c:showLegendKey val="0"/>
              <c:showVal val="0"/>
              <c:showCatName val="1"/>
              <c:showSerName val="0"/>
              <c:showPercent val="1"/>
              <c:showBubbleSize val="0"/>
              <c:separator>
</c:separator>
              <c:extLst>
                <c:ext xmlns:c15="http://schemas.microsoft.com/office/drawing/2012/chart" uri="{CE6537A1-D6FC-4f65-9D91-7224C49458BB}"/>
              </c:extLst>
            </c:dLbl>
            <c:dLbl>
              <c:idx val="3"/>
              <c:layout/>
              <c:numFmt formatCode="General" sourceLinked="1"/>
              <c:spPr>
                <a:noFill/>
                <a:ln>
                  <a:noFill/>
                </a:ln>
                <a:effectLst>
                  <a:glow>
                    <a:schemeClr val="accent1">
                      <a:alpha val="100000"/>
                    </a:schemeClr>
                  </a:glow>
                </a:effectLst>
              </c:spPr>
              <c:txPr>
                <a:bodyPr rot="0" spcFirstLastPara="0" vertOverflow="ellipsis" vert="horz" wrap="square" lIns="38100" tIns="19050" rIns="38100" bIns="19050" anchor="ctr" anchorCtr="1"/>
                <a:lstStyle/>
                <a:p>
                  <a:pPr>
                    <a:defRPr lang="en-US" sz="1000" b="1" i="0" u="none" strike="noStrike" kern="1200" spc="0" baseline="0">
                      <a:solidFill>
                        <a:schemeClr val="accent3"/>
                      </a:solidFill>
                      <a:latin typeface="+mn-lt"/>
                      <a:ea typeface="+mn-ea"/>
                      <a:cs typeface="+mn-cs"/>
                    </a:defRPr>
                  </a:pPr>
                </a:p>
              </c:txPr>
              <c:dLblPos val="inEnd"/>
              <c:showLegendKey val="0"/>
              <c:showVal val="0"/>
              <c:showCatName val="1"/>
              <c:showSerName val="0"/>
              <c:showPercent val="1"/>
              <c:showBubbleSize val="0"/>
              <c:separator>
</c:separator>
              <c:extLst>
                <c:ext xmlns:c15="http://schemas.microsoft.com/office/drawing/2012/chart" uri="{CE6537A1-D6FC-4f65-9D91-7224C49458BB}"/>
              </c:extLst>
            </c:dLbl>
            <c:spPr>
              <a:noFill/>
              <a:ln>
                <a:noFill/>
              </a:ln>
              <a:effectLst/>
            </c:spPr>
            <c:txPr>
              <a:bodyPr rot="0" spcFirstLastPara="0" vertOverflow="ellipsis" vert="horz" wrap="square" lIns="38100" tIns="19050" rIns="38100" bIns="19050" anchor="ctr" anchorCtr="1"/>
              <a:lstStyle/>
              <a:p>
                <a:pPr>
                  <a:defRPr lang="en-US" sz="1000" b="1" i="0" u="none" strike="noStrike" kern="1200" spc="0" baseline="0">
                    <a:solidFill>
                      <a:schemeClr val="accent1"/>
                    </a:solidFill>
                    <a:latin typeface="+mn-lt"/>
                    <a:ea typeface="+mn-ea"/>
                    <a:cs typeface="+mn-cs"/>
                  </a:defRPr>
                </a:pPr>
              </a:p>
            </c:txPr>
            <c:dLblPos val="inEnd"/>
            <c:showLegendKey val="0"/>
            <c:showVal val="0"/>
            <c:showCatName val="1"/>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Roof collapses</c:v>
                </c:pt>
                <c:pt idx="1">
                  <c:v>Gas leaks</c:v>
                </c:pt>
                <c:pt idx="2">
                  <c:v>Explosions</c:v>
                </c:pt>
                <c:pt idx="3">
                  <c:v>Equipment Failures</c:v>
                </c:pt>
              </c:strCache>
            </c:strRef>
          </c:cat>
          <c:val>
            <c:numRef>
              <c:f>Sheet1!$B$2:$B$5</c:f>
              <c:numCache>
                <c:formatCode>General</c:formatCode>
                <c:ptCount val="4"/>
                <c:pt idx="0">
                  <c:v>35</c:v>
                </c:pt>
                <c:pt idx="1">
                  <c:v>40</c:v>
                </c:pt>
                <c:pt idx="2">
                  <c:v>14</c:v>
                </c:pt>
                <c:pt idx="3">
                  <c:v>11</c:v>
                </c:pt>
              </c:numCache>
            </c:numRef>
          </c:val>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uri="{0b15fc19-7d7d-44ad-8c2d-2c3a37ce22c3}">
        <chartProps xmlns="https://web.wps.cn/et/2018/main" chartId="{9800a116-4327-4a89-95af-b2b18422e812}"/>
      </c:ext>
    </c:extLst>
  </c:chart>
  <c:spPr>
    <a:noFill/>
    <a:ln>
      <a:noFill/>
    </a:ln>
    <a:effectLst/>
  </c:spPr>
  <c:txPr>
    <a:bodyPr/>
    <a:lstStyle/>
    <a:p>
      <a:pPr>
        <a:defRPr lang="en-US"/>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defTabSz="914400">
              <a:defRPr lang="en-US" sz="1400" b="1" i="0" u="none" strike="noStrike" kern="1200" baseline="0">
                <a:solidFill>
                  <a:schemeClr val="tx1">
                    <a:lumMod val="75000"/>
                    <a:lumOff val="25000"/>
                  </a:schemeClr>
                </a:solidFill>
                <a:latin typeface="+mn-lt"/>
                <a:ea typeface="+mn-ea"/>
                <a:cs typeface="+mn-cs"/>
              </a:defRPr>
            </a:pPr>
            <a:r>
              <a:t>Accidents Trend</a:t>
            </a:r>
          </a:p>
        </c:rich>
      </c:tx>
      <c:layout>
        <c:manualLayout>
          <c:xMode val="edge"/>
          <c:yMode val="edge"/>
          <c:x val="0.451145918090589"/>
          <c:y val="0.0139876442475813"/>
        </c:manualLayout>
      </c:layout>
      <c:overlay val="0"/>
      <c:spPr>
        <a:noFill/>
        <a:ln>
          <a:noFill/>
        </a:ln>
        <a:effectLst/>
      </c:spPr>
    </c:title>
    <c:autoTitleDeleted val="0"/>
    <c:plotArea>
      <c:layout>
        <c:manualLayout>
          <c:layoutTarget val="inner"/>
          <c:xMode val="edge"/>
          <c:yMode val="edge"/>
          <c:x val="0.063714163457424"/>
          <c:y val="0.0907927500348354"/>
          <c:w val="0.950122050447518"/>
          <c:h val="0.802238023079613"/>
        </c:manualLayout>
      </c:layout>
      <c:lineChart>
        <c:grouping val="standard"/>
        <c:varyColors val="0"/>
        <c:ser>
          <c:idx val="0"/>
          <c:order val="0"/>
          <c:tx>
            <c:strRef>
              <c:f>Sheet1!$B$1</c:f>
              <c:strCache>
                <c:ptCount val="1"/>
                <c:pt idx="0">
                  <c:v>Accidents</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en-US" sz="1000" b="0" i="0" u="none" strike="noStrike" kern="1200" baseline="0">
                    <a:solidFill>
                      <a:schemeClr val="tx1">
                        <a:lumMod val="75000"/>
                        <a:lumOff val="25000"/>
                      </a:schemeClr>
                    </a:solidFill>
                    <a:latin typeface="+mn-lt"/>
                    <a:ea typeface="+mn-ea"/>
                    <a:cs typeface="+mn-cs"/>
                  </a:defRPr>
                </a:pPr>
              </a:p>
            </c:txPr>
            <c:dLblPos val="t"/>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trendline>
            <c:spPr>
              <a:ln w="19050" cap="rnd">
                <a:solidFill>
                  <a:schemeClr val="accent6"/>
                </a:solidFill>
                <a:prstDash val="sysDot"/>
              </a:ln>
              <a:effectLst/>
            </c:spPr>
            <c:trendlineType val="linear"/>
            <c:dispRSqr val="0"/>
            <c:dispEq val="0"/>
          </c:trendline>
          <c:cat>
            <c:numRef>
              <c:f>Sheet1!$A$2:$A$25</c:f>
              <c:numCache>
                <c:formatCode>General</c:formatCode>
                <c:ptCount val="24"/>
                <c:pt idx="0">
                  <c:v>2000</c:v>
                </c:pt>
                <c:pt idx="1">
                  <c:v>2001</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numCache>
            </c:numRef>
          </c:cat>
          <c:val>
            <c:numRef>
              <c:f>Sheet1!$B$2:$B$25</c:f>
              <c:numCache>
                <c:formatCode>General</c:formatCode>
                <c:ptCount val="24"/>
                <c:pt idx="0">
                  <c:v>1489</c:v>
                </c:pt>
                <c:pt idx="1">
                  <c:v>1421</c:v>
                </c:pt>
                <c:pt idx="2">
                  <c:v>1334</c:v>
                </c:pt>
                <c:pt idx="3">
                  <c:v>1403</c:v>
                </c:pt>
                <c:pt idx="4">
                  <c:v>1202</c:v>
                </c:pt>
                <c:pt idx="5">
                  <c:v>1123</c:v>
                </c:pt>
                <c:pt idx="6">
                  <c:v>720</c:v>
                </c:pt>
                <c:pt idx="7">
                  <c:v>957</c:v>
                </c:pt>
                <c:pt idx="8">
                  <c:v>815</c:v>
                </c:pt>
                <c:pt idx="9">
                  <c:v>623</c:v>
                </c:pt>
                <c:pt idx="10">
                  <c:v>701</c:v>
                </c:pt>
                <c:pt idx="11">
                  <c:v>615</c:v>
                </c:pt>
                <c:pt idx="12">
                  <c:v>415</c:v>
                </c:pt>
                <c:pt idx="13">
                  <c:v>616</c:v>
                </c:pt>
                <c:pt idx="14">
                  <c:v>505</c:v>
                </c:pt>
                <c:pt idx="15">
                  <c:v>349</c:v>
                </c:pt>
                <c:pt idx="16">
                  <c:v>264</c:v>
                </c:pt>
                <c:pt idx="17">
                  <c:v>219</c:v>
                </c:pt>
                <c:pt idx="18">
                  <c:v>302</c:v>
                </c:pt>
                <c:pt idx="19">
                  <c:v>30</c:v>
                </c:pt>
                <c:pt idx="20">
                  <c:v>23</c:v>
                </c:pt>
                <c:pt idx="21">
                  <c:v>57</c:v>
                </c:pt>
                <c:pt idx="22">
                  <c:v>63</c:v>
                </c:pt>
                <c:pt idx="23">
                  <c:v>47</c:v>
                </c:pt>
              </c:numCache>
            </c:numRef>
          </c:val>
          <c:smooth val="0"/>
        </c:ser>
        <c:ser>
          <c:idx val="1"/>
          <c:order val="1"/>
          <c:tx>
            <c:strRef>
              <c:f>Sheet1!$C$1</c:f>
              <c:strCache>
                <c:ptCount val="1"/>
                <c:pt idx="0">
                  <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en-US" sz="1000" b="0" i="0" u="none" strike="noStrike" kern="1200" baseline="0">
                    <a:solidFill>
                      <a:schemeClr val="tx1">
                        <a:lumMod val="75000"/>
                        <a:lumOff val="25000"/>
                      </a:schemeClr>
                    </a:solidFill>
                    <a:latin typeface="+mn-lt"/>
                    <a:ea typeface="+mn-ea"/>
                    <a:cs typeface="+mn-cs"/>
                  </a:defRPr>
                </a:pPr>
              </a:p>
            </c:txPr>
            <c:dLblPos val="t"/>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Sheet1!$A$2:$A$25</c:f>
              <c:numCache>
                <c:formatCode>General</c:formatCode>
                <c:ptCount val="24"/>
                <c:pt idx="0">
                  <c:v>2000</c:v>
                </c:pt>
                <c:pt idx="1">
                  <c:v>2001</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numCache>
            </c:numRef>
          </c:cat>
          <c:val>
            <c:numRef>
              <c:f>Sheet1!$C$2:$C$25</c:f>
              <c:numCache>
                <c:formatCode>General</c:formatCode>
                <c:ptCount val="24"/>
              </c:numCache>
            </c:numRef>
          </c:val>
          <c:smooth val="0"/>
        </c:ser>
        <c:ser>
          <c:idx val="2"/>
          <c:order val="2"/>
          <c:tx>
            <c:strRef>
              <c:f>Sheet1!$D$1</c:f>
              <c:strCache>
                <c:ptCount val="1"/>
                <c:pt idx="0">
                  <c:v/>
                </c:pt>
              </c:strCache>
            </c:strRef>
          </c:tx>
          <c:spPr>
            <a:ln w="28575" cap="rnd">
              <a:solidFill>
                <a:schemeClr val="accent4"/>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en-US" sz="1000" b="0" i="0" u="none" strike="noStrike" kern="1200" baseline="0">
                    <a:solidFill>
                      <a:schemeClr val="tx1">
                        <a:lumMod val="75000"/>
                        <a:lumOff val="25000"/>
                      </a:schemeClr>
                    </a:solidFill>
                    <a:latin typeface="+mn-lt"/>
                    <a:ea typeface="+mn-ea"/>
                    <a:cs typeface="+mn-cs"/>
                  </a:defRPr>
                </a:pPr>
              </a:p>
            </c:txPr>
            <c:dLblPos val="t"/>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Sheet1!$A$2:$A$25</c:f>
              <c:numCache>
                <c:formatCode>General</c:formatCode>
                <c:ptCount val="24"/>
                <c:pt idx="0">
                  <c:v>2000</c:v>
                </c:pt>
                <c:pt idx="1">
                  <c:v>2001</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numCache>
            </c:numRef>
          </c:cat>
          <c:val>
            <c:numRef>
              <c:f>Sheet1!$D$2:$D$25</c:f>
              <c:numCache>
                <c:formatCode>General</c:formatCode>
                <c:ptCount val="24"/>
              </c:numCache>
            </c:numRef>
          </c:val>
          <c:smooth val="0"/>
        </c:ser>
        <c:dLbls>
          <c:showLegendKey val="0"/>
          <c:showVal val="1"/>
          <c:showCatName val="0"/>
          <c:showSerName val="0"/>
          <c:showPercent val="0"/>
          <c:showBubbleSize val="0"/>
        </c:dLbls>
        <c:upDownBars>
          <c:gapWidth val="150"/>
          <c:upBars>
            <c:spPr>
              <a:solidFill>
                <a:schemeClr val="lt1"/>
              </a:solidFill>
              <a:ln w="9525">
                <a:solidFill>
                  <a:schemeClr val="tx1">
                    <a:lumMod val="15000"/>
                    <a:lumOff val="85000"/>
                  </a:schemeClr>
                </a:solidFill>
              </a:ln>
              <a:effectLst/>
            </c:spPr>
          </c:upBars>
          <c:downBars>
            <c:spPr>
              <a:solidFill>
                <a:schemeClr val="dk1">
                  <a:lumMod val="65000"/>
                  <a:lumOff val="35000"/>
                </a:schemeClr>
              </a:solidFill>
              <a:ln w="9525">
                <a:solidFill>
                  <a:schemeClr val="tx1">
                    <a:lumMod val="65000"/>
                    <a:lumOff val="35000"/>
                  </a:schemeClr>
                </a:solidFill>
              </a:ln>
              <a:effectLst/>
            </c:spPr>
          </c:downBars>
        </c:upDownBars>
        <c:marker val="0"/>
        <c:smooth val="0"/>
        <c:axId val="482723198"/>
        <c:axId val="887227204"/>
      </c:lineChart>
      <c:catAx>
        <c:axId val="482723198"/>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en-US" sz="900" b="0" i="0" u="none" strike="noStrike" kern="1200" baseline="0">
                <a:solidFill>
                  <a:schemeClr val="tx1">
                    <a:lumMod val="65000"/>
                    <a:lumOff val="35000"/>
                  </a:schemeClr>
                </a:solidFill>
                <a:latin typeface="+mn-lt"/>
                <a:ea typeface="+mn-ea"/>
                <a:cs typeface="+mn-cs"/>
              </a:defRPr>
            </a:pPr>
          </a:p>
        </c:txPr>
        <c:crossAx val="887227204"/>
        <c:crosses val="autoZero"/>
        <c:auto val="1"/>
        <c:lblAlgn val="ctr"/>
        <c:lblOffset val="100"/>
        <c:noMultiLvlLbl val="0"/>
      </c:catAx>
      <c:valAx>
        <c:axId val="887227204"/>
        <c:scaling>
          <c:orientation val="minMax"/>
        </c:scaling>
        <c:delete val="0"/>
        <c:axPos val="l"/>
        <c:majorGridlines>
          <c:spPr>
            <a:ln w="9525" cap="flat" cmpd="sng" algn="ctr">
              <a:solidFill>
                <a:schemeClr val="lt1">
                  <a:lumMod val="90200"/>
                </a:schemeClr>
              </a:solid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en-US" sz="900" b="0" i="0" u="none" strike="noStrike" kern="1200" baseline="0">
                <a:solidFill>
                  <a:schemeClr val="tx1">
                    <a:lumMod val="65000"/>
                    <a:lumOff val="35000"/>
                  </a:schemeClr>
                </a:solidFill>
                <a:latin typeface="+mn-lt"/>
                <a:ea typeface="+mn-ea"/>
                <a:cs typeface="+mn-cs"/>
              </a:defRPr>
            </a:pPr>
          </a:p>
        </c:txPr>
        <c:crossAx val="482723198"/>
        <c:crosses val="autoZero"/>
        <c:crossBetween val="between"/>
      </c:valAx>
      <c:spPr>
        <a:noFill/>
        <a:ln>
          <a:noFill/>
        </a:ln>
        <a:effectLst/>
      </c:spPr>
    </c:plotArea>
    <c:legend>
      <c:legendPos val="b"/>
      <c:legendEntry>
        <c:idx val="1"/>
        <c:delete val="1"/>
      </c:legendEntry>
      <c:legendEntry>
        <c:idx val="2"/>
        <c:delete val="1"/>
      </c:legendEntry>
      <c:layout>
        <c:manualLayout>
          <c:xMode val="edge"/>
          <c:yMode val="edge"/>
          <c:x val="0.621098977027677"/>
          <c:y val="0.831383984334191"/>
          <c:w val="0.37564415513968"/>
          <c:h val="0.0493064459727241"/>
        </c:manualLayout>
      </c:layout>
      <c:overlay val="0"/>
      <c:spPr>
        <a:noFill/>
        <a:ln>
          <a:noFill/>
        </a:ln>
        <a:effectLst/>
      </c:spPr>
      <c:txPr>
        <a:bodyPr rot="0" spcFirstLastPara="0" vertOverflow="ellipsis" vert="horz" wrap="square" anchor="ctr" anchorCtr="1"/>
        <a:lstStyle/>
        <a:p>
          <a:pPr>
            <a:defRPr lang="en-US" sz="900" b="0" i="0" u="none" strike="noStrike" kern="1200" baseline="0">
              <a:solidFill>
                <a:schemeClr val="tx1">
                  <a:lumMod val="65000"/>
                  <a:lumOff val="35000"/>
                </a:schemeClr>
              </a:solidFill>
              <a:latin typeface="+mn-lt"/>
              <a:ea typeface="+mn-ea"/>
              <a:cs typeface="+mn-cs"/>
            </a:defRPr>
          </a:pPr>
        </a:p>
      </c:txPr>
    </c:legend>
    <c:plotVisOnly val="1"/>
    <c:dispBlanksAs val="gap"/>
    <c:showDLblsOverMax val="0"/>
    <c:extLst>
      <c:ext uri="{0b15fc19-7d7d-44ad-8c2d-2c3a37ce22c3}">
        <chartProps xmlns="https://web.wps.cn/et/2018/main" chartId="{ab7434b6-6bd6-4a59-b4b5-de17c6362ed9}"/>
      </c:ext>
    </c:extLst>
  </c:chart>
  <c:spPr>
    <a:noFill/>
    <a:ln>
      <a:noFill/>
    </a:ln>
    <a:effectLst/>
  </c:spPr>
  <c:txPr>
    <a:bodyPr/>
    <a:lstStyle/>
    <a:p>
      <a:pPr>
        <a:defRPr lang="en-US"/>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84">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cs:styleClr val="auto"/>
    </cs:fontRef>
    <cs:defRPr sz="1000" b="1" i="0" u="none" strike="noStrike" kern="1200" spc="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38"/>
            <a:ext cx="10515600" cy="2852737"/>
          </a:xfrm>
        </p:spPr>
        <p:txBody>
          <a:bodyPr anchor="b"/>
          <a:lstStyle>
            <a:lvl1pPr>
              <a:defRPr sz="4500"/>
            </a:lvl1pPr>
          </a:lstStyle>
          <a:p>
            <a:r>
              <a:rPr lang="en-US" smtClean="0"/>
              <a:t>Click to edit Master title style</a:t>
            </a:r>
            <a:endParaRPr lang="en-US"/>
          </a:p>
        </p:txBody>
      </p:sp>
      <p:sp>
        <p:nvSpPr>
          <p:cNvPr id="3" name="Text Placeholder 2"/>
          <p:cNvSpPr>
            <a:spLocks noGrp="1"/>
          </p:cNvSpPr>
          <p:nvPr>
            <p:ph type="body" idx="1"/>
          </p:nvPr>
        </p:nvSpPr>
        <p:spPr>
          <a:xfrm>
            <a:off x="831851" y="4589463"/>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76672" cy="4525963"/>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205728" y="1600200"/>
            <a:ext cx="5376672" cy="4525963"/>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timing>
    <p:tnLst>
      <p:par>
        <p:cTn id="1" dur="indefinite" restart="never" nodeType="tmRoot"/>
      </p:par>
    </p:tnLst>
  </p:timing>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70573"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sldNum="0"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alpha val="100000"/>
          </a:schemeClr>
        </a:solidFill>
        <a:effectLst/>
      </p:bgPr>
    </p:bg>
    <p:spTree>
      <p:nvGrpSpPr>
        <p:cNvPr id="1" name=""/>
        <p:cNvGrpSpPr/>
        <p:nvPr/>
      </p:nvGrpSpPr>
      <p:grpSpPr/>
      <p:sp>
        <p:nvSpPr>
          <p:cNvPr id="1026" name="Title 1025"/>
          <p:cNvSpPr/>
          <p:nvPr>
            <p:ph type="title"/>
          </p:nvPr>
        </p:nvSpPr>
        <p:spPr>
          <a:xfrm>
            <a:off x="609600" y="274638"/>
            <a:ext cx="10972800" cy="1143000"/>
          </a:xfrm>
          <a:prstGeom prst="rect">
            <a:avLst/>
          </a:prstGeom>
          <a:noFill/>
          <a:ln w="9525">
            <a:noFill/>
          </a:ln>
        </p:spPr>
        <p:txBody>
          <a:bodyPr anchor="ctr" anchorCtr="0"/>
          <a:p>
            <a:pPr lvl="0"/>
            <a:r>
              <a:t>Click to edit Master title style</a:t>
            </a:r>
          </a:p>
        </p:txBody>
      </p:sp>
      <p:sp>
        <p:nvSpPr>
          <p:cNvPr id="1027" name="Text Placeholder 1026"/>
          <p:cNvSpPr/>
          <p:nvPr>
            <p:ph type="body" idx="1"/>
          </p:nvPr>
        </p:nvSpPr>
        <p:spPr>
          <a:xfrm>
            <a:off x="609600" y="1600200"/>
            <a:ext cx="10972800" cy="4525963"/>
          </a:xfrm>
          <a:prstGeom prst="rect">
            <a:avLst/>
          </a:prstGeom>
          <a:noFill/>
          <a:ln w="9525">
            <a:noFill/>
          </a:ln>
        </p:spPr>
        <p:txBody>
          <a:bodyPr/>
          <a:p>
            <a:pPr lvl="0"/>
            <a:r>
              <a:t>Click to edit Master text styles</a:t>
            </a:r>
          </a:p>
          <a:p>
            <a:pPr lvl="1"/>
            <a:r>
              <a:t>Second level</a:t>
            </a:r>
          </a:p>
          <a:p>
            <a:pPr lvl="2"/>
            <a:r>
              <a:t>Third level</a:t>
            </a:r>
          </a:p>
          <a:p>
            <a:pPr lvl="3"/>
            <a:r>
              <a:t>Fourth level</a:t>
            </a:r>
          </a:p>
          <a:p>
            <a:pPr lvl="4"/>
            <a:r>
              <a:t>Fifth level</a:t>
            </a:r>
          </a:p>
        </p:txBody>
      </p:sp>
      <p:sp>
        <p:nvSpPr>
          <p:cNvPr id="1028" name="Date Placeholder 1027"/>
          <p:cNvSpPr/>
          <p:nvPr>
            <p:ph type="dt" sz="half" idx="2"/>
          </p:nvPr>
        </p:nvSpPr>
        <p:spPr>
          <a:xfrm>
            <a:off x="609600" y="6245225"/>
            <a:ext cx="2844800" cy="476250"/>
          </a:xfrm>
          <a:prstGeom prst="rect">
            <a:avLst/>
          </a:prstGeom>
          <a:noFill/>
          <a:ln w="9525">
            <a:noFill/>
          </a:ln>
        </p:spPr>
        <p:txBody>
          <a:bodyPr/>
          <a:lstStyle>
            <a:lvl1pPr>
              <a:defRPr sz="1400"/>
            </a:lvl1pPr>
          </a:lstStyle>
          <a:p>
            <a:fld id="{63A1C593-65D0-4073-BCC9-577B9352EA97}" type="datetimeFigureOut">
              <a:rPr lang="en-US" smtClean="0"/>
            </a:fld>
            <a:endParaRPr lang="en-US"/>
          </a:p>
        </p:txBody>
      </p:sp>
      <p:sp>
        <p:nvSpPr>
          <p:cNvPr id="1029" name="Footer Placeholder 1028"/>
          <p:cNvSpPr/>
          <p:nvPr>
            <p:ph type="ftr" sz="quarter" idx="3"/>
          </p:nvPr>
        </p:nvSpPr>
        <p:spPr>
          <a:xfrm>
            <a:off x="4165600" y="6245225"/>
            <a:ext cx="3860800" cy="476250"/>
          </a:xfrm>
          <a:prstGeom prst="rect">
            <a:avLst/>
          </a:prstGeom>
          <a:noFill/>
          <a:ln w="9525">
            <a:noFill/>
          </a:ln>
        </p:spPr>
        <p:txBody>
          <a:bodyPr/>
          <a:lstStyle>
            <a:lvl1pPr algn="ctr">
              <a:defRPr sz="1400"/>
            </a:lvl1pPr>
          </a:lstStyle>
          <a:p>
            <a:endParaRPr lang="en-US"/>
          </a:p>
        </p:txBody>
      </p:sp>
      <p:sp>
        <p:nvSpPr>
          <p:cNvPr id="1030" name="Slide Number Placeholder 1029"/>
          <p:cNvSpPr/>
          <p:nvPr>
            <p:ph type="sldNum" sz="quarter" idx="4"/>
          </p:nvPr>
        </p:nvSpPr>
        <p:spPr>
          <a:xfrm>
            <a:off x="8737600" y="6245225"/>
            <a:ext cx="2844800" cy="476250"/>
          </a:xfrm>
          <a:prstGeom prst="rect">
            <a:avLst/>
          </a:prstGeom>
          <a:noFill/>
          <a:ln w="9525">
            <a:noFill/>
          </a:ln>
        </p:spPr>
        <p:txBody>
          <a:bodyPr/>
          <a:lstStyle>
            <a:lvl1pPr algn="r">
              <a:defRPr sz="1400"/>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marL="0" lvl="0" indent="0" algn="ctr" defTabSz="914400" eaLnBrk="1" fontAlgn="base" latinLnBrk="0" hangingPunct="1">
        <a:lnSpc>
          <a:spcPct val="100000"/>
        </a:lnSpc>
        <a:spcBef>
          <a:spcPct val="0"/>
        </a:spcBef>
        <a:spcAft>
          <a:spcPct val="0"/>
        </a:spcAft>
        <a:buNone/>
        <a:defRPr sz="4400" b="0" i="0" u="none" kern="1200" baseline="0">
          <a:solidFill>
            <a:schemeClr val="tx2"/>
          </a:solidFill>
          <a:latin typeface="+mj-lt"/>
          <a:ea typeface="+mj-ea"/>
          <a:cs typeface="+mj-cs"/>
        </a:defRPr>
      </a:lvl1pPr>
    </p:titleStyle>
    <p:bodyStyle>
      <a:lvl1pPr marL="342900" lvl="0" indent="-342900" algn="l" defTabSz="914400" eaLnBrk="1" fontAlgn="base" latinLnBrk="0" hangingPunct="1">
        <a:lnSpc>
          <a:spcPct val="100000"/>
        </a:lnSpc>
        <a:spcBef>
          <a:spcPct val="20000"/>
        </a:spcBef>
        <a:spcAft>
          <a:spcPct val="0"/>
        </a:spcAft>
        <a:buChar char="•"/>
        <a:defRPr sz="3200" b="0" i="0" u="none" kern="1200" baseline="0">
          <a:solidFill>
            <a:schemeClr val="tx1"/>
          </a:solidFill>
          <a:latin typeface="+mn-lt"/>
          <a:ea typeface="+mn-ea"/>
          <a:cs typeface="+mn-cs"/>
        </a:defRPr>
      </a:lvl1pPr>
      <a:lvl2pPr marL="742950" lvl="1" indent="-28575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vl6pPr marL="2514600" lvl="5"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6pPr>
      <a:lvl7pPr marL="2971800" lvl="6"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7pPr>
      <a:lvl8pPr marL="3429000" lvl="7"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8pPr>
      <a:lvl9pPr marL="3886200" lvl="8"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9pPr>
    </p:bodyStyle>
    <p:otherStyle>
      <a:lvl1pPr marL="0" lvl="0" indent="0" algn="l" defTabSz="914400" eaLnBrk="1" fontAlgn="base" latinLnBrk="0" hangingPunct="1">
        <a:lnSpc>
          <a:spcPct val="100000"/>
        </a:lnSpc>
        <a:spcBef>
          <a:spcPct val="0"/>
        </a:spcBef>
        <a:spcAft>
          <a:spcPct val="0"/>
        </a:spcAft>
        <a:buFont typeface="Arial" panose="020B0604020202020204" pitchFamily="34" charset="0"/>
        <a:buNone/>
        <a:defRPr sz="1800" b="0" i="0" u="none" kern="1200" baseline="0">
          <a:solidFill>
            <a:schemeClr val="tx1"/>
          </a:solidFill>
          <a:latin typeface="+mn-lt"/>
          <a:ea typeface="+mn-ea"/>
          <a:cs typeface="+mn-cs"/>
        </a:defRPr>
      </a:lvl1pPr>
      <a:lvl2pPr marL="457200" lvl="1" indent="0" algn="l" defTabSz="91440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Arial" panose="020B0604020202020204" pitchFamily="34" charset="0"/>
          <a:ea typeface="+mn-ea"/>
          <a:cs typeface="+mn-cs"/>
        </a:defRPr>
      </a:lvl2pPr>
      <a:lvl3pPr marL="914400" lvl="2" indent="0" algn="l" defTabSz="91440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Arial" panose="020B0604020202020204" pitchFamily="34" charset="0"/>
          <a:ea typeface="+mn-ea"/>
          <a:cs typeface="+mn-cs"/>
        </a:defRPr>
      </a:lvl3pPr>
      <a:lvl4pPr marL="1371600" lvl="3" indent="0" algn="l" defTabSz="91440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Arial" panose="020B0604020202020204" pitchFamily="34" charset="0"/>
          <a:ea typeface="+mn-ea"/>
          <a:cs typeface="+mn-cs"/>
        </a:defRPr>
      </a:lvl4pPr>
      <a:lvl5pPr marL="1828800" lvl="4" indent="0" algn="l" defTabSz="91440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Arial" panose="020B0604020202020204" pitchFamily="34" charset="0"/>
          <a:ea typeface="+mn-ea"/>
          <a:cs typeface="+mn-cs"/>
        </a:defRPr>
      </a:lvl5pPr>
      <a:lvl6pPr marL="2286000" lvl="5" indent="0" algn="l" defTabSz="91440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Arial" panose="020B0604020202020204" pitchFamily="34" charset="0"/>
          <a:ea typeface="+mn-ea"/>
          <a:cs typeface="+mn-cs"/>
        </a:defRPr>
      </a:lvl6pPr>
      <a:lvl7pPr marL="2743200" lvl="6" indent="0" algn="l" defTabSz="91440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Arial" panose="020B0604020202020204" pitchFamily="34" charset="0"/>
          <a:ea typeface="+mn-ea"/>
          <a:cs typeface="+mn-cs"/>
        </a:defRPr>
      </a:lvl7pPr>
      <a:lvl8pPr marL="3200400" lvl="7" indent="0" algn="l" defTabSz="91440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Arial" panose="020B0604020202020204" pitchFamily="34" charset="0"/>
          <a:ea typeface="+mn-ea"/>
          <a:cs typeface="+mn-cs"/>
        </a:defRPr>
      </a:lvl8pPr>
      <a:lvl9pPr marL="3657600" lvl="8" indent="0" algn="l" defTabSz="91440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Arial" panose="020B0604020202020204" pitchFamily="34" charset="0"/>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hart" Target="../charts/chart2.xml"/><Relationship Id="rId1"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9.jpeg"/><Relationship Id="rId5" Type="http://schemas.openxmlformats.org/officeDocument/2006/relationships/image" Target="../media/image8.jpeg"/><Relationship Id="rId4" Type="http://schemas.openxmlformats.org/officeDocument/2006/relationships/image" Target="../media/image7.jpeg"/><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s>
</file>

<file path=ppt/slides/_rels/slide12.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22.svg"/><Relationship Id="rId3" Type="http://schemas.openxmlformats.org/officeDocument/2006/relationships/image" Target="../media/image21.png"/><Relationship Id="rId2" Type="http://schemas.openxmlformats.org/officeDocument/2006/relationships/image" Target="../media/image20.svg"/><Relationship Id="rId1" Type="http://schemas.openxmlformats.org/officeDocument/2006/relationships/image" Target="../media/image19.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3.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slideLayout" Target="../slideLayouts/slideLayout1.xml"/><Relationship Id="rId7" Type="http://schemas.openxmlformats.org/officeDocument/2006/relationships/tags" Target="../tags/tag8.xml"/><Relationship Id="rId6" Type="http://schemas.openxmlformats.org/officeDocument/2006/relationships/tags" Target="../tags/tag7.xml"/><Relationship Id="rId5" Type="http://schemas.openxmlformats.org/officeDocument/2006/relationships/tags" Target="../tags/tag6.xml"/><Relationship Id="rId4" Type="http://schemas.openxmlformats.org/officeDocument/2006/relationships/tags" Target="../tags/tag5.xml"/><Relationship Id="rId3" Type="http://schemas.openxmlformats.org/officeDocument/2006/relationships/tags" Target="../tags/tag4.xml"/><Relationship Id="rId2" Type="http://schemas.openxmlformats.org/officeDocument/2006/relationships/tags" Target="../tags/tag3.xml"/><Relationship Id="rId1" Type="http://schemas.openxmlformats.org/officeDocument/2006/relationships/image" Target="../media/image25.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6.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7.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8.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2197735" y="186690"/>
            <a:ext cx="7680960" cy="1525905"/>
          </a:xfrm>
          <a:prstGeom prst="rect">
            <a:avLst/>
          </a:prstGeom>
          <a:noFill/>
        </p:spPr>
        <p:txBody>
          <a:bodyPr wrap="square" rtlCol="0">
            <a:noAutofit/>
          </a:bodyPr>
          <a:p>
            <a:pPr algn="ctr"/>
            <a:r>
              <a:rPr lang="en-US" altLang="en-US" sz="3200" b="1">
                <a:latin typeface="Cambria" panose="02040503050406030204" charset="0"/>
                <a:cs typeface="Cambria" panose="02040503050406030204" charset="0"/>
                <a:sym typeface="+mn-ea"/>
              </a:rPr>
              <a:t>Reinforcement Learning based </a:t>
            </a:r>
            <a:r>
              <a:rPr lang="en-US" altLang="en-US" sz="3200" b="1">
                <a:latin typeface="Cambria" panose="02040503050406030204" charset="0"/>
                <a:cs typeface="Cambria" panose="02040503050406030204" charset="0"/>
              </a:rPr>
              <a:t>Energy Optimization in </a:t>
            </a:r>
            <a:r>
              <a:rPr lang="en-US" altLang="en-US" sz="3200" b="1">
                <a:latin typeface="Cambria" panose="02040503050406030204" charset="0"/>
                <a:cs typeface="Cambria" panose="02040503050406030204" charset="0"/>
                <a:sym typeface="+mn-ea"/>
              </a:rPr>
              <a:t>Wireless Sensor Network</a:t>
            </a:r>
            <a:endParaRPr lang="en-US" altLang="en-US" sz="3200" b="1">
              <a:latin typeface="Cambria" panose="02040503050406030204" charset="0"/>
              <a:cs typeface="Cambria" panose="02040503050406030204" charset="0"/>
            </a:endParaRPr>
          </a:p>
          <a:p>
            <a:pPr algn="ctr"/>
            <a:endParaRPr lang="en-US" altLang="en-US" sz="3200" b="1">
              <a:latin typeface="Cambria" panose="02040503050406030204" charset="0"/>
              <a:cs typeface="Cambria" panose="02040503050406030204" charset="0"/>
            </a:endParaRPr>
          </a:p>
        </p:txBody>
      </p:sp>
      <p:pic>
        <p:nvPicPr>
          <p:cNvPr id="5" name="Picture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5148421" y="2380166"/>
            <a:ext cx="1747879" cy="1747879"/>
          </a:xfrm>
          <a:prstGeom prst="rect">
            <a:avLst/>
          </a:prstGeom>
          <a:effectLst>
            <a:outerShdw blurRad="50800" dist="38100" dir="2700000" algn="tl" rotWithShape="0">
              <a:prstClr val="black">
                <a:alpha val="40000"/>
              </a:prstClr>
            </a:outerShdw>
          </a:effectLst>
        </p:spPr>
      </p:pic>
      <p:sp>
        <p:nvSpPr>
          <p:cNvPr id="6" name="TextBox 5"/>
          <p:cNvSpPr txBox="1"/>
          <p:nvPr/>
        </p:nvSpPr>
        <p:spPr>
          <a:xfrm>
            <a:off x="2312670" y="5674995"/>
            <a:ext cx="7566660" cy="1014730"/>
          </a:xfrm>
          <a:prstGeom prst="rect">
            <a:avLst/>
          </a:prstGeom>
          <a:noFill/>
        </p:spPr>
        <p:txBody>
          <a:bodyPr wrap="square" rtlCol="0">
            <a:spAutoFit/>
          </a:bodyPr>
          <a:p>
            <a:pPr algn="ctr"/>
            <a:r>
              <a:rPr lang="en-IN" sz="2000" b="1" dirty="0">
                <a:solidFill>
                  <a:schemeClr val="tx1"/>
                </a:solidFill>
                <a:latin typeface="Cambria" panose="02040503050406030204" charset="0"/>
                <a:cs typeface="Cambria" panose="02040503050406030204" charset="0"/>
              </a:rPr>
              <a:t>Department of Electronics and Communication Engineering       National Institute Technology </a:t>
            </a:r>
            <a:endParaRPr lang="en-IN" sz="2000" b="1" dirty="0">
              <a:solidFill>
                <a:schemeClr val="tx1"/>
              </a:solidFill>
              <a:latin typeface="Cambria" panose="02040503050406030204" charset="0"/>
              <a:cs typeface="Cambria" panose="02040503050406030204" charset="0"/>
            </a:endParaRPr>
          </a:p>
          <a:p>
            <a:pPr algn="ctr"/>
            <a:r>
              <a:rPr lang="en-IN" sz="2000" b="1" dirty="0">
                <a:solidFill>
                  <a:schemeClr val="tx1"/>
                </a:solidFill>
                <a:latin typeface="Cambria" panose="02040503050406030204" charset="0"/>
                <a:cs typeface="Cambria" panose="02040503050406030204" charset="0"/>
              </a:rPr>
              <a:t>Patna</a:t>
            </a:r>
            <a:r>
              <a:rPr lang="en-US" altLang="en-IN" sz="2000" b="1" dirty="0">
                <a:solidFill>
                  <a:schemeClr val="tx1"/>
                </a:solidFill>
                <a:latin typeface="Cambria" panose="02040503050406030204" charset="0"/>
                <a:cs typeface="Cambria" panose="02040503050406030204" charset="0"/>
              </a:rPr>
              <a:t> </a:t>
            </a:r>
            <a:r>
              <a:rPr lang="en-IN" sz="2000" b="1" dirty="0">
                <a:solidFill>
                  <a:schemeClr val="tx1"/>
                </a:solidFill>
                <a:latin typeface="Cambria" panose="02040503050406030204" charset="0"/>
                <a:cs typeface="Cambria" panose="02040503050406030204" charset="0"/>
              </a:rPr>
              <a:t>800005</a:t>
            </a:r>
            <a:endParaRPr lang="en-IN" sz="2000" b="1" dirty="0">
              <a:solidFill>
                <a:schemeClr val="tx1"/>
              </a:solidFill>
              <a:latin typeface="Cambria" panose="02040503050406030204" charset="0"/>
              <a:cs typeface="Cambria" panose="02040503050406030204" charset="0"/>
            </a:endParaRPr>
          </a:p>
        </p:txBody>
      </p:sp>
      <p:sp>
        <p:nvSpPr>
          <p:cNvPr id="8" name="TextBox 4"/>
          <p:cNvSpPr txBox="1"/>
          <p:nvPr/>
        </p:nvSpPr>
        <p:spPr>
          <a:xfrm>
            <a:off x="8143240" y="3546475"/>
            <a:ext cx="3418840" cy="1322070"/>
          </a:xfrm>
          <a:prstGeom prst="rect">
            <a:avLst/>
          </a:prstGeom>
          <a:noFill/>
        </p:spPr>
        <p:txBody>
          <a:bodyPr wrap="square" rtlCol="0">
            <a:spAutoFit/>
          </a:bodyPr>
          <a:p>
            <a:r>
              <a:rPr lang="en-US" altLang="en-US" sz="2000" dirty="0">
                <a:solidFill>
                  <a:schemeClr val="tx1"/>
                </a:solidFill>
                <a:latin typeface="Cambria" panose="02040503050406030204" charset="0"/>
                <a:cs typeface="Cambria" panose="02040503050406030204" charset="0"/>
              </a:rPr>
              <a:t>Guided By</a:t>
            </a:r>
            <a:endParaRPr lang="en-US" altLang="en-US" sz="2000" dirty="0">
              <a:solidFill>
                <a:schemeClr val="tx1"/>
              </a:solidFill>
              <a:latin typeface="Cambria" panose="02040503050406030204" charset="0"/>
              <a:cs typeface="Cambria" panose="02040503050406030204" charset="0"/>
            </a:endParaRPr>
          </a:p>
          <a:p>
            <a:r>
              <a:rPr lang="en-US" sz="2000" dirty="0">
                <a:solidFill>
                  <a:schemeClr val="tx1"/>
                </a:solidFill>
                <a:latin typeface="Cambria" panose="02040503050406030204" charset="0"/>
                <a:cs typeface="Cambria" panose="02040503050406030204" charset="0"/>
              </a:rPr>
              <a:t>Prof. Bharat Gupta</a:t>
            </a:r>
            <a:endParaRPr lang="en-US" sz="2000" dirty="0">
              <a:solidFill>
                <a:schemeClr val="tx1"/>
              </a:solidFill>
              <a:latin typeface="Cambria" panose="02040503050406030204" charset="0"/>
              <a:cs typeface="Cambria" panose="02040503050406030204" charset="0"/>
            </a:endParaRPr>
          </a:p>
          <a:p>
            <a:r>
              <a:rPr lang="en-US" sz="2000" dirty="0">
                <a:latin typeface="Cambria" panose="02040503050406030204" charset="0"/>
                <a:cs typeface="Cambria" panose="02040503050406030204" charset="0"/>
                <a:sym typeface="+mn-ea"/>
              </a:rPr>
              <a:t>Electronics &amp; Communication Engineering</a:t>
            </a:r>
            <a:endParaRPr lang="en-US" sz="2000" dirty="0">
              <a:solidFill>
                <a:schemeClr val="tx1"/>
              </a:solidFill>
              <a:latin typeface="Cambria" panose="02040503050406030204" charset="0"/>
              <a:cs typeface="Cambria" panose="02040503050406030204" charset="0"/>
            </a:endParaRPr>
          </a:p>
        </p:txBody>
      </p:sp>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911225" y="3623310"/>
            <a:ext cx="3503930" cy="1322070"/>
          </a:xfrm>
          <a:prstGeom prst="rect">
            <a:avLst/>
          </a:prstGeom>
          <a:noFill/>
        </p:spPr>
        <p:txBody>
          <a:bodyPr wrap="square" rtlCol="0">
            <a:spAutoFit/>
          </a:bodyPr>
          <a:p>
            <a:r>
              <a:rPr lang="en-US" sz="2000">
                <a:latin typeface="Cambria" panose="02040503050406030204" charset="0"/>
                <a:cs typeface="Cambria" panose="02040503050406030204" charset="0"/>
              </a:rPr>
              <a:t>Presented By</a:t>
            </a:r>
            <a:endParaRPr lang="en-US" sz="2000">
              <a:latin typeface="Cambria" panose="02040503050406030204" charset="0"/>
              <a:cs typeface="Cambria" panose="02040503050406030204" charset="0"/>
            </a:endParaRPr>
          </a:p>
          <a:p>
            <a:r>
              <a:rPr lang="en-US" sz="2000">
                <a:latin typeface="Cambria" panose="02040503050406030204" charset="0"/>
                <a:cs typeface="Cambria" panose="02040503050406030204" charset="0"/>
              </a:rPr>
              <a:t>Shubham Kumar</a:t>
            </a:r>
            <a:endParaRPr lang="en-US" sz="2000">
              <a:latin typeface="Cambria" panose="02040503050406030204" charset="0"/>
              <a:cs typeface="Cambria" panose="02040503050406030204" charset="0"/>
            </a:endParaRPr>
          </a:p>
          <a:p>
            <a:r>
              <a:rPr lang="en-US" sz="2000" dirty="0">
                <a:latin typeface="Cambria" panose="02040503050406030204" charset="0"/>
                <a:cs typeface="Cambria" panose="02040503050406030204" charset="0"/>
                <a:sym typeface="+mn-ea"/>
              </a:rPr>
              <a:t>Electronics &amp; Communication Engineering</a:t>
            </a:r>
            <a:endParaRPr lang="en-US" sz="2000">
              <a:latin typeface="Cambria" panose="02040503050406030204" charset="0"/>
              <a:cs typeface="Cambria" panose="0204050305040603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2095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2349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026535" y="224155"/>
            <a:ext cx="4138295" cy="583565"/>
          </a:xfrm>
          <a:prstGeom prst="rect">
            <a:avLst/>
          </a:prstGeom>
          <a:noFill/>
        </p:spPr>
        <p:txBody>
          <a:bodyPr wrap="square" rtlCol="0">
            <a:spAutoFit/>
          </a:bodyPr>
          <a:p>
            <a:r>
              <a:rPr lang="en-US" altLang="en-US" sz="3200" b="1">
                <a:latin typeface="Cambria" panose="02040503050406030204" charset="0"/>
                <a:cs typeface="Cambria" panose="02040503050406030204" charset="0"/>
              </a:rPr>
              <a:t>Presentation Outline</a:t>
            </a:r>
            <a:endParaRPr lang="en-US" altLang="en-US" sz="3200" b="1">
              <a:latin typeface="Cambria" panose="02040503050406030204" charset="0"/>
              <a:cs typeface="Cambria" panose="02040503050406030204" charset="0"/>
            </a:endParaRPr>
          </a:p>
        </p:txBody>
      </p:sp>
      <p:sp>
        <p:nvSpPr>
          <p:cNvPr id="3" name="Text Box 2"/>
          <p:cNvSpPr txBox="1"/>
          <p:nvPr/>
        </p:nvSpPr>
        <p:spPr>
          <a:xfrm>
            <a:off x="715010" y="1031875"/>
            <a:ext cx="10875645" cy="5213350"/>
          </a:xfrm>
          <a:prstGeom prst="rect">
            <a:avLst/>
          </a:prstGeom>
          <a:noFill/>
        </p:spPr>
        <p:txBody>
          <a:bodyPr wrap="square" rtlCol="0">
            <a:noAutofit/>
            <a:scene3d>
              <a:camera prst="orthographicFront">
                <a:rot lat="0" lon="0" rev="0"/>
              </a:camera>
              <a:lightRig rig="threePt" dir="t"/>
            </a:scene3d>
          </a:bodyPr>
          <a:p>
            <a:pPr marL="457200" indent="-457200">
              <a:buFont typeface="+mj-lt"/>
              <a:buAutoNum type="arabicPeriod"/>
            </a:pPr>
            <a:r>
              <a:rPr lang="en-US" altLang="en-US" sz="2000" b="1">
                <a:latin typeface="Cambria" panose="02040503050406030204" charset="0"/>
                <a:cs typeface="Cambria" panose="02040503050406030204" charset="0"/>
              </a:rPr>
              <a:t>Background </a:t>
            </a:r>
            <a:r>
              <a:rPr lang="en-US" altLang="en-US" sz="2000">
                <a:latin typeface="Cambria" panose="02040503050406030204" charset="0"/>
                <a:cs typeface="Cambria" panose="02040503050406030204" charset="0"/>
              </a:rPr>
              <a:t>– </a:t>
            </a:r>
            <a:r>
              <a:rPr lang="en-US" altLang="en-US" sz="2000" i="1">
                <a:latin typeface="Cambria" panose="02040503050406030204" charset="0"/>
                <a:cs typeface="Cambria" panose="02040503050406030204" charset="0"/>
              </a:rPr>
              <a:t>context of mining and fatalities s</a:t>
            </a:r>
            <a:r>
              <a:rPr lang="en-US" altLang="en-US" sz="2000" i="1">
                <a:latin typeface="Cambria" panose="02040503050406030204" charset="0"/>
                <a:cs typeface="Cambria" panose="02040503050406030204" charset="0"/>
                <a:sym typeface="+mn-ea"/>
              </a:rPr>
              <a:t>tatistics</a:t>
            </a:r>
            <a:endParaRPr lang="en-US" altLang="en-US" sz="2000" i="1">
              <a:latin typeface="Cambria" panose="02040503050406030204" charset="0"/>
              <a:cs typeface="Cambria" panose="02040503050406030204" charset="0"/>
              <a:sym typeface="+mn-ea"/>
            </a:endParaRPr>
          </a:p>
          <a:p>
            <a:pPr marL="457200" indent="-457200">
              <a:buFont typeface="+mj-lt"/>
              <a:buAutoNum type="arabicPeriod"/>
            </a:pPr>
            <a:endParaRPr lang="en-US" altLang="en-US" sz="2000" b="1" i="1">
              <a:latin typeface="Cambria" panose="02040503050406030204" charset="0"/>
              <a:cs typeface="Cambria" panose="02040503050406030204" charset="0"/>
              <a:sym typeface="+mn-ea"/>
            </a:endParaRPr>
          </a:p>
          <a:p>
            <a:pPr marL="457200" indent="-457200">
              <a:buFont typeface="+mj-lt"/>
              <a:buAutoNum type="arabicPeriod"/>
            </a:pPr>
            <a:r>
              <a:rPr lang="en-US" altLang="en-US" sz="2000" b="1">
                <a:latin typeface="Cambria" panose="02040503050406030204" charset="0"/>
                <a:cs typeface="Cambria" panose="02040503050406030204" charset="0"/>
                <a:sym typeface="+mn-ea"/>
              </a:rPr>
              <a:t>Causes of Fatalities</a:t>
            </a:r>
            <a:r>
              <a:rPr lang="en-US" altLang="en-US" sz="2000" i="1">
                <a:latin typeface="Cambria" panose="02040503050406030204" charset="0"/>
                <a:cs typeface="Cambria" panose="02040503050406030204" charset="0"/>
                <a:sym typeface="+mn-ea"/>
              </a:rPr>
              <a:t> </a:t>
            </a:r>
            <a:r>
              <a:rPr lang="en-US" altLang="en-US" sz="2000">
                <a:latin typeface="Cambria" panose="02040503050406030204" charset="0"/>
                <a:cs typeface="Cambria" panose="02040503050406030204" charset="0"/>
                <a:sym typeface="+mn-ea"/>
              </a:rPr>
              <a:t>–</a:t>
            </a:r>
            <a:r>
              <a:rPr lang="en-US" altLang="en-US" sz="2000" i="1">
                <a:latin typeface="Cambria" panose="02040503050406030204" charset="0"/>
                <a:cs typeface="Cambria" panose="02040503050406030204" charset="0"/>
                <a:sym typeface="+mn-ea"/>
              </a:rPr>
              <a:t> main culprits of mining fatalities</a:t>
            </a:r>
            <a:endParaRPr lang="en-US" altLang="en-US" sz="2000" i="1">
              <a:latin typeface="Cambria" panose="02040503050406030204" charset="0"/>
              <a:cs typeface="Cambria" panose="02040503050406030204" charset="0"/>
              <a:sym typeface="+mn-ea"/>
            </a:endParaRPr>
          </a:p>
          <a:p>
            <a:pPr marL="457200" indent="-457200">
              <a:buFont typeface="+mj-lt"/>
              <a:buAutoNum type="arabicPeriod"/>
            </a:pPr>
            <a:endParaRPr lang="en-US" altLang="en-US" sz="2000" b="1" i="1">
              <a:latin typeface="Cambria" panose="02040503050406030204" charset="0"/>
              <a:cs typeface="Cambria" panose="02040503050406030204" charset="0"/>
              <a:sym typeface="+mn-ea"/>
            </a:endParaRPr>
          </a:p>
          <a:p>
            <a:pPr marL="457200" indent="-457200">
              <a:buFont typeface="+mj-lt"/>
              <a:buAutoNum type="arabicPeriod"/>
            </a:pPr>
            <a:r>
              <a:rPr lang="en-US" altLang="en-US" sz="2000" b="1">
                <a:latin typeface="Cambria" panose="02040503050406030204" charset="0"/>
                <a:cs typeface="Cambria" panose="02040503050406030204" charset="0"/>
                <a:sym typeface="+mn-ea"/>
              </a:rPr>
              <a:t>Literature Review</a:t>
            </a:r>
            <a:r>
              <a:rPr lang="en-US" altLang="en-US" sz="2000">
                <a:latin typeface="Cambria" panose="02040503050406030204" charset="0"/>
                <a:cs typeface="Cambria" panose="02040503050406030204" charset="0"/>
                <a:sym typeface="+mn-ea"/>
              </a:rPr>
              <a:t> – </a:t>
            </a:r>
            <a:r>
              <a:rPr lang="en-US" altLang="en-US" sz="2000" i="1">
                <a:latin typeface="Cambria" panose="02040503050406030204" charset="0"/>
                <a:cs typeface="Cambria" panose="02040503050406030204" charset="0"/>
                <a:sym typeface="+mn-ea"/>
              </a:rPr>
              <a:t>overview of existing clustering and routing protocols</a:t>
            </a:r>
            <a:endParaRPr lang="en-US" altLang="en-US" sz="2000" i="1">
              <a:latin typeface="Cambria" panose="02040503050406030204" charset="0"/>
              <a:cs typeface="Cambria" panose="02040503050406030204" charset="0"/>
              <a:sym typeface="+mn-ea"/>
            </a:endParaRPr>
          </a:p>
          <a:p>
            <a:pPr marL="457200" indent="-457200">
              <a:buFont typeface="+mj-lt"/>
              <a:buAutoNum type="arabicPeriod"/>
            </a:pPr>
            <a:endParaRPr lang="en-US" altLang="en-US" sz="2000" b="1" i="1">
              <a:latin typeface="Cambria" panose="02040503050406030204" charset="0"/>
              <a:cs typeface="Cambria" panose="02040503050406030204" charset="0"/>
              <a:sym typeface="+mn-ea"/>
            </a:endParaRPr>
          </a:p>
          <a:p>
            <a:pPr marL="457200" indent="-457200">
              <a:buFont typeface="+mj-lt"/>
              <a:buAutoNum type="arabicPeriod"/>
            </a:pPr>
            <a:r>
              <a:rPr lang="en-US" altLang="en-US" sz="2000" b="1">
                <a:latin typeface="Cambria" panose="02040503050406030204" charset="0"/>
                <a:cs typeface="Cambria" panose="02040503050406030204" charset="0"/>
              </a:rPr>
              <a:t>Motivation </a:t>
            </a:r>
            <a:r>
              <a:rPr lang="en-US" altLang="en-US" sz="2000" b="1">
                <a:latin typeface="Cambria" panose="02040503050406030204" charset="0"/>
                <a:cs typeface="Cambria" panose="02040503050406030204" charset="0"/>
                <a:sym typeface="+mn-ea"/>
              </a:rPr>
              <a:t>&amp; Problem Statement</a:t>
            </a:r>
            <a:r>
              <a:rPr lang="en-US" altLang="en-US" sz="2000">
                <a:latin typeface="Cambria" panose="02040503050406030204" charset="0"/>
                <a:cs typeface="Cambria" panose="02040503050406030204" charset="0"/>
                <a:sym typeface="+mn-ea"/>
              </a:rPr>
              <a:t> </a:t>
            </a:r>
            <a:r>
              <a:rPr lang="en-US" altLang="en-US" sz="2000">
                <a:latin typeface="Cambria" panose="02040503050406030204" charset="0"/>
                <a:cs typeface="Cambria" panose="02040503050406030204" charset="0"/>
                <a:sym typeface="+mn-ea"/>
              </a:rPr>
              <a:t>– </a:t>
            </a:r>
            <a:r>
              <a:rPr lang="en-US" altLang="en-US" sz="2000" i="1">
                <a:latin typeface="Cambria" panose="02040503050406030204" charset="0"/>
                <a:cs typeface="Cambria" panose="02040503050406030204" charset="0"/>
                <a:sym typeface="+mn-ea"/>
              </a:rPr>
              <a:t>c</a:t>
            </a:r>
            <a:r>
              <a:rPr lang="en-US" altLang="en-US" sz="2000" i="1">
                <a:latin typeface="Cambria" panose="02040503050406030204" charset="0"/>
                <a:cs typeface="Cambria" panose="02040503050406030204" charset="0"/>
              </a:rPr>
              <a:t>hallenges of energy imbalance and lack of adaptability</a:t>
            </a:r>
            <a:endParaRPr lang="en-US" altLang="en-US" sz="2000" i="1">
              <a:latin typeface="Cambria" panose="02040503050406030204" charset="0"/>
              <a:cs typeface="Cambria" panose="02040503050406030204" charset="0"/>
            </a:endParaRPr>
          </a:p>
          <a:p>
            <a:pPr marL="457200" indent="-457200">
              <a:buFont typeface="+mj-lt"/>
              <a:buAutoNum type="arabicPeriod"/>
            </a:pPr>
            <a:endParaRPr lang="en-US" altLang="en-US" sz="2000" i="1">
              <a:latin typeface="Cambria" panose="02040503050406030204" charset="0"/>
              <a:cs typeface="Cambria" panose="02040503050406030204" charset="0"/>
            </a:endParaRPr>
          </a:p>
          <a:p>
            <a:pPr marL="457200" indent="-457200">
              <a:buFont typeface="+mj-lt"/>
              <a:buAutoNum type="arabicPeriod"/>
            </a:pPr>
            <a:r>
              <a:rPr lang="en-US" altLang="en-US" sz="2000" b="1">
                <a:latin typeface="Cambria" panose="02040503050406030204" charset="0"/>
                <a:cs typeface="Cambria" panose="02040503050406030204" charset="0"/>
                <a:sym typeface="+mn-ea"/>
              </a:rPr>
              <a:t>Overview of DEEC Protocol </a:t>
            </a:r>
            <a:r>
              <a:rPr lang="en-US" altLang="en-US" sz="2000">
                <a:latin typeface="Cambria" panose="02040503050406030204" charset="0"/>
                <a:cs typeface="Cambria" panose="02040503050406030204" charset="0"/>
                <a:sym typeface="+mn-ea"/>
              </a:rPr>
              <a:t>–</a:t>
            </a:r>
            <a:r>
              <a:rPr lang="en-US" altLang="en-US" sz="2000" i="1">
                <a:latin typeface="Cambria" panose="02040503050406030204" charset="0"/>
                <a:cs typeface="Cambria" panose="02040503050406030204" charset="0"/>
                <a:sym typeface="+mn-ea"/>
              </a:rPr>
              <a:t> difference between LEACH and </a:t>
            </a:r>
            <a:r>
              <a:rPr lang="en-US" altLang="en-US" sz="2000" i="1">
                <a:latin typeface="Cambria" panose="02040503050406030204" charset="0"/>
                <a:cs typeface="Cambria" panose="02040503050406030204" charset="0"/>
                <a:sym typeface="+mn-ea"/>
              </a:rPr>
              <a:t>DEEC &amp; its algorithm at glance</a:t>
            </a:r>
            <a:endParaRPr lang="en-US" altLang="en-US" sz="2000" b="1">
              <a:latin typeface="Cambria" panose="02040503050406030204" charset="0"/>
              <a:cs typeface="Cambria" panose="02040503050406030204" charset="0"/>
              <a:sym typeface="+mn-ea"/>
            </a:endParaRPr>
          </a:p>
          <a:p>
            <a:pPr marL="457200" indent="-457200">
              <a:buFont typeface="+mj-lt"/>
              <a:buAutoNum type="arabicPeriod"/>
            </a:pPr>
            <a:endParaRPr lang="en-US" altLang="en-US" sz="2000" b="1" i="1">
              <a:latin typeface="Cambria" panose="02040503050406030204" charset="0"/>
              <a:cs typeface="Cambria" panose="02040503050406030204" charset="0"/>
            </a:endParaRPr>
          </a:p>
          <a:p>
            <a:pPr marL="457200" indent="-457200">
              <a:buFont typeface="+mj-lt"/>
              <a:buAutoNum type="arabicPeriod"/>
            </a:pPr>
            <a:r>
              <a:rPr lang="en-US" altLang="en-US" sz="2000" b="1">
                <a:latin typeface="Cambria" panose="02040503050406030204" charset="0"/>
                <a:cs typeface="Cambria" panose="02040503050406030204" charset="0"/>
              </a:rPr>
              <a:t>Overview of Reinforcement Learning</a:t>
            </a:r>
            <a:r>
              <a:rPr lang="en-US" altLang="en-US" sz="2000">
                <a:latin typeface="Cambria" panose="02040503050406030204" charset="0"/>
                <a:cs typeface="Cambria" panose="02040503050406030204" charset="0"/>
              </a:rPr>
              <a:t> </a:t>
            </a:r>
            <a:r>
              <a:rPr lang="en-US" altLang="en-US" sz="2000">
                <a:latin typeface="Cambria" panose="02040503050406030204" charset="0"/>
                <a:cs typeface="Cambria" panose="02040503050406030204" charset="0"/>
                <a:sym typeface="+mn-ea"/>
              </a:rPr>
              <a:t>–</a:t>
            </a:r>
            <a:r>
              <a:rPr lang="en-US" altLang="en-US" sz="2000" i="1">
                <a:latin typeface="Cambria" panose="02040503050406030204" charset="0"/>
                <a:cs typeface="Cambria" panose="02040503050406030204" charset="0"/>
                <a:sym typeface="+mn-ea"/>
              </a:rPr>
              <a:t> b</a:t>
            </a:r>
            <a:r>
              <a:rPr lang="en-US" altLang="en-US" sz="2000" i="1">
                <a:latin typeface="Cambria" panose="02040503050406030204" charset="0"/>
                <a:cs typeface="Cambria" panose="02040503050406030204" charset="0"/>
              </a:rPr>
              <a:t>asics of RL and </a:t>
            </a:r>
            <a:r>
              <a:rPr lang="en-US" altLang="en-US" sz="2000" i="1">
                <a:latin typeface="Cambria" panose="02040503050406030204" charset="0"/>
                <a:cs typeface="Cambria" panose="02040503050406030204" charset="0"/>
                <a:sym typeface="+mn-ea"/>
              </a:rPr>
              <a:t>Q-Learning i</a:t>
            </a:r>
            <a:r>
              <a:rPr lang="en-US" altLang="en-US" sz="2000" i="1">
                <a:latin typeface="Cambria" panose="02040503050406030204" charset="0"/>
                <a:cs typeface="Cambria" panose="02040503050406030204" charset="0"/>
              </a:rPr>
              <a:t>n decision-making</a:t>
            </a:r>
            <a:endParaRPr lang="en-US" altLang="en-US" sz="2000" i="1">
              <a:latin typeface="Cambria" panose="02040503050406030204" charset="0"/>
              <a:cs typeface="Cambria" panose="02040503050406030204" charset="0"/>
            </a:endParaRPr>
          </a:p>
          <a:p>
            <a:pPr marL="457200" indent="-457200">
              <a:buFont typeface="+mj-lt"/>
              <a:buAutoNum type="arabicPeriod"/>
            </a:pPr>
            <a:endParaRPr lang="en-US" altLang="en-US" sz="2000" b="1" i="1">
              <a:latin typeface="Cambria" panose="02040503050406030204" charset="0"/>
              <a:cs typeface="Cambria" panose="02040503050406030204" charset="0"/>
            </a:endParaRPr>
          </a:p>
          <a:p>
            <a:pPr marL="457200" indent="-457200">
              <a:buFont typeface="+mj-lt"/>
              <a:buAutoNum type="arabicPeriod"/>
            </a:pPr>
            <a:r>
              <a:rPr lang="en-US" altLang="en-US" sz="2000" b="1">
                <a:latin typeface="Cambria" panose="02040503050406030204" charset="0"/>
                <a:cs typeface="Cambria" panose="02040503050406030204" charset="0"/>
              </a:rPr>
              <a:t>Simulation Results </a:t>
            </a:r>
            <a:r>
              <a:rPr lang="en-US" altLang="en-US" sz="2000">
                <a:latin typeface="Cambria" panose="02040503050406030204" charset="0"/>
                <a:cs typeface="Cambria" panose="02040503050406030204" charset="0"/>
                <a:sym typeface="+mn-ea"/>
              </a:rPr>
              <a:t>– </a:t>
            </a:r>
            <a:r>
              <a:rPr lang="en-US" altLang="en-US" sz="2000" i="1">
                <a:latin typeface="Cambria" panose="02040503050406030204" charset="0"/>
                <a:cs typeface="Cambria" panose="02040503050406030204" charset="0"/>
                <a:sym typeface="+mn-ea"/>
              </a:rPr>
              <a:t>d</a:t>
            </a:r>
            <a:r>
              <a:rPr lang="en-US" altLang="en-US" sz="2000" i="1">
                <a:latin typeface="Cambria" panose="02040503050406030204" charset="0"/>
                <a:cs typeface="Cambria" panose="02040503050406030204" charset="0"/>
              </a:rPr>
              <a:t>emonstration of optimal policy learning and acheive the objectives</a:t>
            </a:r>
            <a:endParaRPr lang="en-US" altLang="en-US" sz="2000" i="1">
              <a:latin typeface="Cambria" panose="02040503050406030204" charset="0"/>
              <a:cs typeface="Cambria" panose="02040503050406030204" charset="0"/>
            </a:endParaRPr>
          </a:p>
          <a:p>
            <a:pPr marL="457200" indent="-457200">
              <a:buFont typeface="+mj-lt"/>
              <a:buAutoNum type="arabicPeriod"/>
            </a:pPr>
            <a:endParaRPr lang="en-US" altLang="en-US" sz="2000" b="1" i="1">
              <a:latin typeface="Cambria" panose="02040503050406030204" charset="0"/>
              <a:cs typeface="Cambria" panose="02040503050406030204" charset="0"/>
            </a:endParaRPr>
          </a:p>
          <a:p>
            <a:pPr marL="457200" indent="-457200">
              <a:buFont typeface="+mj-lt"/>
              <a:buAutoNum type="arabicPeriod"/>
            </a:pPr>
            <a:r>
              <a:rPr lang="en-US" altLang="en-US" sz="2000" b="1">
                <a:latin typeface="Cambria" panose="02040503050406030204" charset="0"/>
                <a:cs typeface="Cambria" panose="02040503050406030204" charset="0"/>
              </a:rPr>
              <a:t>Conclusion</a:t>
            </a:r>
            <a:r>
              <a:rPr lang="en-US" altLang="en-US" sz="2000">
                <a:latin typeface="Cambria" panose="02040503050406030204" charset="0"/>
                <a:cs typeface="Cambria" panose="02040503050406030204" charset="0"/>
              </a:rPr>
              <a:t> – </a:t>
            </a:r>
            <a:r>
              <a:rPr lang="en-US" altLang="en-US" sz="2000" i="1">
                <a:latin typeface="Cambria" panose="02040503050406030204" charset="0"/>
                <a:cs typeface="Cambria" panose="02040503050406030204" charset="0"/>
              </a:rPr>
              <a:t>key findings : Q-Learning improves adaptability and energy efficiency</a:t>
            </a:r>
            <a:endParaRPr lang="en-US" altLang="en-US" sz="2000" i="1">
              <a:latin typeface="Cambria" panose="02040503050406030204" charset="0"/>
              <a:cs typeface="Cambria" panose="02040503050406030204" charset="0"/>
            </a:endParaRPr>
          </a:p>
          <a:p>
            <a:pPr marL="457200" indent="-457200">
              <a:buFont typeface="+mj-lt"/>
              <a:buAutoNum type="arabicPeriod"/>
            </a:pPr>
            <a:endParaRPr lang="en-US" altLang="en-US" sz="2000" b="1" i="1">
              <a:latin typeface="Cambria" panose="02040503050406030204" charset="0"/>
              <a:cs typeface="Cambria" panose="02040503050406030204" charset="0"/>
            </a:endParaRPr>
          </a:p>
          <a:p>
            <a:pPr marL="457200" indent="-457200">
              <a:buFont typeface="+mj-lt"/>
              <a:buAutoNum type="arabicPeriod"/>
            </a:pPr>
            <a:r>
              <a:rPr lang="en-US" altLang="en-US" sz="2000" b="1">
                <a:latin typeface="Cambria" panose="02040503050406030204" charset="0"/>
                <a:cs typeface="Cambria" panose="02040503050406030204" charset="0"/>
              </a:rPr>
              <a:t>Future Work</a:t>
            </a:r>
            <a:r>
              <a:rPr lang="en-US" altLang="en-US" sz="2000">
                <a:latin typeface="Cambria" panose="02040503050406030204" charset="0"/>
                <a:cs typeface="Cambria" panose="02040503050406030204" charset="0"/>
              </a:rPr>
              <a:t> – </a:t>
            </a:r>
            <a:r>
              <a:rPr lang="en-US" altLang="en-US" sz="2000" i="1">
                <a:latin typeface="Cambria" panose="02040503050406030204" charset="0"/>
                <a:cs typeface="Cambria" panose="02040503050406030204" charset="0"/>
              </a:rPr>
              <a:t>extensions with EEKA, K-mean and hyperparameter tuning</a:t>
            </a:r>
            <a:endParaRPr lang="en-US" altLang="en-US" sz="2000" i="1">
              <a:latin typeface="Cambria" panose="02040503050406030204" charset="0"/>
              <a:cs typeface="Cambria" panose="020405030504060302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Picture 5" descr="1578393855_image9"/>
          <p:cNvPicPr>
            <a:picLocks noChangeAspect="1"/>
          </p:cNvPicPr>
          <p:nvPr/>
        </p:nvPicPr>
        <p:blipFill>
          <a:blip r:embed="rId1"/>
          <a:stretch>
            <a:fillRect/>
          </a:stretch>
        </p:blipFill>
        <p:spPr>
          <a:xfrm>
            <a:off x="6482715" y="-10160"/>
            <a:ext cx="5693410" cy="6867525"/>
          </a:xfrm>
          <a:prstGeom prst="rect">
            <a:avLst/>
          </a:prstGeom>
        </p:spPr>
      </p:pic>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609600" y="335915"/>
            <a:ext cx="2929255" cy="641985"/>
          </a:xfrm>
          <a:prstGeom prst="rect">
            <a:avLst/>
          </a:prstGeom>
          <a:noFill/>
        </p:spPr>
        <p:txBody>
          <a:bodyPr wrap="square" rtlCol="0">
            <a:noAutofit/>
          </a:bodyPr>
          <a:p>
            <a:r>
              <a:rPr lang="en-US" altLang="en-US" sz="3200" b="1">
                <a:latin typeface="Cambria" panose="02040503050406030204" charset="0"/>
                <a:cs typeface="Cambria" panose="02040503050406030204" charset="0"/>
              </a:rPr>
              <a:t>Background </a:t>
            </a:r>
            <a:endParaRPr lang="en-US" altLang="en-US" sz="3200" b="1">
              <a:latin typeface="Cambria" panose="02040503050406030204" charset="0"/>
              <a:cs typeface="Cambria" panose="02040503050406030204" charset="0"/>
            </a:endParaRPr>
          </a:p>
        </p:txBody>
      </p:sp>
      <p:sp>
        <p:nvSpPr>
          <p:cNvPr id="3" name="Text Box 2"/>
          <p:cNvSpPr txBox="1"/>
          <p:nvPr/>
        </p:nvSpPr>
        <p:spPr>
          <a:xfrm>
            <a:off x="595630" y="1023620"/>
            <a:ext cx="5913120" cy="5571490"/>
          </a:xfrm>
          <a:prstGeom prst="rect">
            <a:avLst/>
          </a:prstGeom>
          <a:noFill/>
        </p:spPr>
        <p:txBody>
          <a:bodyPr wrap="square" rtlCol="0">
            <a:noAutofit/>
            <a:scene3d>
              <a:camera prst="orthographicFront">
                <a:rot lat="0" lon="0" rev="0"/>
              </a:camera>
              <a:lightRig rig="threePt" dir="t"/>
            </a:scene3d>
          </a:bodyPr>
          <a:p>
            <a:pPr marL="457200" indent="-457200">
              <a:buFont typeface="Wingdings" panose="05000000000000000000" charset="0"/>
              <a:buChar char="v"/>
            </a:pPr>
            <a:r>
              <a:rPr lang="en-US" altLang="en-US" sz="2000" b="1">
                <a:latin typeface="Cambria" panose="02040503050406030204" charset="0"/>
                <a:cs typeface="Cambria" panose="02040503050406030204" charset="0"/>
              </a:rPr>
              <a:t>Mining Industry:</a:t>
            </a:r>
            <a:r>
              <a:rPr lang="en-US" altLang="en-US" sz="2000">
                <a:latin typeface="Cambria" panose="02040503050406030204" charset="0"/>
                <a:cs typeface="Cambria" panose="02040503050406030204" charset="0"/>
              </a:rPr>
              <a:t> The India’s major </a:t>
            </a:r>
            <a:r>
              <a:rPr lang="en-US" altLang="en-US" sz="2000">
                <a:latin typeface="Cambria" panose="02040503050406030204" charset="0"/>
                <a:cs typeface="Cambria" panose="02040503050406030204" charset="0"/>
                <a:sym typeface="+mn-ea"/>
              </a:rPr>
              <a:t>mining regions are Jharkhand, Odisha, Chhattisgarh, Madhya Pradesh and Karnataka</a:t>
            </a:r>
            <a:r>
              <a:rPr lang="en-US" altLang="en-US" sz="1400">
                <a:latin typeface="Cambria" panose="02040503050406030204" charset="0"/>
                <a:cs typeface="Cambria" panose="02040503050406030204" charset="0"/>
                <a:sym typeface="+mn-ea"/>
              </a:rPr>
              <a:t>[1]</a:t>
            </a:r>
            <a:r>
              <a:rPr lang="en-US" altLang="en-US" sz="2000">
                <a:latin typeface="Cambria" panose="02040503050406030204" charset="0"/>
                <a:cs typeface="Cambria" panose="02040503050406030204" charset="0"/>
                <a:sym typeface="+mn-ea"/>
              </a:rPr>
              <a:t>.</a:t>
            </a:r>
            <a:endParaRPr lang="en-US" altLang="en-US" sz="2000">
              <a:latin typeface="Cambria" panose="02040503050406030204" charset="0"/>
              <a:cs typeface="Cambria" panose="02040503050406030204" charset="0"/>
            </a:endParaRPr>
          </a:p>
          <a:p>
            <a:pPr marL="457200" indent="-457200">
              <a:buFont typeface="Wingdings" panose="05000000000000000000" charset="0"/>
              <a:buChar char="v"/>
            </a:pPr>
            <a:endParaRPr lang="en-US" altLang="en-US" sz="2000">
              <a:latin typeface="Cambria" panose="02040503050406030204" charset="0"/>
              <a:cs typeface="Cambria" panose="02040503050406030204" charset="0"/>
              <a:sym typeface="+mn-ea"/>
            </a:endParaRPr>
          </a:p>
          <a:p>
            <a:pPr marL="457200" indent="-457200">
              <a:buFont typeface="Wingdings" panose="05000000000000000000" charset="0"/>
              <a:buChar char="v"/>
            </a:pPr>
            <a:r>
              <a:rPr lang="en-US" altLang="en-US" sz="2000" b="1">
                <a:latin typeface="Cambria" panose="02040503050406030204" charset="0"/>
                <a:cs typeface="Cambria" panose="02040503050406030204" charset="0"/>
              </a:rPr>
              <a:t>Common Risks</a:t>
            </a:r>
            <a:r>
              <a:rPr lang="en-US" altLang="en-US" sz="1400">
                <a:latin typeface="Cambria" panose="02040503050406030204" charset="0"/>
                <a:cs typeface="Cambria" panose="02040503050406030204" charset="0"/>
              </a:rPr>
              <a:t>[2]</a:t>
            </a:r>
            <a:r>
              <a:rPr lang="en-US" altLang="en-US" sz="2000" b="1">
                <a:latin typeface="Cambria" panose="02040503050406030204" charset="0"/>
                <a:cs typeface="Cambria" panose="02040503050406030204" charset="0"/>
              </a:rPr>
              <a:t>: </a:t>
            </a:r>
            <a:endParaRPr lang="en-US" altLang="en-US" sz="2000" b="1">
              <a:latin typeface="Cambria" panose="02040503050406030204" charset="0"/>
              <a:cs typeface="Cambria" panose="02040503050406030204" charset="0"/>
            </a:endParaRPr>
          </a:p>
          <a:p>
            <a:pPr marL="914400" lvl="1" indent="-457200">
              <a:buFont typeface="Arial" panose="020B0604020202020204" pitchFamily="34" charset="0"/>
              <a:buChar char="•"/>
            </a:pPr>
            <a:r>
              <a:rPr lang="en-US" altLang="en-US" sz="2000">
                <a:latin typeface="Cambria" panose="02040503050406030204" charset="0"/>
                <a:cs typeface="Cambria" panose="02040503050406030204" charset="0"/>
              </a:rPr>
              <a:t>Gas leaks</a:t>
            </a:r>
            <a:endParaRPr lang="en-US" altLang="en-US" sz="2000">
              <a:latin typeface="Cambria" panose="02040503050406030204" charset="0"/>
              <a:cs typeface="Cambria" panose="02040503050406030204" charset="0"/>
            </a:endParaRPr>
          </a:p>
          <a:p>
            <a:pPr marL="914400" lvl="1" indent="-457200">
              <a:buFont typeface="Arial" panose="020B0604020202020204" pitchFamily="34" charset="0"/>
              <a:buChar char="•"/>
            </a:pPr>
            <a:r>
              <a:rPr lang="en-US" altLang="en-US" sz="2000">
                <a:latin typeface="Cambria" panose="02040503050406030204" charset="0"/>
                <a:cs typeface="Cambria" panose="02040503050406030204" charset="0"/>
              </a:rPr>
              <a:t>Explosions</a:t>
            </a:r>
            <a:endParaRPr lang="en-US" altLang="en-US" sz="2000">
              <a:latin typeface="Cambria" panose="02040503050406030204" charset="0"/>
              <a:cs typeface="Cambria" panose="02040503050406030204" charset="0"/>
            </a:endParaRPr>
          </a:p>
          <a:p>
            <a:pPr marL="914400" lvl="1" indent="-457200">
              <a:buFont typeface="Arial" panose="020B0604020202020204" pitchFamily="34" charset="0"/>
              <a:buChar char="•"/>
            </a:pPr>
            <a:r>
              <a:rPr lang="en-US" altLang="en-US" sz="2000">
                <a:latin typeface="Cambria" panose="02040503050406030204" charset="0"/>
                <a:cs typeface="Cambria" panose="02040503050406030204" charset="0"/>
              </a:rPr>
              <a:t>Roof collapses</a:t>
            </a:r>
            <a:endParaRPr lang="en-US" altLang="en-US" sz="2000">
              <a:latin typeface="Cambria" panose="02040503050406030204" charset="0"/>
              <a:cs typeface="Cambria" panose="02040503050406030204" charset="0"/>
            </a:endParaRPr>
          </a:p>
          <a:p>
            <a:pPr marL="914400" lvl="1" indent="-457200">
              <a:buFont typeface="Arial" panose="020B0604020202020204" pitchFamily="34" charset="0"/>
              <a:buChar char="•"/>
            </a:pPr>
            <a:r>
              <a:rPr lang="en-US" altLang="en-US" sz="2000">
                <a:latin typeface="Cambria" panose="02040503050406030204" charset="0"/>
                <a:cs typeface="Cambria" panose="02040503050406030204" charset="0"/>
              </a:rPr>
              <a:t>Equipment Failures</a:t>
            </a:r>
            <a:endParaRPr lang="en-US" altLang="en-US" sz="2000">
              <a:latin typeface="Cambria" panose="02040503050406030204" charset="0"/>
              <a:cs typeface="Cambria" panose="02040503050406030204" charset="0"/>
            </a:endParaRPr>
          </a:p>
          <a:p>
            <a:pPr marL="457200" indent="-457200">
              <a:buFont typeface="+mj-lt"/>
              <a:buAutoNum type="arabicPeriod"/>
            </a:pPr>
            <a:endParaRPr lang="en-US" altLang="en-US" sz="2000">
              <a:latin typeface="Cambria" panose="02040503050406030204" charset="0"/>
              <a:cs typeface="Cambria" panose="02040503050406030204" charset="0"/>
            </a:endParaRPr>
          </a:p>
          <a:p>
            <a:pPr marL="457200" indent="-457200">
              <a:buFont typeface="Wingdings" panose="05000000000000000000" charset="0"/>
              <a:buChar char="v"/>
            </a:pPr>
            <a:r>
              <a:rPr lang="en-US" altLang="en-US" sz="2000" b="1">
                <a:latin typeface="Cambria" panose="02040503050406030204" charset="0"/>
                <a:cs typeface="Cambria" panose="02040503050406030204" charset="0"/>
              </a:rPr>
              <a:t>India’s mining sector</a:t>
            </a:r>
            <a:r>
              <a:rPr lang="en-US" altLang="en-US" sz="1400">
                <a:latin typeface="Cambria" panose="02040503050406030204" charset="0"/>
                <a:cs typeface="Cambria" panose="02040503050406030204" charset="0"/>
              </a:rPr>
              <a:t>[1]</a:t>
            </a:r>
            <a:r>
              <a:rPr lang="en-US" altLang="en-US" sz="2000">
                <a:latin typeface="Cambria" panose="02040503050406030204" charset="0"/>
                <a:cs typeface="Cambria" panose="02040503050406030204" charset="0"/>
              </a:rPr>
              <a:t>:</a:t>
            </a:r>
            <a:endParaRPr lang="en-US" altLang="en-US" sz="2000">
              <a:latin typeface="Cambria" panose="02040503050406030204" charset="0"/>
              <a:cs typeface="Cambria" panose="02040503050406030204" charset="0"/>
            </a:endParaRPr>
          </a:p>
          <a:p>
            <a:pPr marL="914400" lvl="1" indent="-457200">
              <a:buFont typeface="Arial" panose="020B0604020202020204" pitchFamily="34" charset="0"/>
              <a:buChar char="•"/>
            </a:pPr>
            <a:r>
              <a:rPr lang="en-US" altLang="en-US" sz="2000">
                <a:latin typeface="Cambria" panose="02040503050406030204" charset="0"/>
                <a:cs typeface="Cambria" panose="02040503050406030204" charset="0"/>
                <a:sym typeface="+mn-ea"/>
              </a:rPr>
              <a:t>Non Metallic mines (53 operational)</a:t>
            </a:r>
            <a:endParaRPr lang="en-US" altLang="en-US" sz="2000">
              <a:latin typeface="Cambria" panose="02040503050406030204" charset="0"/>
              <a:cs typeface="Cambria" panose="02040503050406030204" charset="0"/>
              <a:sym typeface="+mn-ea"/>
            </a:endParaRPr>
          </a:p>
          <a:p>
            <a:pPr marL="1257300" lvl="2" indent="-342900">
              <a:buSzPct val="65000"/>
              <a:buFont typeface="Wingdings" panose="05000000000000000000" charset="0"/>
              <a:buChar char="§"/>
            </a:pPr>
            <a:r>
              <a:rPr lang="en-US" altLang="en-US" sz="2000">
                <a:latin typeface="Cambria" panose="02040503050406030204" charset="0"/>
                <a:cs typeface="Cambria" panose="02040503050406030204" charset="0"/>
                <a:sym typeface="+mn-ea"/>
              </a:rPr>
              <a:t>Depth: Typically from 200 m to 600 m.</a:t>
            </a:r>
            <a:endParaRPr lang="en-US" altLang="en-US" sz="2000">
              <a:latin typeface="Cambria" panose="02040503050406030204" charset="0"/>
              <a:cs typeface="Cambria" panose="02040503050406030204" charset="0"/>
              <a:sym typeface="+mn-ea"/>
            </a:endParaRPr>
          </a:p>
          <a:p>
            <a:pPr marL="1257300" lvl="2" indent="-342900">
              <a:buSzPct val="65000"/>
              <a:buFont typeface="Wingdings" panose="05000000000000000000" charset="0"/>
              <a:buChar char="§"/>
            </a:pPr>
            <a:r>
              <a:rPr lang="en-US" altLang="en-US" sz="2000">
                <a:latin typeface="Cambria" panose="02040503050406030204" charset="0"/>
                <a:cs typeface="Cambria" panose="02040503050406030204" charset="0"/>
                <a:sym typeface="+mn-ea"/>
              </a:rPr>
              <a:t>Long: Typcally 2km to 4km.</a:t>
            </a:r>
            <a:endParaRPr lang="en-US" altLang="en-US" sz="2000">
              <a:latin typeface="Cambria" panose="02040503050406030204" charset="0"/>
              <a:cs typeface="Cambria" panose="02040503050406030204" charset="0"/>
              <a:sym typeface="+mn-ea"/>
            </a:endParaRPr>
          </a:p>
          <a:p>
            <a:pPr marL="1371600" lvl="2" indent="-457200">
              <a:buSzPct val="65000"/>
              <a:buFont typeface="Wingdings" panose="05000000000000000000" charset="0"/>
              <a:buChar char="§"/>
            </a:pPr>
            <a:endParaRPr lang="en-US" altLang="en-US" sz="2000">
              <a:latin typeface="Cambria" panose="02040503050406030204" charset="0"/>
              <a:cs typeface="Cambria" panose="02040503050406030204" charset="0"/>
              <a:sym typeface="+mn-ea"/>
            </a:endParaRPr>
          </a:p>
          <a:p>
            <a:pPr marL="800100" lvl="1" indent="-342900">
              <a:buFont typeface="Arial" panose="020B0604020202020204" pitchFamily="34" charset="0"/>
              <a:buChar char="•"/>
            </a:pPr>
            <a:r>
              <a:rPr lang="en-US" altLang="en-US" sz="2000">
                <a:latin typeface="Cambria" panose="02040503050406030204" charset="0"/>
                <a:cs typeface="Cambria" panose="02040503050406030204" charset="0"/>
                <a:sym typeface="+mn-ea"/>
              </a:rPr>
              <a:t>Metallic mines (</a:t>
            </a:r>
            <a:r>
              <a:rPr lang="en-US" altLang="en-US" sz="2000">
                <a:latin typeface="Cambria" panose="02040503050406030204" charset="0"/>
                <a:cs typeface="Cambria" panose="02040503050406030204" charset="0"/>
              </a:rPr>
              <a:t>182 </a:t>
            </a:r>
            <a:r>
              <a:rPr lang="en-US" altLang="en-US" sz="2000">
                <a:latin typeface="Cambria" panose="02040503050406030204" charset="0"/>
                <a:cs typeface="Cambria" panose="02040503050406030204" charset="0"/>
                <a:sym typeface="+mn-ea"/>
              </a:rPr>
              <a:t>operational</a:t>
            </a:r>
            <a:r>
              <a:rPr lang="en-US" altLang="en-US" sz="2000">
                <a:latin typeface="Cambria" panose="02040503050406030204" charset="0"/>
                <a:cs typeface="Cambria" panose="02040503050406030204" charset="0"/>
              </a:rPr>
              <a:t>)</a:t>
            </a:r>
            <a:endParaRPr lang="en-US" altLang="en-US" sz="2000">
              <a:latin typeface="Cambria" panose="02040503050406030204" charset="0"/>
              <a:cs typeface="Cambria" panose="02040503050406030204" charset="0"/>
            </a:endParaRPr>
          </a:p>
          <a:p>
            <a:pPr marL="1371600" lvl="2" indent="-457200">
              <a:buSzPct val="65000"/>
              <a:buFont typeface="Wingdings" panose="05000000000000000000" charset="0"/>
              <a:buChar char="§"/>
            </a:pPr>
            <a:r>
              <a:rPr lang="en-US" altLang="en-US" sz="2000">
                <a:latin typeface="Cambria" panose="02040503050406030204" charset="0"/>
                <a:cs typeface="Cambria" panose="02040503050406030204" charset="0"/>
                <a:sym typeface="+mn-ea"/>
              </a:rPr>
              <a:t>Depth: Typically from  1km to 4km.</a:t>
            </a:r>
            <a:endParaRPr lang="en-US" altLang="en-US" sz="2000">
              <a:latin typeface="Cambria" panose="02040503050406030204" charset="0"/>
              <a:cs typeface="Cambria" panose="02040503050406030204" charset="0"/>
              <a:sym typeface="+mn-ea"/>
            </a:endParaRPr>
          </a:p>
          <a:p>
            <a:pPr marL="1371600" lvl="2" indent="-457200">
              <a:buSzPct val="65000"/>
              <a:buFont typeface="Wingdings" panose="05000000000000000000" charset="0"/>
              <a:buChar char="§"/>
            </a:pPr>
            <a:r>
              <a:rPr lang="en-US" altLang="en-US" sz="2000">
                <a:latin typeface="Cambria" panose="02040503050406030204" charset="0"/>
                <a:cs typeface="Cambria" panose="02040503050406030204" charset="0"/>
                <a:sym typeface="+mn-ea"/>
              </a:rPr>
              <a:t>Long: Typcally 2km to 5km.</a:t>
            </a:r>
            <a:endParaRPr lang="en-US" altLang="en-US" sz="2000">
              <a:latin typeface="Cambria" panose="02040503050406030204" charset="0"/>
              <a:cs typeface="Cambria" panose="02040503050406030204" charset="0"/>
              <a:sym typeface="+mn-ea"/>
            </a:endParaRPr>
          </a:p>
          <a:p>
            <a:pPr marL="457200" indent="-457200">
              <a:buFont typeface="Wingdings" panose="05000000000000000000" charset="0"/>
              <a:buChar char="v"/>
            </a:pPr>
            <a:endParaRPr lang="en-US" altLang="en-US" sz="2000">
              <a:latin typeface="Cambria" panose="02040503050406030204" charset="0"/>
              <a:cs typeface="Cambria" panose="02040503050406030204" charset="0"/>
            </a:endParaRPr>
          </a:p>
        </p:txBody>
      </p:sp>
      <p:sp>
        <p:nvSpPr>
          <p:cNvPr id="4" name="Text Box 3"/>
          <p:cNvSpPr txBox="1"/>
          <p:nvPr/>
        </p:nvSpPr>
        <p:spPr>
          <a:xfrm>
            <a:off x="6497320" y="6525895"/>
            <a:ext cx="1671955" cy="316230"/>
          </a:xfrm>
          <a:prstGeom prst="rect">
            <a:avLst/>
          </a:prstGeom>
          <a:noFill/>
        </p:spPr>
        <p:txBody>
          <a:bodyPr wrap="square" rtlCol="0">
            <a:noAutofit/>
          </a:bodyPr>
          <a:p>
            <a:r>
              <a:rPr lang="en-US" sz="1200" i="1">
                <a:latin typeface="Cambria" panose="02040503050406030204" charset="0"/>
                <a:cs typeface="Cambria" panose="02040503050406030204" charset="0"/>
                <a:sym typeface="+mn-ea"/>
              </a:rPr>
              <a:t>Data Source: </a:t>
            </a:r>
            <a:r>
              <a:rPr lang="en-US" altLang="en-US" sz="1200" i="1">
                <a:latin typeface="Cambria" panose="02040503050406030204" charset="0"/>
                <a:cs typeface="Cambria" panose="02040503050406030204" charset="0"/>
                <a:sym typeface="+mn-ea"/>
              </a:rPr>
              <a:t>DGMS [1]  </a:t>
            </a:r>
            <a:endParaRPr lang="en-US" sz="1200" i="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4" name="Chart 3"/>
          <p:cNvGraphicFramePr/>
          <p:nvPr/>
        </p:nvGraphicFramePr>
        <p:xfrm>
          <a:off x="7579360" y="1040765"/>
          <a:ext cx="6447155" cy="3618230"/>
        </p:xfrm>
        <a:graphic>
          <a:graphicData uri="http://schemas.openxmlformats.org/drawingml/2006/chart">
            <c:chart xmlns:c="http://schemas.openxmlformats.org/drawingml/2006/chart" xmlns:r="http://schemas.openxmlformats.org/officeDocument/2006/relationships" r:id="rId1"/>
          </a:graphicData>
        </a:graphic>
      </p:graphicFrame>
      <p:sp>
        <p:nvSpPr>
          <p:cNvPr id="9" name="Rectangles 8"/>
          <p:cNvSpPr/>
          <p:nvPr/>
        </p:nvSpPr>
        <p:spPr>
          <a:xfrm>
            <a:off x="0" y="-2095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2349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3612515" y="248285"/>
            <a:ext cx="5421630" cy="583565"/>
          </a:xfrm>
          <a:prstGeom prst="rect">
            <a:avLst/>
          </a:prstGeom>
          <a:noFill/>
        </p:spPr>
        <p:txBody>
          <a:bodyPr wrap="square" rtlCol="0">
            <a:spAutoFit/>
          </a:bodyPr>
          <a:p>
            <a:r>
              <a:rPr lang="en-US" altLang="en-US" sz="3200" b="1">
                <a:latin typeface="Cambria" panose="02040503050406030204" charset="0"/>
                <a:cs typeface="Cambria" panose="02040503050406030204" charset="0"/>
              </a:rPr>
              <a:t>Mining F</a:t>
            </a:r>
            <a:r>
              <a:rPr lang="en-US" altLang="en-US" sz="3200" b="1">
                <a:latin typeface="Cambria" panose="02040503050406030204" charset="0"/>
                <a:cs typeface="Cambria" panose="02040503050406030204" charset="0"/>
                <a:sym typeface="+mn-ea"/>
              </a:rPr>
              <a:t>atalities </a:t>
            </a:r>
            <a:r>
              <a:rPr lang="en-US" altLang="en-US" sz="3200" b="1">
                <a:latin typeface="Cambria" panose="02040503050406030204" charset="0"/>
                <a:cs typeface="Cambria" panose="02040503050406030204" charset="0"/>
              </a:rPr>
              <a:t>Statistics</a:t>
            </a:r>
            <a:endParaRPr lang="en-US" altLang="en-US" sz="3200" b="1">
              <a:latin typeface="Cambria" panose="02040503050406030204" charset="0"/>
              <a:cs typeface="Cambria" panose="02040503050406030204" charset="0"/>
            </a:endParaRPr>
          </a:p>
        </p:txBody>
      </p:sp>
      <p:sp>
        <p:nvSpPr>
          <p:cNvPr id="6" name="Text Box 5"/>
          <p:cNvSpPr txBox="1"/>
          <p:nvPr/>
        </p:nvSpPr>
        <p:spPr>
          <a:xfrm>
            <a:off x="9867900" y="4752340"/>
            <a:ext cx="1678940" cy="356870"/>
          </a:xfrm>
          <a:prstGeom prst="rect">
            <a:avLst/>
          </a:prstGeom>
          <a:noFill/>
        </p:spPr>
        <p:txBody>
          <a:bodyPr wrap="square" rtlCol="0">
            <a:noAutofit/>
          </a:bodyPr>
          <a:p>
            <a:r>
              <a:rPr lang="en-US" sz="1200" i="1">
                <a:latin typeface="Cambria" panose="02040503050406030204" charset="0"/>
                <a:cs typeface="Cambria" panose="02040503050406030204" charset="0"/>
                <a:sym typeface="+mn-ea"/>
              </a:rPr>
              <a:t>Data Source: </a:t>
            </a:r>
            <a:r>
              <a:rPr lang="en-US" altLang="en-US" sz="1200" i="1">
                <a:latin typeface="Cambria" panose="02040503050406030204" charset="0"/>
                <a:cs typeface="Cambria" panose="02040503050406030204" charset="0"/>
                <a:sym typeface="+mn-ea"/>
              </a:rPr>
              <a:t>DGMS [1] </a:t>
            </a:r>
            <a:endParaRPr lang="en-US" altLang="en-US" sz="1200" i="1">
              <a:latin typeface="Cambria" panose="02040503050406030204" charset="0"/>
              <a:cs typeface="Cambria" panose="02040503050406030204" charset="0"/>
              <a:sym typeface="+mn-ea"/>
            </a:endParaRPr>
          </a:p>
        </p:txBody>
      </p:sp>
      <p:sp>
        <p:nvSpPr>
          <p:cNvPr id="7" name="Text Box 6"/>
          <p:cNvSpPr txBox="1"/>
          <p:nvPr/>
        </p:nvSpPr>
        <p:spPr>
          <a:xfrm>
            <a:off x="167640" y="5182235"/>
            <a:ext cx="11263630" cy="1403350"/>
          </a:xfrm>
          <a:prstGeom prst="rect">
            <a:avLst/>
          </a:prstGeom>
          <a:noFill/>
        </p:spPr>
        <p:txBody>
          <a:bodyPr wrap="square" rtlCol="0">
            <a:noAutofit/>
            <a:scene3d>
              <a:camera prst="orthographicFront">
                <a:rot lat="0" lon="0" rev="0"/>
              </a:camera>
              <a:lightRig rig="threePt" dir="t"/>
            </a:scene3d>
          </a:bodyPr>
          <a:p>
            <a:pPr marL="457200" indent="-457200" algn="just">
              <a:buFont typeface="Wingdings" panose="05000000000000000000" charset="0"/>
              <a:buChar char="v"/>
            </a:pPr>
            <a:r>
              <a:rPr lang="en-US" altLang="en-US" sz="2000">
                <a:latin typeface="Cambria" panose="02040503050406030204" charset="0"/>
                <a:cs typeface="Cambria" panose="02040503050406030204" charset="0"/>
              </a:rPr>
              <a:t>Over the 15 year period (2010 to 2025), total mine accidents reported is around 20,025 which leads to total deaths of 49,615</a:t>
            </a:r>
            <a:r>
              <a:rPr lang="en-US" altLang="en-US" sz="1400">
                <a:latin typeface="Cambria" panose="02040503050406030204" charset="0"/>
                <a:cs typeface="Cambria" panose="02040503050406030204" charset="0"/>
              </a:rPr>
              <a:t>[1]</a:t>
            </a:r>
            <a:r>
              <a:rPr lang="en-US" altLang="en-US" sz="2000">
                <a:latin typeface="Cambria" panose="02040503050406030204" charset="0"/>
                <a:cs typeface="Cambria" panose="02040503050406030204" charset="0"/>
              </a:rPr>
              <a:t>.</a:t>
            </a:r>
            <a:endParaRPr lang="en-US" altLang="en-US" sz="2000">
              <a:latin typeface="Cambria" panose="02040503050406030204" charset="0"/>
              <a:cs typeface="Cambria" panose="02040503050406030204" charset="0"/>
            </a:endParaRPr>
          </a:p>
          <a:p>
            <a:pPr marL="457200" indent="-457200" algn="just">
              <a:buFont typeface="Wingdings" panose="05000000000000000000" charset="0"/>
              <a:buChar char="v"/>
            </a:pPr>
            <a:endParaRPr lang="en-US" altLang="en-US" sz="2000">
              <a:latin typeface="Cambria" panose="02040503050406030204" charset="0"/>
              <a:cs typeface="Cambria" panose="02040503050406030204" charset="0"/>
            </a:endParaRPr>
          </a:p>
          <a:p>
            <a:pPr marL="457200" indent="-457200" algn="just">
              <a:buFont typeface="Wingdings" panose="05000000000000000000" charset="0"/>
              <a:buChar char="v"/>
            </a:pPr>
            <a:r>
              <a:rPr lang="en-US" altLang="en-US" sz="2000">
                <a:latin typeface="Cambria" panose="02040503050406030204" charset="0"/>
                <a:cs typeface="Cambria" panose="02040503050406030204" charset="0"/>
                <a:sym typeface="+mn-ea"/>
              </a:rPr>
              <a:t>Globally, the annual number of fatal mining accidents is estimated to be in range of 300 to 400</a:t>
            </a:r>
            <a:r>
              <a:rPr lang="en-US" altLang="en-US" sz="1400">
                <a:latin typeface="Cambria" panose="02040503050406030204" charset="0"/>
                <a:cs typeface="Cambria" panose="02040503050406030204" charset="0"/>
                <a:sym typeface="+mn-ea"/>
              </a:rPr>
              <a:t>[1]</a:t>
            </a:r>
            <a:r>
              <a:rPr lang="en-US" altLang="en-US" sz="2000">
                <a:latin typeface="Cambria" panose="02040503050406030204" charset="0"/>
                <a:cs typeface="Cambria" panose="02040503050406030204" charset="0"/>
                <a:sym typeface="+mn-ea"/>
              </a:rPr>
              <a:t>.</a:t>
            </a:r>
            <a:endParaRPr lang="en-US" altLang="en-US" sz="2000">
              <a:latin typeface="Cambria" panose="02040503050406030204" charset="0"/>
              <a:cs typeface="Cambria" panose="02040503050406030204" charset="0"/>
            </a:endParaRPr>
          </a:p>
        </p:txBody>
      </p:sp>
      <p:graphicFrame>
        <p:nvGraphicFramePr>
          <p:cNvPr id="11" name="Chart 10"/>
          <p:cNvGraphicFramePr/>
          <p:nvPr/>
        </p:nvGraphicFramePr>
        <p:xfrm>
          <a:off x="94615" y="1235710"/>
          <a:ext cx="8848725" cy="3946525"/>
        </p:xfrm>
        <a:graphic>
          <a:graphicData uri="http://schemas.openxmlformats.org/drawingml/2006/chart">
            <c:chart xmlns:c="http://schemas.openxmlformats.org/drawingml/2006/chart" xmlns:r="http://schemas.openxmlformats.org/officeDocument/2006/relationships" r:id="rId2"/>
          </a:graphicData>
        </a:graphic>
      </p:graphicFrame>
      <p:sp>
        <p:nvSpPr>
          <p:cNvPr id="3" name="Text Box 2"/>
          <p:cNvSpPr txBox="1"/>
          <p:nvPr/>
        </p:nvSpPr>
        <p:spPr>
          <a:xfrm>
            <a:off x="7384415" y="4752340"/>
            <a:ext cx="1704975" cy="356870"/>
          </a:xfrm>
          <a:prstGeom prst="rect">
            <a:avLst/>
          </a:prstGeom>
          <a:noFill/>
        </p:spPr>
        <p:txBody>
          <a:bodyPr wrap="square" rtlCol="0">
            <a:noAutofit/>
          </a:bodyPr>
          <a:p>
            <a:r>
              <a:rPr lang="en-US" sz="1200" i="1">
                <a:latin typeface="Cambria" panose="02040503050406030204" charset="0"/>
                <a:cs typeface="Cambria" panose="02040503050406030204" charset="0"/>
                <a:sym typeface="+mn-ea"/>
              </a:rPr>
              <a:t>Data Source: </a:t>
            </a:r>
            <a:r>
              <a:rPr lang="en-US" altLang="en-US" sz="1200" i="1">
                <a:latin typeface="Cambria" panose="02040503050406030204" charset="0"/>
                <a:cs typeface="Cambria" panose="02040503050406030204" charset="0"/>
                <a:sym typeface="+mn-ea"/>
              </a:rPr>
              <a:t>DGMS [1] </a:t>
            </a:r>
            <a:endParaRPr lang="en-US" altLang="en-US" sz="1200" i="1">
              <a:latin typeface="Cambria" panose="02040503050406030204" charset="0"/>
              <a:cs typeface="Cambria" panose="02040503050406030204" charset="0"/>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2095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2349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3612515" y="292100"/>
            <a:ext cx="5421630" cy="583565"/>
          </a:xfrm>
          <a:prstGeom prst="rect">
            <a:avLst/>
          </a:prstGeom>
          <a:noFill/>
        </p:spPr>
        <p:txBody>
          <a:bodyPr wrap="square" rtlCol="0">
            <a:spAutoFit/>
          </a:bodyPr>
          <a:p>
            <a:r>
              <a:rPr lang="en-US" altLang="en-US" sz="3200" b="1">
                <a:latin typeface="Cambria" panose="02040503050406030204" charset="0"/>
                <a:cs typeface="Cambria" panose="02040503050406030204" charset="0"/>
              </a:rPr>
              <a:t>Causes of Mining Fatalities</a:t>
            </a:r>
            <a:endParaRPr lang="en-US" altLang="en-US" sz="3200" b="1">
              <a:latin typeface="Cambria" panose="02040503050406030204" charset="0"/>
              <a:cs typeface="Cambria" panose="02040503050406030204" charset="0"/>
            </a:endParaRPr>
          </a:p>
        </p:txBody>
      </p:sp>
      <p:sp>
        <p:nvSpPr>
          <p:cNvPr id="10" name="Text Box 9"/>
          <p:cNvSpPr txBox="1"/>
          <p:nvPr/>
        </p:nvSpPr>
        <p:spPr>
          <a:xfrm>
            <a:off x="608965" y="1261110"/>
            <a:ext cx="10588625" cy="3813810"/>
          </a:xfrm>
          <a:prstGeom prst="rect">
            <a:avLst/>
          </a:prstGeom>
          <a:noFill/>
        </p:spPr>
        <p:txBody>
          <a:bodyPr wrap="square" rtlCol="0">
            <a:noAutofit/>
          </a:bodyPr>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Gas Accumulation</a:t>
            </a:r>
            <a:r>
              <a:rPr lang="en-US" altLang="en-US" sz="2000">
                <a:latin typeface="Cambria" panose="02040503050406030204" charset="0"/>
                <a:cs typeface="Cambria" panose="02040503050406030204" charset="0"/>
              </a:rPr>
              <a:t> (Methane, Carbon Monoxide, Hydrogen Sulfide): If sensors die due to low energy, gas levels go undetected, leads to explosions or suffocation which can be fatal</a:t>
            </a:r>
            <a:r>
              <a:rPr lang="en-US" altLang="en-US" sz="1400">
                <a:latin typeface="Cambria" panose="02040503050406030204" charset="0"/>
                <a:cs typeface="Cambria" panose="02040503050406030204" charset="0"/>
              </a:rPr>
              <a:t>[3]</a:t>
            </a:r>
            <a:r>
              <a:rPr lang="en-US" altLang="en-US" sz="2000">
                <a:latin typeface="Cambria" panose="02040503050406030204" charset="0"/>
                <a:cs typeface="Cambria" panose="02040503050406030204" charset="0"/>
              </a:rPr>
              <a:t>.</a:t>
            </a:r>
            <a:br>
              <a:rPr lang="en-US" altLang="en-US" sz="2000">
                <a:latin typeface="Cambria" panose="02040503050406030204" charset="0"/>
                <a:cs typeface="Cambria" panose="02040503050406030204" charset="0"/>
              </a:rPr>
            </a:b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Rock Falls/Roof Collapse</a:t>
            </a:r>
            <a:r>
              <a:rPr lang="en-US" altLang="en-US" sz="2000">
                <a:latin typeface="Cambria" panose="02040503050406030204" charset="0"/>
                <a:cs typeface="Cambria" panose="02040503050406030204" charset="0"/>
              </a:rPr>
              <a:t>:Vibration and structural stability sensors must operate continuously. If node energy depletes, blind spots occur and critical incidents happens</a:t>
            </a:r>
            <a:r>
              <a:rPr lang="en-US" altLang="en-US" sz="1400">
                <a:latin typeface="Cambria" panose="02040503050406030204" charset="0"/>
                <a:cs typeface="Cambria" panose="02040503050406030204" charset="0"/>
              </a:rPr>
              <a:t>[3][4]</a:t>
            </a:r>
            <a:r>
              <a:rPr lang="en-US" altLang="en-US" sz="2000">
                <a:latin typeface="Cambria" panose="02040503050406030204" charset="0"/>
                <a:cs typeface="Cambria" panose="02040503050406030204" charset="0"/>
              </a:rPr>
              <a:t>.</a:t>
            </a:r>
            <a:br>
              <a:rPr lang="en-US" altLang="en-US" sz="2000">
                <a:latin typeface="Cambria" panose="02040503050406030204" charset="0"/>
                <a:cs typeface="Cambria" panose="02040503050406030204" charset="0"/>
              </a:rPr>
            </a:b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High Temperature and Humidity Build-U</a:t>
            </a:r>
            <a:r>
              <a:rPr lang="en-US" altLang="en-US" sz="2000">
                <a:latin typeface="Cambria" panose="02040503050406030204" charset="0"/>
                <a:cs typeface="Cambria" panose="02040503050406030204" charset="0"/>
              </a:rPr>
              <a:t>p: Extreme underground heat can cause heat stroke, equipment malfunction and fire</a:t>
            </a:r>
            <a:r>
              <a:rPr lang="en-US" altLang="en-US" sz="1400">
                <a:latin typeface="Cambria" panose="02040503050406030204" charset="0"/>
                <a:cs typeface="Cambria" panose="02040503050406030204" charset="0"/>
              </a:rPr>
              <a:t>[4]</a:t>
            </a:r>
            <a:r>
              <a:rPr lang="en-US" altLang="en-US" sz="2000">
                <a:latin typeface="Cambria" panose="02040503050406030204" charset="0"/>
                <a:cs typeface="Cambria" panose="02040503050406030204" charset="0"/>
              </a:rPr>
              <a:t>.</a:t>
            </a: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Communication Failures During Emergencies</a:t>
            </a:r>
            <a:r>
              <a:rPr lang="en-US" altLang="en-US" sz="2000">
                <a:latin typeface="Cambria" panose="02040503050406030204" charset="0"/>
                <a:cs typeface="Cambria" panose="02040503050406030204" charset="0"/>
              </a:rPr>
              <a:t>: Breakdown in communication prevents alerts from reaching control rooms. Most communication failures occur due to energy depleted sensor nodes or unstable routing</a:t>
            </a:r>
            <a:r>
              <a:rPr lang="en-US" altLang="en-US" sz="1400">
                <a:latin typeface="Cambria" panose="02040503050406030204" charset="0"/>
                <a:cs typeface="Cambria" panose="02040503050406030204" charset="0"/>
              </a:rPr>
              <a:t>[4].</a:t>
            </a:r>
            <a:endParaRPr lang="en-US" altLang="en-US" sz="2000">
              <a:latin typeface="Cambria" panose="02040503050406030204" charset="0"/>
              <a:cs typeface="Cambria" panose="02040503050406030204" charset="0"/>
            </a:endParaRPr>
          </a:p>
          <a:p>
            <a:pPr indent="0" algn="just">
              <a:buFont typeface="Wingdings" panose="05000000000000000000" charset="0"/>
              <a:buNone/>
            </a:pPr>
            <a:endParaRPr lang="en-US" altLang="en-US" sz="2000">
              <a:latin typeface="Cambria" panose="02040503050406030204" charset="0"/>
              <a:cs typeface="Cambria" panose="02040503050406030204" charset="0"/>
            </a:endParaRPr>
          </a:p>
        </p:txBody>
      </p:sp>
      <p:sp>
        <p:nvSpPr>
          <p:cNvPr id="5" name="Text Box 4"/>
          <p:cNvSpPr txBox="1"/>
          <p:nvPr/>
        </p:nvSpPr>
        <p:spPr>
          <a:xfrm>
            <a:off x="609600" y="5571490"/>
            <a:ext cx="10587990" cy="1042670"/>
          </a:xfrm>
          <a:prstGeom prst="rect">
            <a:avLst/>
          </a:prstGeom>
          <a:noFill/>
        </p:spPr>
        <p:txBody>
          <a:bodyPr wrap="square" rtlCol="0">
            <a:noAutofit/>
          </a:bodyPr>
          <a:p>
            <a:pPr algn="just"/>
            <a:r>
              <a:rPr lang="en-US" altLang="en-US" i="1">
                <a:latin typeface="Cambria" panose="02040503050406030204" charset="0"/>
                <a:cs typeface="Cambria" panose="02040503050406030204" charset="0"/>
              </a:rPr>
              <a:t>In underground mines, sensing systems often fail early when WSN nodes rapidly run out of energy. By improving energy efficiency, these networks can provide continuous monitoring and timely alerts, which reduces the risk of fatalities.</a:t>
            </a:r>
            <a:endParaRPr lang="en-US" altLang="en-US" i="1">
              <a:latin typeface="Cambria" panose="02040503050406030204" charset="0"/>
              <a:cs typeface="Cambria" panose="0204050305040603020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353560" y="230505"/>
            <a:ext cx="3670300"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Literature Review</a:t>
            </a:r>
            <a:endParaRPr lang="en-US" altLang="en-US" sz="3200" b="1">
              <a:latin typeface="Cambria" panose="02040503050406030204" charset="0"/>
              <a:cs typeface="Cambria" panose="02040503050406030204" charset="0"/>
            </a:endParaRPr>
          </a:p>
        </p:txBody>
      </p:sp>
      <p:graphicFrame>
        <p:nvGraphicFramePr>
          <p:cNvPr id="4" name="Table 3"/>
          <p:cNvGraphicFramePr/>
          <p:nvPr>
            <p:custDataLst>
              <p:tags r:id="rId1"/>
            </p:custDataLst>
          </p:nvPr>
        </p:nvGraphicFramePr>
        <p:xfrm>
          <a:off x="250190" y="1024255"/>
          <a:ext cx="11691895" cy="5643880"/>
        </p:xfrm>
        <a:graphic>
          <a:graphicData uri="http://schemas.openxmlformats.org/drawingml/2006/table">
            <a:tbl>
              <a:tblPr firstRow="1" bandRow="1">
                <a:tableStyleId>{5C22544A-7EE6-4342-B048-85BDC9FD1C3A}</a:tableStyleId>
              </a:tblPr>
              <a:tblGrid>
                <a:gridCol w="448945"/>
                <a:gridCol w="5139690"/>
                <a:gridCol w="2119342"/>
                <a:gridCol w="1477573"/>
                <a:gridCol w="2506345"/>
              </a:tblGrid>
              <a:tr h="781050">
                <a:tc>
                  <a:txBody>
                    <a:bodyPr/>
                    <a:p>
                      <a:pPr algn="l">
                        <a:buNone/>
                      </a:pPr>
                      <a:r>
                        <a:rPr lang="en-US" altLang="en-US" sz="2000">
                          <a:latin typeface="Cambria" panose="02040503050406030204" charset="0"/>
                          <a:cs typeface="Cambria" panose="02040503050406030204" charset="0"/>
                        </a:rPr>
                        <a:t>Sl </a:t>
                      </a:r>
                      <a:endParaRPr lang="en-US" altLang="en-US" sz="2000">
                        <a:latin typeface="Cambria" panose="02040503050406030204" charset="0"/>
                        <a:cs typeface="Cambria" panose="020405030504060302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tx1">
                        <a:lumMod val="75000"/>
                        <a:lumOff val="25000"/>
                      </a:schemeClr>
                    </a:solidFill>
                  </a:tcPr>
                </a:tc>
                <a:tc>
                  <a:txBody>
                    <a:bodyPr/>
                    <a:p>
                      <a:pPr algn="l">
                        <a:buNone/>
                      </a:pPr>
                      <a:r>
                        <a:rPr lang="en-US" altLang="en-US" sz="2000">
                          <a:latin typeface="Cambria" panose="02040503050406030204" charset="0"/>
                          <a:cs typeface="Cambria" panose="02040503050406030204" charset="0"/>
                        </a:rPr>
                        <a:t>Paper &amp; Year</a:t>
                      </a:r>
                      <a:endParaRPr lang="en-US" altLang="en-US" sz="2000">
                        <a:latin typeface="Cambria" panose="02040503050406030204" charset="0"/>
                        <a:cs typeface="Cambria" panose="020405030504060302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tx1">
                        <a:lumMod val="75000"/>
                        <a:lumOff val="25000"/>
                      </a:schemeClr>
                    </a:solidFill>
                  </a:tcPr>
                </a:tc>
                <a:tc>
                  <a:txBody>
                    <a:bodyPr/>
                    <a:p>
                      <a:pPr>
                        <a:buNone/>
                      </a:pPr>
                      <a:r>
                        <a:rPr lang="en-US" altLang="en-US" sz="2000">
                          <a:latin typeface="Cambria" panose="02040503050406030204" charset="0"/>
                          <a:cs typeface="Cambria" panose="02040503050406030204" charset="0"/>
                        </a:rPr>
                        <a:t>Optimization Technique Used</a:t>
                      </a:r>
                      <a:endParaRPr lang="en-US" altLang="en-US" sz="2000">
                        <a:latin typeface="Cambria" panose="02040503050406030204" charset="0"/>
                        <a:cs typeface="Cambria" panose="020405030504060302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tx1">
                        <a:lumMod val="75000"/>
                        <a:lumOff val="25000"/>
                      </a:schemeClr>
                    </a:solidFill>
                  </a:tcPr>
                </a:tc>
                <a:tc>
                  <a:txBody>
                    <a:bodyPr/>
                    <a:p>
                      <a:pPr>
                        <a:buNone/>
                      </a:pPr>
                      <a:r>
                        <a:rPr lang="en-US" altLang="en-US" sz="2000">
                          <a:latin typeface="Cambria" panose="02040503050406030204" charset="0"/>
                          <a:cs typeface="Cambria" panose="02040503050406030204" charset="0"/>
                        </a:rPr>
                        <a:t>N/w Lifetime Improved</a:t>
                      </a:r>
                      <a:endParaRPr lang="en-US" altLang="en-US" sz="2000">
                        <a:latin typeface="Cambria" panose="02040503050406030204" charset="0"/>
                        <a:cs typeface="Cambria" panose="020405030504060302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tx1">
                        <a:lumMod val="75000"/>
                        <a:lumOff val="25000"/>
                      </a:schemeClr>
                    </a:solidFill>
                  </a:tcPr>
                </a:tc>
                <a:tc>
                  <a:txBody>
                    <a:bodyPr/>
                    <a:p>
                      <a:pPr>
                        <a:buNone/>
                      </a:pPr>
                      <a:r>
                        <a:rPr lang="en-US" altLang="en-US" sz="2000">
                          <a:latin typeface="Cambria" panose="02040503050406030204" charset="0"/>
                          <a:cs typeface="Cambria" panose="02040503050406030204" charset="0"/>
                        </a:rPr>
                        <a:t>Limitations / Research gap</a:t>
                      </a:r>
                      <a:endParaRPr lang="en-US" altLang="en-US" sz="2000">
                        <a:latin typeface="Cambria" panose="02040503050406030204" charset="0"/>
                        <a:cs typeface="Cambria" panose="020405030504060302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tx1">
                        <a:lumMod val="75000"/>
                        <a:lumOff val="25000"/>
                      </a:schemeClr>
                    </a:solidFill>
                  </a:tcPr>
                </a:tc>
              </a:tr>
              <a:tr h="892810">
                <a:tc>
                  <a:txBody>
                    <a:bodyPr/>
                    <a:p>
                      <a:pPr algn="ctr">
                        <a:buNone/>
                      </a:pPr>
                      <a:r>
                        <a:rPr lang="en-US" altLang="en-US" sz="1600">
                          <a:latin typeface="Cambria" panose="02040503050406030204" charset="0"/>
                          <a:cs typeface="Cambria" panose="02040503050406030204" charset="0"/>
                        </a:rPr>
                        <a:t>1</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Al-Kaseem et al. (2021) Optimized Energy-Efficient Path Planning with Multiple Mobile Sinks</a:t>
                      </a:r>
                      <a:r>
                        <a:rPr lang="en-US" altLang="en-US" sz="1400">
                          <a:latin typeface="Cambria" panose="02040503050406030204" charset="0"/>
                          <a:cs typeface="Cambria" panose="02040503050406030204" charset="0"/>
                        </a:rPr>
                        <a:t>[5]</a:t>
                      </a:r>
                      <a:endParaRPr lang="en-US" altLang="en-US" sz="14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Ant Colony Optimization + Genetic Algorithm </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66% vs. standard LEACH</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Heavy computation demand</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rPr>
                        <a:t>Static environment</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r>
              <a:tr h="892810">
                <a:tc>
                  <a:txBody>
                    <a:bodyPr/>
                    <a:p>
                      <a:pPr algn="ctr">
                        <a:buNone/>
                      </a:pPr>
                      <a:r>
                        <a:rPr lang="en-US" altLang="en-US" sz="1600">
                          <a:latin typeface="Cambria" panose="02040503050406030204" charset="0"/>
                          <a:cs typeface="Cambria" panose="02040503050406030204" charset="0"/>
                        </a:rPr>
                        <a:t>2</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Raed et al. (2022) Efficient Energy Mechanism for Underground Mining Monitoring</a:t>
                      </a:r>
                      <a:r>
                        <a:rPr lang="en-US" altLang="en-US" sz="1400">
                          <a:latin typeface="Cambria" panose="02040503050406030204" charset="0"/>
                          <a:cs typeface="Cambria" panose="02040503050406030204" charset="0"/>
                        </a:rPr>
                        <a:t>[6]</a:t>
                      </a:r>
                      <a:endParaRPr lang="en-US" altLang="en-US" sz="14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Enhanced LEACH + DEECP</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25% vs standard LEACH</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No mobility support</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rPr>
                        <a:t>Static </a:t>
                      </a:r>
                      <a:r>
                        <a:rPr lang="en-US" altLang="en-US" sz="1600">
                          <a:latin typeface="Cambria" panose="02040503050406030204" charset="0"/>
                          <a:cs typeface="Cambria" panose="02040503050406030204" charset="0"/>
                          <a:sym typeface="+mn-ea"/>
                        </a:rPr>
                        <a:t>environment</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r>
              <a:tr h="892810">
                <a:tc>
                  <a:txBody>
                    <a:bodyPr/>
                    <a:p>
                      <a:pPr algn="ctr">
                        <a:buNone/>
                      </a:pPr>
                      <a:r>
                        <a:rPr lang="en-US" altLang="en-US" sz="1600">
                          <a:latin typeface="Cambria" panose="02040503050406030204" charset="0"/>
                          <a:cs typeface="Cambria" panose="02040503050406030204" charset="0"/>
                        </a:rPr>
                        <a:t>3</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Salman et al. (2022) Optimization of LEACH Protocol for WSNs in Terms of Energy Efficiency and Network Lifetime</a:t>
                      </a:r>
                      <a:r>
                        <a:rPr lang="en-US" altLang="en-US" sz="1400">
                          <a:latin typeface="Cambria" panose="02040503050406030204" charset="0"/>
                          <a:cs typeface="Cambria" panose="02040503050406030204" charset="0"/>
                        </a:rPr>
                        <a:t>[7]</a:t>
                      </a:r>
                      <a:endParaRPr lang="en-US" altLang="en-US" sz="14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Particle Swarm Optimization</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30% vs. standard LEACH</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No mobility support</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rPr>
                        <a:t>Non h</a:t>
                      </a:r>
                      <a:r>
                        <a:rPr lang="en-US" altLang="en-US" sz="1600">
                          <a:latin typeface="Cambria" panose="02040503050406030204" charset="0"/>
                          <a:cs typeface="Cambria" panose="02040503050406030204" charset="0"/>
                          <a:sym typeface="+mn-ea"/>
                        </a:rPr>
                        <a:t>eterogeneous environmnt</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r>
              <a:tr h="892810">
                <a:tc>
                  <a:txBody>
                    <a:bodyPr/>
                    <a:p>
                      <a:pPr algn="ctr">
                        <a:buNone/>
                      </a:pPr>
                      <a:r>
                        <a:rPr lang="en-US" altLang="en-US" sz="1600">
                          <a:latin typeface="Cambria" panose="02040503050406030204" charset="0"/>
                          <a:cs typeface="Cambria" panose="02040503050406030204" charset="0"/>
                        </a:rPr>
                        <a:t>4</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Gamal et al. (2022) Enhancing Lifetime of WSNs Using Fuzzy Logic LEACH and </a:t>
                      </a:r>
                      <a:r>
                        <a:rPr lang="en-US" altLang="en-US" sz="1600">
                          <a:latin typeface="Cambria" panose="02040503050406030204" charset="0"/>
                          <a:cs typeface="Cambria" panose="02040503050406030204" charset="0"/>
                          <a:sym typeface="+mn-ea"/>
                        </a:rPr>
                        <a:t>Particle Swarm Optimization</a:t>
                      </a:r>
                      <a:r>
                        <a:rPr lang="en-US" altLang="en-US" sz="1400">
                          <a:latin typeface="Cambria" panose="02040503050406030204" charset="0"/>
                          <a:cs typeface="Cambria" panose="02040503050406030204" charset="0"/>
                        </a:rPr>
                        <a:t>[8]</a:t>
                      </a:r>
                      <a:endParaRPr lang="en-US" altLang="en-US" sz="14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Fuzzy + </a:t>
                      </a:r>
                      <a:r>
                        <a:rPr lang="en-US" altLang="en-US" sz="1600">
                          <a:latin typeface="Cambria" panose="02040503050406030204" charset="0"/>
                          <a:cs typeface="Cambria" panose="02040503050406030204" charset="0"/>
                          <a:sym typeface="+mn-ea"/>
                        </a:rPr>
                        <a:t>Particle Swarm Optimization</a:t>
                      </a:r>
                      <a:endParaRPr lang="en-US" altLang="en-US" sz="1600">
                        <a:latin typeface="Cambria" panose="02040503050406030204" charset="0"/>
                        <a:cs typeface="Cambria" panose="02040503050406030204" charset="0"/>
                      </a:endParaRPr>
                    </a:p>
                    <a:p>
                      <a:pPr>
                        <a:buNone/>
                      </a:pP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18% vs. standard LEACH</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Increased control overhead from fuzzy inference</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r>
              <a:tr h="892810">
                <a:tc>
                  <a:txBody>
                    <a:bodyPr/>
                    <a:p>
                      <a:pPr algn="ctr">
                        <a:buNone/>
                      </a:pPr>
                      <a:r>
                        <a:rPr lang="en-US" altLang="en-US" sz="1600">
                          <a:latin typeface="Cambria" panose="02040503050406030204" charset="0"/>
                          <a:cs typeface="Cambria" panose="02040503050406030204" charset="0"/>
                        </a:rPr>
                        <a:t>5</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Mohapatra et al. (2022) Mobility Induced Multi-Hop LEACH Protocol in Heterogeneous Mobile Network</a:t>
                      </a:r>
                      <a:r>
                        <a:rPr lang="en-US" altLang="en-US" sz="1400">
                          <a:latin typeface="Cambria" panose="02040503050406030204" charset="0"/>
                          <a:cs typeface="Cambria" panose="02040503050406030204" charset="0"/>
                        </a:rPr>
                        <a:t>[9]</a:t>
                      </a:r>
                      <a:endParaRPr lang="en-US" altLang="en-US" sz="14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Modified multi-hop LEACH</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20% vs. standard LEACH</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Assumes uniform mobility</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sym typeface="+mn-ea"/>
                        </a:rPr>
                        <a:t>Non h</a:t>
                      </a:r>
                      <a:r>
                        <a:rPr lang="en-US" altLang="en-US" sz="1600">
                          <a:latin typeface="Cambria" panose="02040503050406030204" charset="0"/>
                          <a:cs typeface="Cambria" panose="02040503050406030204" charset="0"/>
                          <a:sym typeface="+mn-ea"/>
                        </a:rPr>
                        <a:t>eterogeneous environmnt</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2095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2349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353560" y="128270"/>
            <a:ext cx="3670300"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Literature Review</a:t>
            </a:r>
            <a:endParaRPr lang="en-US" altLang="en-US" sz="3200" b="1">
              <a:latin typeface="Cambria" panose="02040503050406030204" charset="0"/>
              <a:cs typeface="Cambria" panose="02040503050406030204" charset="0"/>
            </a:endParaRPr>
          </a:p>
        </p:txBody>
      </p:sp>
      <p:graphicFrame>
        <p:nvGraphicFramePr>
          <p:cNvPr id="4" name="Table 3"/>
          <p:cNvGraphicFramePr/>
          <p:nvPr>
            <p:custDataLst>
              <p:tags r:id="rId1"/>
            </p:custDataLst>
          </p:nvPr>
        </p:nvGraphicFramePr>
        <p:xfrm>
          <a:off x="241935" y="850265"/>
          <a:ext cx="11707770" cy="5742940"/>
        </p:xfrm>
        <a:graphic>
          <a:graphicData uri="http://schemas.openxmlformats.org/drawingml/2006/table">
            <a:tbl>
              <a:tblPr firstRow="1" bandRow="1">
                <a:tableStyleId>{5C22544A-7EE6-4342-B048-85BDC9FD1C3A}</a:tableStyleId>
              </a:tblPr>
              <a:tblGrid>
                <a:gridCol w="464185"/>
                <a:gridCol w="5505450"/>
                <a:gridCol w="2076725"/>
                <a:gridCol w="1520190"/>
                <a:gridCol w="2141220"/>
              </a:tblGrid>
              <a:tr h="844550">
                <a:tc>
                  <a:txBody>
                    <a:bodyPr/>
                    <a:p>
                      <a:pPr algn="l">
                        <a:buNone/>
                      </a:pPr>
                      <a:r>
                        <a:rPr lang="en-US" altLang="en-US" sz="2000">
                          <a:latin typeface="Cambria" panose="02040503050406030204" charset="0"/>
                          <a:cs typeface="Cambria" panose="02040503050406030204" charset="0"/>
                        </a:rPr>
                        <a:t>Sl</a:t>
                      </a:r>
                      <a:endParaRPr lang="en-US" altLang="en-US" sz="2000">
                        <a:latin typeface="Cambria" panose="02040503050406030204" charset="0"/>
                        <a:cs typeface="Cambria" panose="020405030504060302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tx1">
                        <a:lumMod val="75000"/>
                        <a:lumOff val="25000"/>
                      </a:schemeClr>
                    </a:solidFill>
                  </a:tcPr>
                </a:tc>
                <a:tc>
                  <a:txBody>
                    <a:bodyPr/>
                    <a:p>
                      <a:pPr algn="l">
                        <a:buNone/>
                      </a:pPr>
                      <a:r>
                        <a:rPr lang="en-US" altLang="en-US" sz="2000">
                          <a:latin typeface="Cambria" panose="02040503050406030204" charset="0"/>
                          <a:cs typeface="Cambria" panose="02040503050406030204" charset="0"/>
                        </a:rPr>
                        <a:t>Paper &amp; Year</a:t>
                      </a:r>
                      <a:endParaRPr lang="en-US" altLang="en-US" sz="2000">
                        <a:latin typeface="Cambria" panose="02040503050406030204" charset="0"/>
                        <a:cs typeface="Cambria" panose="020405030504060302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tx1">
                        <a:lumMod val="75000"/>
                        <a:lumOff val="25000"/>
                      </a:schemeClr>
                    </a:solidFill>
                  </a:tcPr>
                </a:tc>
                <a:tc>
                  <a:txBody>
                    <a:bodyPr/>
                    <a:p>
                      <a:pPr>
                        <a:buNone/>
                      </a:pPr>
                      <a:r>
                        <a:rPr lang="en-US" altLang="en-US" sz="2000">
                          <a:latin typeface="Cambria" panose="02040503050406030204" charset="0"/>
                          <a:cs typeface="Cambria" panose="02040503050406030204" charset="0"/>
                        </a:rPr>
                        <a:t>Optimization Technique Used</a:t>
                      </a:r>
                      <a:endParaRPr lang="en-US" altLang="en-US" sz="2000">
                        <a:latin typeface="Cambria" panose="02040503050406030204" charset="0"/>
                        <a:cs typeface="Cambria" panose="020405030504060302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tx1">
                        <a:lumMod val="75000"/>
                        <a:lumOff val="25000"/>
                      </a:schemeClr>
                    </a:solidFill>
                  </a:tcPr>
                </a:tc>
                <a:tc>
                  <a:txBody>
                    <a:bodyPr/>
                    <a:p>
                      <a:pPr>
                        <a:buNone/>
                      </a:pPr>
                      <a:r>
                        <a:rPr lang="en-US" altLang="en-US" sz="2000">
                          <a:latin typeface="Cambria" panose="02040503050406030204" charset="0"/>
                          <a:cs typeface="Cambria" panose="02040503050406030204" charset="0"/>
                        </a:rPr>
                        <a:t>N/w Lifetime Improved</a:t>
                      </a:r>
                      <a:endParaRPr lang="en-US" altLang="en-US" sz="2000">
                        <a:latin typeface="Cambria" panose="02040503050406030204" charset="0"/>
                        <a:cs typeface="Cambria" panose="020405030504060302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tx1">
                        <a:lumMod val="75000"/>
                        <a:lumOff val="25000"/>
                      </a:schemeClr>
                    </a:solidFill>
                  </a:tcPr>
                </a:tc>
                <a:tc>
                  <a:txBody>
                    <a:bodyPr/>
                    <a:p>
                      <a:pPr>
                        <a:buNone/>
                      </a:pPr>
                      <a:r>
                        <a:rPr lang="en-US" altLang="en-US" sz="2000">
                          <a:latin typeface="Cambria" panose="02040503050406030204" charset="0"/>
                          <a:cs typeface="Cambria" panose="02040503050406030204" charset="0"/>
                        </a:rPr>
                        <a:t>Limitations / Research gap</a:t>
                      </a:r>
                      <a:endParaRPr lang="en-US" altLang="en-US" sz="2000">
                        <a:latin typeface="Cambria" panose="02040503050406030204" charset="0"/>
                        <a:cs typeface="Cambria" panose="020405030504060302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tx1">
                        <a:lumMod val="75000"/>
                        <a:lumOff val="25000"/>
                      </a:schemeClr>
                    </a:solidFill>
                  </a:tcPr>
                </a:tc>
              </a:tr>
              <a:tr h="892810">
                <a:tc>
                  <a:txBody>
                    <a:bodyPr/>
                    <a:p>
                      <a:pPr algn="ctr">
                        <a:buNone/>
                      </a:pPr>
                      <a:r>
                        <a:rPr lang="en-US" altLang="en-US" sz="1600">
                          <a:latin typeface="Cambria" panose="02040503050406030204" charset="0"/>
                          <a:cs typeface="Cambria" panose="02040503050406030204" charset="0"/>
                        </a:rPr>
                        <a:t>6</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sym typeface="+mn-ea"/>
                        </a:rPr>
                        <a:t>Botao Zhu et al. (2022)</a:t>
                      </a:r>
                      <a:r>
                        <a:rPr lang="en-US" altLang="en-US" sz="1600">
                          <a:latin typeface="Cambria" panose="02040503050406030204" charset="0"/>
                          <a:cs typeface="Cambria" panose="02040503050406030204" charset="0"/>
                        </a:rPr>
                        <a:t>UAV Trajectory Planning in Wireless SensorNetworks by Deep Reinforcement Learning</a:t>
                      </a:r>
                      <a:r>
                        <a:rPr lang="en-US" altLang="en-US" sz="1400">
                          <a:latin typeface="Cambria" panose="02040503050406030204" charset="0"/>
                          <a:cs typeface="Cambria" panose="02040503050406030204" charset="0"/>
                        </a:rPr>
                        <a:t>[10]</a:t>
                      </a:r>
                      <a:endParaRPr lang="en-US" altLang="en-US" sz="14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Used Deep Q-Network using neural network</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Better </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rPr>
                        <a:t>Routing</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Centralize control </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rPr>
                        <a:t>Computation heavy</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r>
              <a:tr h="892810">
                <a:tc>
                  <a:txBody>
                    <a:bodyPr/>
                    <a:p>
                      <a:pPr algn="ctr">
                        <a:buNone/>
                      </a:pPr>
                      <a:r>
                        <a:rPr lang="en-US" altLang="en-US" sz="1600">
                          <a:latin typeface="Cambria" panose="02040503050406030204" charset="0"/>
                          <a:cs typeface="Cambria" panose="02040503050406030204" charset="0"/>
                        </a:rPr>
                        <a:t>7</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Tadele A. Abose et al. (2023) Optimized Cluster Routing Protocol With Energy-Sustainable Mechanisms for Wireless Sensor Networks</a:t>
                      </a:r>
                      <a:r>
                        <a:rPr lang="en-US" altLang="en-US" sz="1400">
                          <a:latin typeface="Cambria" panose="02040503050406030204" charset="0"/>
                          <a:cs typeface="Cambria" panose="02040503050406030204" charset="0"/>
                        </a:rPr>
                        <a:t>[11]</a:t>
                      </a:r>
                      <a:endParaRPr lang="en-US" altLang="en-US" sz="14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Stable Election Protocol</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36%</a:t>
                      </a:r>
                      <a:r>
                        <a:rPr lang="en-US" altLang="en-US" sz="1600">
                          <a:latin typeface="Cambria" panose="02040503050406030204" charset="0"/>
                          <a:cs typeface="Cambria" panose="02040503050406030204" charset="0"/>
                          <a:sym typeface="+mn-ea"/>
                        </a:rPr>
                        <a:t> vs</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sym typeface="+mn-ea"/>
                        </a:rPr>
                        <a:t>standard</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sym typeface="+mn-ea"/>
                        </a:rPr>
                        <a:t>LEACH</a:t>
                      </a:r>
                      <a:endParaRPr lang="en-US" altLang="en-US" sz="1600">
                        <a:latin typeface="Cambria" panose="02040503050406030204" charset="0"/>
                        <a:cs typeface="Cambria" panose="02040503050406030204" charset="0"/>
                      </a:endParaRPr>
                    </a:p>
                    <a:p>
                      <a:pPr>
                        <a:buNone/>
                      </a:pP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No Multi-hopping</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rPr>
                        <a:t>Homogenous network</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r>
              <a:tr h="892810">
                <a:tc>
                  <a:txBody>
                    <a:bodyPr/>
                    <a:p>
                      <a:pPr algn="ctr">
                        <a:buNone/>
                      </a:pPr>
                      <a:r>
                        <a:rPr lang="en-US" altLang="en-US" sz="1600">
                          <a:latin typeface="Cambria" panose="02040503050406030204" charset="0"/>
                          <a:cs typeface="Cambria" panose="02040503050406030204" charset="0"/>
                        </a:rPr>
                        <a:t>8</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sym typeface="+mn-ea"/>
                        </a:rPr>
                        <a:t>Saikat Chandra </a:t>
                      </a:r>
                      <a:r>
                        <a:rPr lang="en-US" altLang="en-US" sz="1600">
                          <a:latin typeface="Cambria" panose="02040503050406030204" charset="0"/>
                          <a:cs typeface="Cambria" panose="02040503050406030204" charset="0"/>
                          <a:sym typeface="+mn-ea"/>
                        </a:rPr>
                        <a:t>et al. (2024) LoRa-Based IIoT Network for Underground Coal Mine Environment</a:t>
                      </a:r>
                      <a:r>
                        <a:rPr lang="en-US" altLang="en-US" sz="1400">
                          <a:latin typeface="Cambria" panose="02040503050406030204" charset="0"/>
                          <a:cs typeface="Cambria" panose="02040503050406030204" charset="0"/>
                          <a:sym typeface="+mn-ea"/>
                        </a:rPr>
                        <a:t>[12]</a:t>
                      </a:r>
                      <a:endParaRPr lang="en-US" altLang="en-US" sz="1600">
                        <a:latin typeface="Cambria" panose="02040503050406030204" charset="0"/>
                        <a:cs typeface="Cambria" panose="02040503050406030204" charset="0"/>
                      </a:endParaRPr>
                    </a:p>
                    <a:p>
                      <a:pPr>
                        <a:buNone/>
                      </a:pP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sym typeface="+mn-ea"/>
                        </a:rPr>
                        <a:t>Used LoRa to perform P2P communication</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rPr>
                        <a:t>N/A</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c>
                  <a:txBody>
                    <a:bodyPr/>
                    <a:p>
                      <a:pPr>
                        <a:buNone/>
                      </a:pPr>
                      <a:r>
                        <a:rPr lang="en-US" altLang="en-US" sz="1600">
                          <a:latin typeface="Cambria" panose="02040503050406030204" charset="0"/>
                          <a:cs typeface="Cambria" panose="02040503050406030204" charset="0"/>
                          <a:sym typeface="+mn-ea"/>
                        </a:rPr>
                        <a:t>Clustering is missing</a:t>
                      </a:r>
                      <a:endParaRPr lang="en-US" altLang="en-US" sz="1600">
                        <a:latin typeface="Cambria" panose="02040503050406030204" charset="0"/>
                        <a:cs typeface="Cambria" panose="02040503050406030204" charset="0"/>
                      </a:endParaRPr>
                    </a:p>
                    <a:p>
                      <a:pPr>
                        <a:buNone/>
                      </a:pP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lumMod val="95000"/>
                      </a:schemeClr>
                    </a:solidFill>
                  </a:tcPr>
                </a:tc>
              </a:tr>
              <a:tr h="774065">
                <a:tc>
                  <a:txBody>
                    <a:bodyPr/>
                    <a:p>
                      <a:pPr algn="ctr">
                        <a:buNone/>
                      </a:pPr>
                      <a:r>
                        <a:rPr lang="en-US" altLang="en-US" sz="1600">
                          <a:latin typeface="Cambria" panose="02040503050406030204" charset="0"/>
                          <a:cs typeface="Cambria" panose="02040503050406030204" charset="0"/>
                        </a:rPr>
                        <a:t>9</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sym typeface="+mn-ea"/>
                        </a:rPr>
                        <a:t>Aleem &amp; Thumma (2025) Hybrid DEEC EEKA RL in IoT- WSNs</a:t>
                      </a:r>
                      <a:r>
                        <a:rPr lang="en-US" altLang="en-US" sz="1400">
                          <a:latin typeface="Cambria" panose="02040503050406030204" charset="0"/>
                          <a:cs typeface="Cambria" panose="02040503050406030204" charset="0"/>
                          <a:sym typeface="+mn-ea"/>
                        </a:rPr>
                        <a:t>[13]</a:t>
                      </a:r>
                      <a:endParaRPr lang="en-US" altLang="en-US" sz="1400">
                        <a:latin typeface="Cambria" panose="02040503050406030204" charset="0"/>
                        <a:cs typeface="Cambria" panose="02040503050406030204"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sym typeface="+mn-ea"/>
                        </a:rPr>
                        <a:t>Residual energy</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sym typeface="+mn-ea"/>
                        </a:rPr>
                        <a:t>ratio (DEEC) EEKA constraints + RL</a:t>
                      </a:r>
                      <a:endParaRPr lang="en-US" altLang="en-US" sz="1600">
                        <a:latin typeface="Cambria" panose="02040503050406030204" charset="0"/>
                        <a:cs typeface="Cambria" panose="02040503050406030204" charset="0"/>
                      </a:endParaRPr>
                    </a:p>
                    <a:p>
                      <a:pPr>
                        <a:buNone/>
                      </a:pP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sym typeface="+mn-ea"/>
                        </a:rPr>
                        <a:t>17.5% vs</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sym typeface="+mn-ea"/>
                        </a:rPr>
                        <a:t>standard</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sym typeface="+mn-ea"/>
                        </a:rPr>
                        <a:t>LEACH</a:t>
                      </a:r>
                      <a:endParaRPr lang="en-US" altLang="en-US" sz="1600">
                        <a:latin typeface="Cambria" panose="02040503050406030204" charset="0"/>
                        <a:cs typeface="Cambria" panose="02040503050406030204" charset="0"/>
                      </a:endParaRPr>
                    </a:p>
                    <a:p>
                      <a:pPr>
                        <a:buNone/>
                      </a:pP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sym typeface="+mn-ea"/>
                        </a:rPr>
                        <a:t>Computational overhead, No mobility support</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r>
              <a:tr h="817880">
                <a:tc>
                  <a:txBody>
                    <a:bodyPr/>
                    <a:p>
                      <a:pPr algn="ctr">
                        <a:buNone/>
                      </a:pPr>
                      <a:r>
                        <a:rPr lang="en-US" altLang="en-US" sz="1600">
                          <a:latin typeface="Cambria" panose="02040503050406030204" charset="0"/>
                          <a:cs typeface="Cambria" panose="02040503050406030204" charset="0"/>
                        </a:rPr>
                        <a:t>10 </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solidFill>
                            <a:schemeClr val="tx1"/>
                          </a:solidFill>
                          <a:latin typeface="Cambria" panose="02040503050406030204" charset="0"/>
                          <a:cs typeface="Cambria" panose="02040503050406030204" charset="0"/>
                          <a:sym typeface="+mn-ea"/>
                        </a:rPr>
                        <a:t> Chaudhari, A., Deshpande (2025) </a:t>
                      </a:r>
                      <a:r>
                        <a:rPr lang="en-US" altLang="en-US" sz="1600">
                          <a:latin typeface="Cambria" panose="02040503050406030204" charset="0"/>
                          <a:cs typeface="Cambria" panose="02040503050406030204" charset="0"/>
                          <a:sym typeface="+mn-ea"/>
                        </a:rPr>
                        <a:t>Energy‑efficient Q‑learning-based routing in wireless sensor networks</a:t>
                      </a:r>
                      <a:r>
                        <a:rPr lang="en-US" altLang="en-US" sz="1400">
                          <a:latin typeface="Cambria" panose="02040503050406030204" charset="0"/>
                          <a:cs typeface="Cambria" panose="02040503050406030204" charset="0"/>
                          <a:sym typeface="+mn-ea"/>
                        </a:rPr>
                        <a:t>[14]</a:t>
                      </a:r>
                      <a:r>
                        <a:rPr lang="en-US" altLang="en-US" sz="1600">
                          <a:latin typeface="Cambria" panose="02040503050406030204" charset="0"/>
                          <a:cs typeface="Cambria" panose="02040503050406030204" charset="0"/>
                          <a:sym typeface="+mn-ea"/>
                        </a:rPr>
                        <a:t>.</a:t>
                      </a:r>
                      <a:endParaRPr lang="en-US" altLang="en-US" sz="1600">
                        <a:latin typeface="Cambria" panose="02040503050406030204" charset="0"/>
                        <a:cs typeface="Cambria" panose="02040503050406030204"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Q-Learning + Optimized routing</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50% vs baseline Q-Learning</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c>
                  <a:txBody>
                    <a:bodyPr/>
                    <a:p>
                      <a:pPr>
                        <a:buNone/>
                      </a:pPr>
                      <a:r>
                        <a:rPr lang="en-US" altLang="en-US" sz="1600">
                          <a:latin typeface="Cambria" panose="02040503050406030204" charset="0"/>
                          <a:cs typeface="Cambria" panose="02040503050406030204" charset="0"/>
                        </a:rPr>
                        <a:t>No multi-hop routing</a:t>
                      </a:r>
                      <a:endParaRPr lang="en-US" altLang="en-US" sz="1600">
                        <a:latin typeface="Cambria" panose="02040503050406030204" charset="0"/>
                        <a:cs typeface="Cambria" panose="02040503050406030204" charset="0"/>
                      </a:endParaRPr>
                    </a:p>
                    <a:p>
                      <a:pPr>
                        <a:buNone/>
                      </a:pPr>
                      <a:r>
                        <a:rPr lang="en-US" altLang="en-US" sz="1600">
                          <a:latin typeface="Cambria" panose="02040503050406030204" charset="0"/>
                          <a:cs typeface="Cambria" panose="02040503050406030204" charset="0"/>
                        </a:rPr>
                        <a:t>No comparison with classical protocols</a:t>
                      </a:r>
                      <a:endParaRPr lang="en-US" altLang="en-US" sz="1600">
                        <a:latin typeface="Cambria" panose="02040503050406030204" charset="0"/>
                        <a:cs typeface="Cambria" panose="020405030504060302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1"/>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2887980" y="323215"/>
            <a:ext cx="6416675" cy="583565"/>
          </a:xfrm>
          <a:prstGeom prst="rect">
            <a:avLst/>
          </a:prstGeom>
          <a:noFill/>
        </p:spPr>
        <p:txBody>
          <a:bodyPr wrap="square" rtlCol="0">
            <a:spAutoFit/>
          </a:bodyPr>
          <a:p>
            <a:pPr indent="0">
              <a:buFont typeface="+mj-lt"/>
              <a:buNone/>
            </a:pPr>
            <a:r>
              <a:rPr lang="en-US" altLang="en-US" sz="3200" b="1">
                <a:latin typeface="Cambria" panose="02040503050406030204" charset="0"/>
                <a:cs typeface="Cambria" panose="02040503050406030204" charset="0"/>
                <a:sym typeface="+mn-ea"/>
              </a:rPr>
              <a:t>Motivation &amp; Problem Statement</a:t>
            </a:r>
            <a:endParaRPr lang="en-US" altLang="en-US" sz="3200" b="1">
              <a:latin typeface="Cambria" panose="02040503050406030204" charset="0"/>
              <a:cs typeface="Cambria" panose="02040503050406030204" charset="0"/>
            </a:endParaRPr>
          </a:p>
        </p:txBody>
      </p:sp>
      <p:sp>
        <p:nvSpPr>
          <p:cNvPr id="3" name="Text Box 2"/>
          <p:cNvSpPr txBox="1"/>
          <p:nvPr/>
        </p:nvSpPr>
        <p:spPr>
          <a:xfrm>
            <a:off x="727075" y="1090930"/>
            <a:ext cx="10739120" cy="5383530"/>
          </a:xfrm>
          <a:prstGeom prst="rect">
            <a:avLst/>
          </a:prstGeom>
          <a:noFill/>
        </p:spPr>
        <p:txBody>
          <a:bodyPr wrap="square" rtlCol="0">
            <a:noAutofit/>
            <a:scene3d>
              <a:camera prst="orthographicFront">
                <a:rot lat="0" lon="0" rev="0"/>
              </a:camera>
              <a:lightRig rig="threePt" dir="t"/>
            </a:scene3d>
          </a:bodyPr>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Motivation:</a:t>
            </a:r>
            <a:endParaRPr lang="en-US" altLang="en-US" sz="2000" b="1">
              <a:latin typeface="Cambria" panose="02040503050406030204" charset="0"/>
              <a:cs typeface="Cambria" panose="02040503050406030204" charset="0"/>
            </a:endParaRPr>
          </a:p>
          <a:p>
            <a:pPr marL="800100" lvl="1" indent="-342900" algn="just">
              <a:buFont typeface="Arial" panose="020B0604020202020204" pitchFamily="34" charset="0"/>
              <a:buChar char="•"/>
            </a:pPr>
            <a:r>
              <a:rPr lang="en-US" altLang="en-US" sz="2000">
                <a:latin typeface="Cambria" panose="02040503050406030204" charset="0"/>
                <a:cs typeface="Cambria" panose="02040503050406030204" charset="0"/>
              </a:rPr>
              <a:t>Continuous sensing is critical in underground mines.</a:t>
            </a:r>
            <a:endParaRPr lang="en-US" altLang="en-US" sz="2000">
              <a:latin typeface="Cambria" panose="02040503050406030204" charset="0"/>
              <a:cs typeface="Cambria" panose="02040503050406030204" charset="0"/>
            </a:endParaRPr>
          </a:p>
          <a:p>
            <a:pPr marL="800100" lvl="1" indent="-342900" algn="just">
              <a:buFont typeface="Arial" panose="020B0604020202020204" pitchFamily="34" charset="0"/>
              <a:buChar char="•"/>
            </a:pPr>
            <a:r>
              <a:rPr lang="en-US" altLang="en-US" sz="2000">
                <a:latin typeface="Cambria" panose="02040503050406030204" charset="0"/>
                <a:cs typeface="Cambria" panose="02040503050406030204" charset="0"/>
              </a:rPr>
              <a:t>Sensor nodes die early due to limited battery.</a:t>
            </a:r>
            <a:endParaRPr lang="en-US" altLang="en-US" sz="2000">
              <a:latin typeface="Cambria" panose="02040503050406030204" charset="0"/>
              <a:cs typeface="Cambria" panose="02040503050406030204" charset="0"/>
            </a:endParaRPr>
          </a:p>
          <a:p>
            <a:pPr marL="800100" lvl="1" indent="-342900" algn="just">
              <a:buFont typeface="Arial" panose="020B0604020202020204" pitchFamily="34" charset="0"/>
              <a:buChar char="•"/>
            </a:pPr>
            <a:r>
              <a:rPr lang="en-US" altLang="en-US" sz="2000">
                <a:latin typeface="Cambria" panose="02040503050406030204" charset="0"/>
                <a:cs typeface="Cambria" panose="02040503050406030204" charset="0"/>
              </a:rPr>
              <a:t>Blind spots form, increasing accident risk.</a:t>
            </a:r>
            <a:endParaRPr lang="en-US" altLang="en-US" sz="2000">
              <a:latin typeface="Cambria" panose="02040503050406030204" charset="0"/>
              <a:cs typeface="Cambria" panose="02040503050406030204" charset="0"/>
            </a:endParaRPr>
          </a:p>
          <a:p>
            <a:pPr marL="800100" lvl="1" indent="-342900" algn="just">
              <a:buFont typeface="Arial" panose="020B0604020202020204" pitchFamily="34" charset="0"/>
              <a:buChar char="•"/>
            </a:pPr>
            <a:r>
              <a:rPr lang="en-US" altLang="en-US" sz="2000">
                <a:latin typeface="Cambria" panose="02040503050406030204" charset="0"/>
                <a:cs typeface="Cambria" panose="02040503050406030204" charset="0"/>
              </a:rPr>
              <a:t>Energy efficient nodes ensure reliable monitoring and worker safety.</a:t>
            </a:r>
            <a:endParaRPr lang="en-US" altLang="en-US" sz="2000">
              <a:latin typeface="Cambria" panose="02040503050406030204" charset="0"/>
              <a:cs typeface="Cambria" panose="02040503050406030204" charset="0"/>
            </a:endParaRPr>
          </a:p>
          <a:p>
            <a:pPr marL="800100" lvl="1" indent="-342900" algn="just">
              <a:buFont typeface="Arial" panose="020B0604020202020204" pitchFamily="34" charset="0"/>
              <a:buChar char="•"/>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Problem Statement:</a:t>
            </a:r>
            <a:endParaRPr lang="en-US" altLang="en-US" sz="2000" b="1">
              <a:latin typeface="Cambria" panose="02040503050406030204" charset="0"/>
              <a:cs typeface="Cambria" panose="02040503050406030204" charset="0"/>
            </a:endParaRPr>
          </a:p>
          <a:p>
            <a:pPr lvl="2" indent="-342900" algn="just">
              <a:buFont typeface="Arial" panose="020B0604020202020204" pitchFamily="34" charset="0"/>
              <a:buChar char="•"/>
            </a:pPr>
            <a:r>
              <a:rPr lang="en-US" altLang="en-US" sz="2000">
                <a:latin typeface="Cambria" panose="02040503050406030204" charset="0"/>
                <a:cs typeface="Cambria" panose="02040503050406030204" charset="0"/>
                <a:sym typeface="+mn-ea"/>
              </a:rPr>
              <a:t>Existing protocols such as LEACH and DEECP rely on static, heuristic-based cluster head selection and does not exploit node heterogeneity which leads to uneven energy consumption and premature node death. This reduces network lifetime compromises continuous monitoring in underground mines.</a:t>
            </a:r>
            <a:endParaRPr lang="en-US" altLang="en-US" sz="2000">
              <a:latin typeface="Cambria" panose="02040503050406030204" charset="0"/>
              <a:cs typeface="Cambria" panose="02040503050406030204" charset="0"/>
            </a:endParaRPr>
          </a:p>
          <a:p>
            <a:pPr marL="800100" lvl="1" indent="-342900" algn="just">
              <a:buFont typeface="Wingdings" panose="05000000000000000000" charset="0"/>
              <a:buChar char="v"/>
            </a:pPr>
            <a:endParaRPr lang="en-US" altLang="en-US" sz="2000" b="1">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Objective:</a:t>
            </a:r>
            <a:endParaRPr lang="en-US" altLang="en-US" sz="2000" b="1">
              <a:latin typeface="Cambria" panose="02040503050406030204" charset="0"/>
              <a:cs typeface="Cambria" panose="02040503050406030204" charset="0"/>
            </a:endParaRPr>
          </a:p>
          <a:p>
            <a:pPr lvl="2" indent="-342900" algn="just">
              <a:buFont typeface="Arial" panose="020B0604020202020204" pitchFamily="34" charset="0"/>
              <a:buChar char="•"/>
            </a:pPr>
            <a:r>
              <a:rPr lang="en-US" altLang="en-US" sz="2000">
                <a:latin typeface="Cambria" panose="02040503050406030204" charset="0"/>
                <a:cs typeface="Cambria" panose="02040503050406030204" charset="0"/>
                <a:sym typeface="+mn-ea"/>
              </a:rPr>
              <a:t>Improve DEEC protocol by integrating Q-Learning (a part of reinforcement learning) for intelligent cluster head selection.</a:t>
            </a:r>
            <a:endParaRPr lang="en-US" altLang="en-US" sz="2000">
              <a:latin typeface="Cambria" panose="02040503050406030204" charset="0"/>
              <a:cs typeface="Cambria" panose="02040503050406030204" charset="0"/>
              <a:sym typeface="+mn-ea"/>
            </a:endParaRPr>
          </a:p>
          <a:p>
            <a:pPr lvl="2" indent="-342900" algn="just">
              <a:buFont typeface="Arial" panose="020B0604020202020204" pitchFamily="34" charset="0"/>
              <a:buChar char="•"/>
            </a:pPr>
            <a:r>
              <a:rPr lang="en-US" altLang="en-US" sz="2000">
                <a:latin typeface="Cambria" panose="02040503050406030204" charset="0"/>
                <a:cs typeface="Cambria" panose="02040503050406030204" charset="0"/>
                <a:sym typeface="+mn-ea"/>
              </a:rPr>
              <a:t>Achieve improvement in network lifetime by reducing premature node deaths and energy imbalance.</a:t>
            </a:r>
            <a:endParaRPr lang="en-US" altLang="en-US" sz="2000">
              <a:latin typeface="Cambria" panose="02040503050406030204" charset="0"/>
              <a:cs typeface="Cambria" panose="02040503050406030204" charset="0"/>
            </a:endParaRPr>
          </a:p>
          <a:p>
            <a:pPr lvl="2" indent="-342900" algn="just">
              <a:buFont typeface="Arial" panose="020B0604020202020204" pitchFamily="34" charset="0"/>
              <a:buChar char="•"/>
            </a:pPr>
            <a:endParaRPr lang="en-US" altLang="en-US" sz="2000">
              <a:latin typeface="Cambria" panose="02040503050406030204" charset="0"/>
              <a:cs typeface="Cambria" panose="02040503050406030204" charset="0"/>
              <a:sym typeface="+mn-ea"/>
            </a:endParaRPr>
          </a:p>
          <a:p>
            <a:pPr lvl="2" indent="-342900" algn="just">
              <a:buFont typeface="Arial" panose="020B0604020202020204" pitchFamily="34" charset="0"/>
              <a:buChar char="•"/>
            </a:pPr>
            <a:endParaRPr lang="en-US" altLang="en-US" sz="2000">
              <a:latin typeface="Cambria" panose="02040503050406030204" charset="0"/>
              <a:cs typeface="Cambria" panose="02040503050406030204" charset="0"/>
            </a:endParaRPr>
          </a:p>
          <a:p>
            <a:pPr marL="800100" lvl="1" indent="-342900" algn="just">
              <a:buFont typeface="Wingdings" panose="05000000000000000000" charset="0"/>
              <a:buChar char="v"/>
            </a:pPr>
            <a:endParaRPr lang="en-US" altLang="en-US" sz="2000" b="1">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b="1">
              <a:latin typeface="Cambria" panose="02040503050406030204" charset="0"/>
              <a:cs typeface="Cambria" panose="02040503050406030204" charset="0"/>
            </a:endParaRPr>
          </a:p>
          <a:p>
            <a:pPr marL="800100" lvl="1" indent="-342900" algn="just">
              <a:buFont typeface="Arial" panose="020B0604020202020204" pitchFamily="34" charset="0"/>
              <a:buChar char="•"/>
            </a:pPr>
            <a:endParaRPr lang="en-US" altLang="en-US" sz="2000">
              <a:latin typeface="Cambria" panose="02040503050406030204" charset="0"/>
              <a:cs typeface="Cambria" panose="0204050305040603020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3548380" y="294640"/>
            <a:ext cx="5160010"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sym typeface="+mn-ea"/>
              </a:rPr>
              <a:t>Overview of </a:t>
            </a:r>
            <a:r>
              <a:rPr lang="en-US" altLang="en-US" sz="3200" b="1">
                <a:latin typeface="Cambria" panose="02040503050406030204" charset="0"/>
                <a:cs typeface="Cambria" panose="02040503050406030204" charset="0"/>
              </a:rPr>
              <a:t>DEEC Protocol</a:t>
            </a:r>
            <a:endParaRPr lang="en-US" altLang="en-US" sz="3200" b="1">
              <a:latin typeface="Cambria" panose="02040503050406030204" charset="0"/>
              <a:cs typeface="Cambria" panose="02040503050406030204" charset="0"/>
            </a:endParaRPr>
          </a:p>
        </p:txBody>
      </p:sp>
      <p:sp>
        <p:nvSpPr>
          <p:cNvPr id="3" name="Text Box 2"/>
          <p:cNvSpPr txBox="1"/>
          <p:nvPr/>
        </p:nvSpPr>
        <p:spPr>
          <a:xfrm>
            <a:off x="756920" y="1069340"/>
            <a:ext cx="10756265" cy="2670810"/>
          </a:xfrm>
          <a:prstGeom prst="rect">
            <a:avLst/>
          </a:prstGeom>
          <a:noFill/>
        </p:spPr>
        <p:txBody>
          <a:bodyPr wrap="square" rtlCol="0">
            <a:noAutofit/>
          </a:bodyPr>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DEEC(Distributed Energy-Efficient Clustering):</a:t>
            </a:r>
            <a:r>
              <a:rPr lang="en-US" altLang="en-US" sz="2000">
                <a:latin typeface="Cambria" panose="02040503050406030204" charset="0"/>
                <a:cs typeface="Cambria" panose="02040503050406030204" charset="0"/>
              </a:rPr>
              <a:t> It is a hierarchical routing protocol designed to maximize the lifetime of a WSN by balancing energy consumption among nodes</a:t>
            </a:r>
            <a:r>
              <a:rPr lang="en-US" altLang="en-US" sz="1400">
                <a:latin typeface="Cambria" panose="02040503050406030204" charset="0"/>
                <a:cs typeface="Cambria" panose="02040503050406030204" charset="0"/>
              </a:rPr>
              <a:t>[6]</a:t>
            </a:r>
            <a:r>
              <a:rPr lang="en-US" altLang="en-US" sz="2000">
                <a:latin typeface="Cambria" panose="02040503050406030204" charset="0"/>
                <a:cs typeface="Cambria" panose="02040503050406030204" charset="0"/>
              </a:rPr>
              <a:t>.</a:t>
            </a: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The Core Problem It Solve:</a:t>
            </a:r>
            <a:r>
              <a:rPr lang="en-US" altLang="en-US" sz="2000">
                <a:latin typeface="Cambria" panose="02040503050406030204" charset="0"/>
                <a:cs typeface="Cambria" panose="02040503050406030204" charset="0"/>
              </a:rPr>
              <a:t> </a:t>
            </a:r>
            <a:r>
              <a:rPr lang="en-US" altLang="en-US" sz="2000" i="1">
                <a:latin typeface="Cambria" panose="02040503050406030204" charset="0"/>
                <a:cs typeface="Cambria" panose="02040503050406030204" charset="0"/>
              </a:rPr>
              <a:t>The "Energy Hole", i</a:t>
            </a:r>
            <a:r>
              <a:rPr lang="en-US" altLang="en-US" sz="2000">
                <a:latin typeface="Cambria" panose="02040503050406030204" charset="0"/>
                <a:cs typeface="Cambria" panose="02040503050406030204" charset="0"/>
              </a:rPr>
              <a:t>n many protocols (like LEACH), CHs are chosen randomly, which leads nodes with low energy to become CHs and they die quickly.</a:t>
            </a:r>
            <a:endParaRPr lang="en-US" altLang="en-US" sz="2000">
              <a:latin typeface="Cambria" panose="02040503050406030204" charset="0"/>
              <a:cs typeface="Cambria" panose="02040503050406030204" charset="0"/>
            </a:endParaRPr>
          </a:p>
          <a:p>
            <a:pPr algn="just"/>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Energy Aware Clustering</a:t>
            </a:r>
            <a:r>
              <a:rPr lang="en-US" altLang="en-US" sz="2000">
                <a:latin typeface="Cambria" panose="02040503050406030204" charset="0"/>
                <a:cs typeface="Cambria" panose="02040503050406030204" charset="0"/>
              </a:rPr>
              <a:t>: DEEC's key innovation is that CH selection is based on a node's remaining (residual) energy. Nodes with more energy have a higher probability of being selected as a CH.</a:t>
            </a:r>
            <a:endParaRPr lang="en-US" altLang="en-US" sz="2000">
              <a:latin typeface="Cambria" panose="02040503050406030204" charset="0"/>
              <a:cs typeface="Cambria" panose="02040503050406030204" charset="0"/>
            </a:endParaRPr>
          </a:p>
          <a:p>
            <a:pPr algn="just"/>
            <a:endParaRPr lang="en-US" altLang="en-US" sz="2000">
              <a:latin typeface="Cambria" panose="02040503050406030204" charset="0"/>
              <a:cs typeface="Cambria" panose="02040503050406030204" charset="0"/>
            </a:endParaRPr>
          </a:p>
        </p:txBody>
      </p:sp>
      <p:pic>
        <p:nvPicPr>
          <p:cNvPr id="7" name="Picture 6" descr="deecp_vs_leach"/>
          <p:cNvPicPr>
            <a:picLocks noChangeAspect="1"/>
          </p:cNvPicPr>
          <p:nvPr/>
        </p:nvPicPr>
        <p:blipFill>
          <a:blip r:embed="rId1"/>
          <a:stretch>
            <a:fillRect/>
          </a:stretch>
        </p:blipFill>
        <p:spPr>
          <a:xfrm>
            <a:off x="2697480" y="4018915"/>
            <a:ext cx="6504305" cy="2734945"/>
          </a:xfrm>
          <a:prstGeom prst="rect">
            <a:avLst/>
          </a:prstGeom>
        </p:spPr>
      </p:pic>
      <p:sp>
        <p:nvSpPr>
          <p:cNvPr id="11" name="Text Box 10"/>
          <p:cNvSpPr txBox="1"/>
          <p:nvPr/>
        </p:nvSpPr>
        <p:spPr>
          <a:xfrm>
            <a:off x="5267960" y="6534785"/>
            <a:ext cx="1934210" cy="153670"/>
          </a:xfrm>
          <a:prstGeom prst="rect">
            <a:avLst/>
          </a:prstGeom>
          <a:noFill/>
        </p:spPr>
        <p:txBody>
          <a:bodyPr wrap="square" rtlCol="0">
            <a:noAutofit/>
          </a:bodyPr>
          <a:p>
            <a:r>
              <a:rPr lang="en-US" altLang="en-US" sz="1400" i="1">
                <a:latin typeface="Cambria" panose="02040503050406030204" charset="0"/>
                <a:cs typeface="Cambria" panose="02040503050406030204" charset="0"/>
              </a:rPr>
              <a:t>Fig 2: LEACH vs DEEC</a:t>
            </a:r>
            <a:endParaRPr lang="en-US" altLang="en-US" sz="1400" i="1">
              <a:latin typeface="Cambria" panose="02040503050406030204" charset="0"/>
              <a:cs typeface="Cambria" panose="020405030504060302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650740" y="294640"/>
            <a:ext cx="316801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DEEC Algorithm</a:t>
            </a:r>
            <a:endParaRPr lang="en-US" altLang="en-US" sz="3200" b="1">
              <a:latin typeface="Cambria" panose="02040503050406030204" charset="0"/>
              <a:cs typeface="Cambria" panose="02040503050406030204" charset="0"/>
            </a:endParaRPr>
          </a:p>
        </p:txBody>
      </p:sp>
      <p:sp>
        <p:nvSpPr>
          <p:cNvPr id="3" name="Text Box 2"/>
          <p:cNvSpPr txBox="1"/>
          <p:nvPr/>
        </p:nvSpPr>
        <p:spPr>
          <a:xfrm>
            <a:off x="859155" y="1085215"/>
            <a:ext cx="10521950" cy="5483860"/>
          </a:xfrm>
          <a:prstGeom prst="rect">
            <a:avLst/>
          </a:prstGeom>
          <a:noFill/>
        </p:spPr>
        <p:txBody>
          <a:bodyPr wrap="square" rtlCol="0">
            <a:noAutofit/>
          </a:bodyPr>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Starts with a Baseline (p_opt):</a:t>
            </a:r>
            <a:endParaRPr lang="en-US" altLang="en-US" sz="2000" b="1">
              <a:latin typeface="Cambria" panose="02040503050406030204" charset="0"/>
              <a:cs typeface="Cambria" panose="02040503050406030204" charset="0"/>
            </a:endParaRPr>
          </a:p>
          <a:p>
            <a:pPr marL="1257300" lvl="2" indent="-342900" algn="just">
              <a:buFont typeface="Arial" panose="020B0604020202020204" pitchFamily="34" charset="0"/>
              <a:buChar char="•"/>
            </a:pPr>
            <a:r>
              <a:rPr lang="en-US" altLang="en-US" sz="2000">
                <a:latin typeface="Cambria" panose="02040503050406030204" charset="0"/>
                <a:cs typeface="Cambria" panose="02040503050406030204" charset="0"/>
              </a:rPr>
              <a:t>The protocol begins with a fixed percentage of nodes that should be CHs in any round (e.g. 5% of all nodes). This ensures network stability</a:t>
            </a:r>
            <a:r>
              <a:rPr lang="en-US" altLang="en-US" sz="1400">
                <a:latin typeface="Cambria" panose="02040503050406030204" charset="0"/>
                <a:cs typeface="Cambria" panose="02040503050406030204" charset="0"/>
              </a:rPr>
              <a:t>[6]</a:t>
            </a:r>
            <a:r>
              <a:rPr lang="en-US" altLang="en-US" sz="2000">
                <a:latin typeface="Cambria" panose="02040503050406030204" charset="0"/>
                <a:cs typeface="Cambria" panose="02040503050406030204" charset="0"/>
              </a:rPr>
              <a:t>.</a:t>
            </a:r>
            <a:endParaRPr lang="en-US" altLang="en-US" sz="2000">
              <a:latin typeface="Cambria" panose="02040503050406030204" charset="0"/>
              <a:cs typeface="Cambria" panose="02040503050406030204" charset="0"/>
            </a:endParaRPr>
          </a:p>
          <a:p>
            <a:pPr marL="1257300" lvl="2" indent="-342900" algn="just">
              <a:buFont typeface="Arial" panose="020B0604020202020204" pitchFamily="34" charset="0"/>
              <a:buChar char="•"/>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Compares Individual Energy to the Average (E_i / E_avg):</a:t>
            </a:r>
            <a:endParaRPr lang="en-US" altLang="en-US" sz="2000" b="1">
              <a:latin typeface="Cambria" panose="02040503050406030204" charset="0"/>
              <a:cs typeface="Cambria" panose="02040503050406030204" charset="0"/>
            </a:endParaRPr>
          </a:p>
          <a:p>
            <a:pPr marL="1257300" lvl="2" indent="-342900" algn="just">
              <a:buFont typeface="Arial" panose="020B0604020202020204" pitchFamily="34" charset="0"/>
              <a:buChar char="•"/>
            </a:pPr>
            <a:r>
              <a:rPr lang="en-US" altLang="en-US" sz="2000">
                <a:latin typeface="Cambria" panose="02040503050406030204" charset="0"/>
                <a:cs typeface="Cambria" panose="02040503050406030204" charset="0"/>
                <a:sym typeface="+mn-ea"/>
              </a:rPr>
              <a:t>This is the core of the protocol. It calculates a ratio by dividing a node's current energy (E_i) by the estimated average energy of the entire network (E_avg)[6].</a:t>
            </a: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b="1">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The core equations that guide DEECP:</a:t>
            </a:r>
            <a:endParaRPr lang="en-US" altLang="en-US" sz="2000" b="1">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b="1">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b="1">
              <a:latin typeface="Cambria" panose="02040503050406030204" charset="0"/>
              <a:cs typeface="Cambria" panose="02040503050406030204" charset="0"/>
            </a:endParaRPr>
          </a:p>
          <a:p>
            <a:pPr marL="1257300" lvl="2" indent="-342900" algn="just">
              <a:buFont typeface="Arial" panose="020B0604020202020204" pitchFamily="34" charset="0"/>
              <a:buChar char="•"/>
            </a:pPr>
            <a:endParaRPr lang="en-US" altLang="en-US" sz="2000">
              <a:latin typeface="Cambria" panose="02040503050406030204" charset="0"/>
              <a:cs typeface="Cambria" panose="02040503050406030204" charset="0"/>
            </a:endParaRPr>
          </a:p>
          <a:p>
            <a:pPr marL="1257300" lvl="2" indent="-342900" algn="just">
              <a:buFont typeface="Arial" panose="020B0604020202020204" pitchFamily="34" charset="0"/>
              <a:buChar char="•"/>
            </a:pPr>
            <a:endParaRPr lang="en-US" altLang="en-US" sz="2000">
              <a:latin typeface="Cambria" panose="02040503050406030204" charset="0"/>
              <a:cs typeface="Cambria" panose="02040503050406030204" charset="0"/>
            </a:endParaRPr>
          </a:p>
          <a:p>
            <a:pPr lvl="2" indent="0" algn="just">
              <a:buFont typeface="Arial" panose="020B0604020202020204" pitchFamily="34" charset="0"/>
              <a:buNone/>
            </a:pPr>
            <a:endParaRPr lang="en-US" altLang="en-US" sz="2000">
              <a:latin typeface="Cambria" panose="02040503050406030204" charset="0"/>
              <a:cs typeface="Cambria" panose="02040503050406030204" charset="0"/>
            </a:endParaRPr>
          </a:p>
        </p:txBody>
      </p:sp>
      <p:pic>
        <p:nvPicPr>
          <p:cNvPr id="6" name="Image 6"/>
          <p:cNvPicPr/>
          <p:nvPr/>
        </p:nvPicPr>
        <p:blipFill>
          <a:blip r:embed="rId1" cstate="print"/>
          <a:stretch>
            <a:fillRect/>
          </a:stretch>
        </p:blipFill>
        <p:spPr>
          <a:xfrm>
            <a:off x="1217930" y="4098290"/>
            <a:ext cx="4359910" cy="995045"/>
          </a:xfrm>
          <a:prstGeom prst="rect">
            <a:avLst/>
          </a:prstGeom>
        </p:spPr>
      </p:pic>
      <p:pic>
        <p:nvPicPr>
          <p:cNvPr id="5" name="Image 8"/>
          <p:cNvPicPr/>
          <p:nvPr/>
        </p:nvPicPr>
        <p:blipFill>
          <a:blip r:embed="rId2" cstate="print"/>
          <a:stretch>
            <a:fillRect/>
          </a:stretch>
        </p:blipFill>
        <p:spPr>
          <a:xfrm>
            <a:off x="1370965" y="5681980"/>
            <a:ext cx="2613660" cy="864235"/>
          </a:xfrm>
          <a:prstGeom prst="rect">
            <a:avLst/>
          </a:prstGeom>
        </p:spPr>
      </p:pic>
      <p:pic>
        <p:nvPicPr>
          <p:cNvPr id="12" name="Image 10"/>
          <p:cNvPicPr/>
          <p:nvPr/>
        </p:nvPicPr>
        <p:blipFill>
          <a:blip r:embed="rId3" cstate="print"/>
          <a:stretch>
            <a:fillRect/>
          </a:stretch>
        </p:blipFill>
        <p:spPr>
          <a:xfrm>
            <a:off x="7818755" y="4098290"/>
            <a:ext cx="2733675" cy="714375"/>
          </a:xfrm>
          <a:prstGeom prst="rect">
            <a:avLst/>
          </a:prstGeom>
        </p:spPr>
      </p:pic>
      <p:pic>
        <p:nvPicPr>
          <p:cNvPr id="17" name="Image 5"/>
          <p:cNvPicPr/>
          <p:nvPr/>
        </p:nvPicPr>
        <p:blipFill>
          <a:blip r:embed="rId4" cstate="print"/>
          <a:stretch>
            <a:fillRect/>
          </a:stretch>
        </p:blipFill>
        <p:spPr>
          <a:xfrm>
            <a:off x="5790565" y="4457700"/>
            <a:ext cx="333375" cy="274320"/>
          </a:xfrm>
          <a:prstGeom prst="rect">
            <a:avLst/>
          </a:prstGeom>
        </p:spPr>
      </p:pic>
      <p:pic>
        <p:nvPicPr>
          <p:cNvPr id="18" name="Image 7"/>
          <p:cNvPicPr/>
          <p:nvPr/>
        </p:nvPicPr>
        <p:blipFill>
          <a:blip r:embed="rId5" cstate="print"/>
          <a:stretch>
            <a:fillRect/>
          </a:stretch>
        </p:blipFill>
        <p:spPr>
          <a:xfrm>
            <a:off x="5935980" y="5967730"/>
            <a:ext cx="319405" cy="311150"/>
          </a:xfrm>
          <a:prstGeom prst="rect">
            <a:avLst/>
          </a:prstGeom>
        </p:spPr>
      </p:pic>
      <p:pic>
        <p:nvPicPr>
          <p:cNvPr id="19" name="Image 9"/>
          <p:cNvPicPr/>
          <p:nvPr/>
        </p:nvPicPr>
        <p:blipFill>
          <a:blip r:embed="rId6" cstate="print"/>
          <a:stretch>
            <a:fillRect/>
          </a:stretch>
        </p:blipFill>
        <p:spPr>
          <a:xfrm>
            <a:off x="11120755" y="4291965"/>
            <a:ext cx="319405" cy="32639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2554605" y="323215"/>
            <a:ext cx="706818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Overview of Reinforcement Learning</a:t>
            </a:r>
            <a:endParaRPr lang="en-US" altLang="en-US" sz="3200" b="1">
              <a:latin typeface="Cambria" panose="02040503050406030204" charset="0"/>
              <a:cs typeface="Cambria" panose="02040503050406030204" charset="0"/>
            </a:endParaRPr>
          </a:p>
        </p:txBody>
      </p:sp>
      <p:sp>
        <p:nvSpPr>
          <p:cNvPr id="4" name="Text Box 3"/>
          <p:cNvSpPr txBox="1"/>
          <p:nvPr/>
        </p:nvSpPr>
        <p:spPr>
          <a:xfrm>
            <a:off x="1037590" y="1219200"/>
            <a:ext cx="10205720" cy="4983480"/>
          </a:xfrm>
          <a:prstGeom prst="rect">
            <a:avLst/>
          </a:prstGeom>
          <a:noFill/>
        </p:spPr>
        <p:txBody>
          <a:bodyPr wrap="square" rtlCol="0">
            <a:noAutofit/>
          </a:bodyPr>
          <a:p>
            <a:pPr marL="342900" indent="-342900">
              <a:buFont typeface="Wingdings" panose="05000000000000000000" charset="0"/>
              <a:buChar char="v"/>
            </a:pPr>
            <a:r>
              <a:rPr lang="en-US" altLang="en-US" sz="2000" b="1">
                <a:latin typeface="Cambria" panose="02040503050406030204" charset="0"/>
                <a:cs typeface="Cambria" panose="02040503050406030204" charset="0"/>
              </a:rPr>
              <a:t>Definition: </a:t>
            </a:r>
            <a:r>
              <a:rPr lang="en-US" altLang="en-US" sz="2000">
                <a:latin typeface="Cambria" panose="02040503050406030204" charset="0"/>
                <a:cs typeface="Cambria" panose="02040503050406030204" charset="0"/>
              </a:rPr>
              <a:t>Reinforcement Learning (RL) is a learning paradigm where an agent learns to make decisions by interacting with an environment to maximize cumulative reward</a:t>
            </a:r>
            <a:r>
              <a:rPr lang="en-US" altLang="en-US" sz="1400">
                <a:latin typeface="Cambria" panose="02040503050406030204" charset="0"/>
                <a:cs typeface="Cambria" panose="02040503050406030204" charset="0"/>
              </a:rPr>
              <a:t>[13]</a:t>
            </a:r>
            <a:r>
              <a:rPr lang="en-US" altLang="en-US" sz="2000">
                <a:latin typeface="Cambria" panose="02040503050406030204" charset="0"/>
                <a:cs typeface="Cambria" panose="02040503050406030204" charset="0"/>
              </a:rPr>
              <a:t>.</a:t>
            </a:r>
            <a:endParaRPr lang="en-US" altLang="en-US" sz="2000">
              <a:latin typeface="Cambria" panose="02040503050406030204" charset="0"/>
              <a:cs typeface="Cambria" panose="02040503050406030204" charset="0"/>
            </a:endParaRPr>
          </a:p>
          <a:p>
            <a:endParaRPr lang="en-US" altLang="en-US" sz="2000">
              <a:latin typeface="Cambria" panose="02040503050406030204" charset="0"/>
              <a:cs typeface="Cambria" panose="02040503050406030204" charset="0"/>
            </a:endParaRPr>
          </a:p>
          <a:p>
            <a:pPr marL="342900" indent="-342900">
              <a:buFont typeface="Wingdings" panose="05000000000000000000" charset="0"/>
              <a:buChar char="v"/>
            </a:pPr>
            <a:r>
              <a:rPr lang="en-US" altLang="en-US" sz="2000" b="1">
                <a:latin typeface="Cambria" panose="02040503050406030204" charset="0"/>
                <a:cs typeface="Cambria" panose="02040503050406030204" charset="0"/>
              </a:rPr>
              <a:t>Agent Environment Interaction:</a:t>
            </a:r>
            <a:endParaRPr lang="en-US" altLang="en-US" sz="2000">
              <a:latin typeface="Cambria" panose="02040503050406030204" charset="0"/>
              <a:cs typeface="Cambria" panose="02040503050406030204" charset="0"/>
            </a:endParaRPr>
          </a:p>
          <a:p>
            <a:pPr marL="1257300" lvl="2" indent="-342900">
              <a:buFont typeface="Arial" panose="020B0604020202020204" pitchFamily="34" charset="0"/>
              <a:buChar char="•"/>
            </a:pPr>
            <a:r>
              <a:rPr lang="en-US" altLang="en-US" sz="2000">
                <a:latin typeface="Cambria" panose="02040503050406030204" charset="0"/>
                <a:cs typeface="Cambria" panose="02040503050406030204" charset="0"/>
              </a:rPr>
              <a:t>Agent: Makes decisions by taking actions</a:t>
            </a:r>
            <a:endParaRPr lang="en-US" altLang="en-US" sz="2000">
              <a:latin typeface="Cambria" panose="02040503050406030204" charset="0"/>
              <a:cs typeface="Cambria" panose="02040503050406030204" charset="0"/>
            </a:endParaRPr>
          </a:p>
          <a:p>
            <a:pPr marL="1257300" lvl="2" indent="-342900">
              <a:buFont typeface="Arial" panose="020B0604020202020204" pitchFamily="34" charset="0"/>
              <a:buChar char="•"/>
            </a:pPr>
            <a:r>
              <a:rPr lang="en-US" altLang="en-US" sz="2000">
                <a:latin typeface="Cambria" panose="02040503050406030204" charset="0"/>
                <a:cs typeface="Cambria" panose="02040503050406030204" charset="0"/>
              </a:rPr>
              <a:t>Environment: Responds with new states and rewards/penalty</a:t>
            </a:r>
            <a:endParaRPr lang="en-US" altLang="en-US" sz="2000">
              <a:latin typeface="Cambria" panose="02040503050406030204" charset="0"/>
              <a:cs typeface="Cambria" panose="02040503050406030204" charset="0"/>
            </a:endParaRPr>
          </a:p>
          <a:p>
            <a:pPr marL="1257300" lvl="2" indent="-342900">
              <a:buFont typeface="Arial" panose="020B0604020202020204" pitchFamily="34" charset="0"/>
              <a:buChar char="•"/>
            </a:pPr>
            <a:r>
              <a:rPr lang="en-US" altLang="en-US" sz="2000">
                <a:latin typeface="Cambria" panose="02040503050406030204" charset="0"/>
                <a:cs typeface="Cambria" panose="02040503050406030204" charset="0"/>
              </a:rPr>
              <a:t>Goal: Find an optimal policy       that maximizes expected return</a:t>
            </a:r>
            <a:endParaRPr lang="en-US" altLang="en-US" sz="2000">
              <a:latin typeface="Cambria" panose="02040503050406030204" charset="0"/>
              <a:cs typeface="Cambria" panose="02040503050406030204" charset="0"/>
            </a:endParaRPr>
          </a:p>
          <a:p>
            <a:endParaRPr lang="en-US" altLang="en-US" sz="2000">
              <a:latin typeface="Cambria" panose="02040503050406030204" charset="0"/>
              <a:cs typeface="Cambria" panose="02040503050406030204" charset="0"/>
            </a:endParaRPr>
          </a:p>
          <a:p>
            <a:pPr marL="342900" indent="-342900">
              <a:buFont typeface="Wingdings" panose="05000000000000000000" charset="0"/>
              <a:buChar char="v"/>
            </a:pPr>
            <a:r>
              <a:rPr lang="en-US" altLang="en-US" sz="2000" b="1">
                <a:latin typeface="Cambria" panose="02040503050406030204" charset="0"/>
                <a:cs typeface="Cambria" panose="02040503050406030204" charset="0"/>
              </a:rPr>
              <a:t>Trial-and-Error Learning: </a:t>
            </a:r>
            <a:r>
              <a:rPr lang="en-US" altLang="en-US" sz="2000">
                <a:latin typeface="Cambria" panose="02040503050406030204" charset="0"/>
                <a:cs typeface="Cambria" panose="02040503050406030204" charset="0"/>
              </a:rPr>
              <a:t>Agent explores actions, observes outcomes and updates its strategy iteratively.</a:t>
            </a:r>
            <a:endParaRPr lang="en-US" altLang="en-US" sz="2000">
              <a:latin typeface="Cambria" panose="02040503050406030204" charset="0"/>
              <a:cs typeface="Cambria" panose="02040503050406030204" charset="0"/>
            </a:endParaRPr>
          </a:p>
        </p:txBody>
      </p:sp>
      <p:pic>
        <p:nvPicPr>
          <p:cNvPr id="5" name="2384804F-3998-4D57-9195-F3826E402611-1" descr="wpp"/>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73700" y="3134995"/>
            <a:ext cx="304165" cy="227965"/>
          </a:xfrm>
          <a:prstGeom prst="rect">
            <a:avLst/>
          </a:prstGeom>
        </p:spPr>
      </p:pic>
      <p:pic>
        <p:nvPicPr>
          <p:cNvPr id="37" name="Picture 37" descr="flowchart-1"/>
          <p:cNvPicPr>
            <a:picLocks noChangeAspect="1"/>
          </p:cNvPicPr>
          <p:nvPr/>
        </p:nvPicPr>
        <p:blipFill>
          <a:blip r:embed="rId3"/>
          <a:stretch>
            <a:fillRect/>
          </a:stretch>
        </p:blipFill>
        <p:spPr>
          <a:xfrm>
            <a:off x="2376170" y="4725035"/>
            <a:ext cx="7632065" cy="1606550"/>
          </a:xfrm>
          <a:prstGeom prst="rect">
            <a:avLst/>
          </a:prstGeom>
        </p:spPr>
      </p:pic>
      <p:sp>
        <p:nvSpPr>
          <p:cNvPr id="3" name="Text Box 2"/>
          <p:cNvSpPr txBox="1"/>
          <p:nvPr/>
        </p:nvSpPr>
        <p:spPr>
          <a:xfrm>
            <a:off x="4792980" y="6396355"/>
            <a:ext cx="2592705" cy="292100"/>
          </a:xfrm>
          <a:prstGeom prst="rect">
            <a:avLst/>
          </a:prstGeom>
          <a:noFill/>
        </p:spPr>
        <p:txBody>
          <a:bodyPr wrap="square" rtlCol="0">
            <a:noAutofit/>
          </a:bodyPr>
          <a:p>
            <a:r>
              <a:rPr lang="en-US" altLang="en-US" sz="1400" i="1">
                <a:latin typeface="Cambria" panose="02040503050406030204" charset="0"/>
                <a:cs typeface="Cambria" panose="02040503050406030204" charset="0"/>
              </a:rPr>
              <a:t>Fig 1: Agent learning behavior</a:t>
            </a:r>
            <a:endParaRPr lang="en-US" altLang="en-US" sz="1400" i="1">
              <a:latin typeface="Cambria" panose="02040503050406030204" charset="0"/>
              <a:cs typeface="Cambria" panose="0204050305040603020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2534285" y="342265"/>
            <a:ext cx="7606030"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Value Functions and Bellman Equations</a:t>
            </a:r>
            <a:endParaRPr lang="en-US" altLang="en-US" sz="3200" b="1">
              <a:latin typeface="Cambria" panose="02040503050406030204" charset="0"/>
              <a:cs typeface="Cambria" panose="02040503050406030204" charset="0"/>
            </a:endParaRPr>
          </a:p>
        </p:txBody>
      </p:sp>
      <p:sp>
        <p:nvSpPr>
          <p:cNvPr id="4" name="Text Box 3"/>
          <p:cNvSpPr txBox="1"/>
          <p:nvPr/>
        </p:nvSpPr>
        <p:spPr>
          <a:xfrm>
            <a:off x="1132205" y="1161415"/>
            <a:ext cx="10079990" cy="5276850"/>
          </a:xfrm>
          <a:prstGeom prst="rect">
            <a:avLst/>
          </a:prstGeom>
          <a:noFill/>
        </p:spPr>
        <p:txBody>
          <a:bodyPr wrap="square" rtlCol="0">
            <a:noAutofit/>
          </a:bodyPr>
          <a:p>
            <a:pPr marL="342900" lvl="2" indent="-342900" algn="just">
              <a:buFont typeface="Wingdings" panose="05000000000000000000" charset="0"/>
              <a:buChar char="v"/>
            </a:pPr>
            <a:r>
              <a:rPr lang="en-US" altLang="en-US" sz="2000" b="1">
                <a:latin typeface="Cambria" panose="02040503050406030204" charset="0"/>
                <a:cs typeface="Cambria" panose="02040503050406030204" charset="0"/>
                <a:sym typeface="+mn-ea"/>
              </a:rPr>
              <a:t>State Value Function</a:t>
            </a:r>
            <a:r>
              <a:rPr lang="en-US" altLang="en-US" sz="2000">
                <a:latin typeface="Cambria" panose="02040503050406030204" charset="0"/>
                <a:cs typeface="Cambria" panose="02040503050406030204" charset="0"/>
                <a:sym typeface="+mn-ea"/>
              </a:rPr>
              <a:t>              : It maps expected return under policy </a:t>
            </a:r>
            <a:r>
              <a:rPr lang="zh-CN" altLang="en-US" sz="2000">
                <a:latin typeface="Cambria" panose="02040503050406030204" charset="0"/>
                <a:cs typeface="Cambria" panose="02040503050406030204" charset="0"/>
                <a:sym typeface="+mn-ea"/>
              </a:rPr>
              <a:t>𝜋</a:t>
            </a:r>
            <a:r>
              <a:rPr lang="en-US" altLang="zh-CN" sz="2000">
                <a:latin typeface="Cambria" panose="02040503050406030204" charset="0"/>
                <a:cs typeface="Cambria" panose="02040503050406030204" charset="0"/>
                <a:sym typeface="+mn-ea"/>
              </a:rPr>
              <a:t>,  using </a:t>
            </a:r>
            <a:r>
              <a:rPr lang="en-US" altLang="en-US" sz="2000">
                <a:latin typeface="Cambria" panose="02040503050406030204" charset="0"/>
                <a:cs typeface="Cambria" panose="02040503050406030204" charset="0"/>
                <a:sym typeface="+mn-ea"/>
              </a:rPr>
              <a:t>MDP transition probabilities and reward function</a:t>
            </a:r>
            <a:r>
              <a:rPr lang="en-US" altLang="en-US" sz="1400">
                <a:latin typeface="Cambria" panose="02040503050406030204" charset="0"/>
                <a:cs typeface="Cambria" panose="02040503050406030204" charset="0"/>
                <a:sym typeface="+mn-ea"/>
              </a:rPr>
              <a:t>[14].</a:t>
            </a:r>
            <a:endParaRPr lang="en-US" altLang="en-US" sz="2000">
              <a:latin typeface="Cambria" panose="02040503050406030204" charset="0"/>
              <a:cs typeface="Cambria" panose="02040503050406030204" charset="0"/>
              <a:sym typeface="+mn-ea"/>
            </a:endParaRPr>
          </a:p>
          <a:p>
            <a:pPr marL="342900" lvl="2"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lvl="2" indent="-342900" algn="just">
              <a:buFont typeface="Wingdings" panose="05000000000000000000" charset="0"/>
              <a:buChar char="v"/>
            </a:pPr>
            <a:r>
              <a:rPr lang="en-US" altLang="en-US" sz="2000" b="1">
                <a:latin typeface="Cambria" panose="02040503050406030204" charset="0"/>
                <a:cs typeface="Cambria" panose="02040503050406030204" charset="0"/>
              </a:rPr>
              <a:t>Action-Value Function</a:t>
            </a:r>
            <a:r>
              <a:rPr lang="en-US" altLang="en-US" sz="2000">
                <a:latin typeface="Cambria" panose="02040503050406030204" charset="0"/>
                <a:cs typeface="Cambria" panose="02040503050406030204" charset="0"/>
              </a:rPr>
              <a:t>                  : </a:t>
            </a:r>
            <a:r>
              <a:rPr lang="en-US" altLang="en-US" sz="2000">
                <a:latin typeface="Cambria" panose="02040503050406030204" charset="0"/>
                <a:cs typeface="Cambria" panose="02040503050406030204" charset="0"/>
                <a:sym typeface="+mn-ea"/>
              </a:rPr>
              <a:t>It maps </a:t>
            </a:r>
            <a:r>
              <a:rPr lang="en-US" altLang="en-US" sz="2000">
                <a:latin typeface="Cambria" panose="02040503050406030204" charset="0"/>
                <a:cs typeface="Cambria" panose="02040503050406030204" charset="0"/>
              </a:rPr>
              <a:t>state-action pairs to expected return based on MDP dynamics. It allows RL to determine which action in a given state is best</a:t>
            </a:r>
            <a:r>
              <a:rPr lang="en-US" altLang="en-US" sz="1400">
                <a:latin typeface="Cambria" panose="02040503050406030204" charset="0"/>
                <a:cs typeface="Cambria" panose="02040503050406030204" charset="0"/>
              </a:rPr>
              <a:t>[14].</a:t>
            </a:r>
            <a:endParaRPr lang="en-US" altLang="en-US" sz="2000">
              <a:latin typeface="Cambria" panose="02040503050406030204" charset="0"/>
              <a:cs typeface="Cambria" panose="02040503050406030204" charset="0"/>
            </a:endParaRPr>
          </a:p>
          <a:p>
            <a:pPr marL="342900" lvl="2"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lvl="2" indent="-342900" algn="just">
              <a:buFont typeface="Wingdings" panose="05000000000000000000" charset="0"/>
              <a:buChar char="v"/>
            </a:pPr>
            <a:r>
              <a:rPr lang="en-US" altLang="en-US" sz="2000" b="1">
                <a:latin typeface="Cambria" panose="02040503050406030204" charset="0"/>
                <a:cs typeface="Cambria" panose="02040503050406030204" charset="0"/>
              </a:rPr>
              <a:t>Bellman Equations</a:t>
            </a:r>
            <a:r>
              <a:rPr lang="en-US" altLang="en-US" sz="2000">
                <a:latin typeface="Cambria" panose="02040503050406030204" charset="0"/>
                <a:cs typeface="Cambria" panose="02040503050406030204" charset="0"/>
              </a:rPr>
              <a:t>: Encode recursive relationship between the current value of a state and values of successor states using MDP’s transition and reward functions</a:t>
            </a:r>
            <a:r>
              <a:rPr lang="en-US" altLang="en-US" sz="1400">
                <a:latin typeface="Cambria" panose="02040503050406030204" charset="0"/>
                <a:cs typeface="Cambria" panose="02040503050406030204" charset="0"/>
              </a:rPr>
              <a:t>[13],[14]</a:t>
            </a:r>
            <a:r>
              <a:rPr lang="en-US" altLang="en-US" sz="2000">
                <a:latin typeface="Cambria" panose="02040503050406030204" charset="0"/>
                <a:cs typeface="Cambria" panose="02040503050406030204" charset="0"/>
              </a:rPr>
              <a:t>.</a:t>
            </a:r>
            <a:endParaRPr lang="en-US" altLang="en-US" sz="2000">
              <a:latin typeface="Cambria" panose="02040503050406030204" charset="0"/>
              <a:cs typeface="Cambria" panose="02040503050406030204" charset="0"/>
            </a:endParaRPr>
          </a:p>
          <a:p>
            <a:pPr marL="342900" lvl="2"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lvl="2"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lvl="2"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lvl="2"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lvl="2"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lvl="2" indent="-342900" algn="just">
              <a:buFont typeface="Wingdings" panose="05000000000000000000" charset="0"/>
              <a:buChar char="v"/>
            </a:pPr>
            <a:r>
              <a:rPr lang="en-US" altLang="en-US" sz="2000" b="1">
                <a:latin typeface="Cambria" panose="02040503050406030204" charset="0"/>
                <a:cs typeface="Cambria" panose="02040503050406030204" charset="0"/>
              </a:rPr>
              <a:t>Use Case: </a:t>
            </a:r>
            <a:r>
              <a:rPr lang="en-US" altLang="en-US" sz="2000">
                <a:latin typeface="Cambria" panose="02040503050406030204" charset="0"/>
                <a:cs typeface="Cambria" panose="02040503050406030204" charset="0"/>
              </a:rPr>
              <a:t>Using these equations, we iteratively compute the optimal state value or optimal policy, as the Bellman equation is bound to converge.</a:t>
            </a:r>
            <a:endParaRPr lang="en-US" altLang="en-US" sz="2000">
              <a:latin typeface="Cambria" panose="02040503050406030204" charset="0"/>
              <a:cs typeface="Cambria" panose="02040503050406030204" charset="0"/>
            </a:endParaRPr>
          </a:p>
          <a:p>
            <a:pPr marL="914400" lvl="4" indent="0" algn="just">
              <a:buFont typeface="Wingdings" panose="05000000000000000000" charset="0"/>
              <a:buNone/>
            </a:pPr>
            <a:endParaRPr lang="en-US" altLang="en-US" sz="2000">
              <a:latin typeface="Cambria" panose="02040503050406030204" charset="0"/>
              <a:cs typeface="Cambria" panose="02040503050406030204" charset="0"/>
            </a:endParaRPr>
          </a:p>
        </p:txBody>
      </p:sp>
      <p:pic>
        <p:nvPicPr>
          <p:cNvPr id="5" name="2384804F-3998-4D57-9195-F3826E402611-2" descr="C:/Users/SHUBHAM/AppData/Local/Temp/wpp.abjwQTwpp"/>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4192905" y="1266825"/>
            <a:ext cx="748393" cy="226786"/>
          </a:xfrm>
          <a:prstGeom prst="rect">
            <a:avLst/>
          </a:prstGeom>
        </p:spPr>
      </p:pic>
      <p:pic>
        <p:nvPicPr>
          <p:cNvPr id="10" name="2384804F-3998-4D57-9195-F3826E402611-3" descr="wpp"/>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96080" y="2170430"/>
            <a:ext cx="952500" cy="222746"/>
          </a:xfrm>
          <a:prstGeom prst="rect">
            <a:avLst/>
          </a:prstGeom>
        </p:spPr>
      </p:pic>
      <p:pic>
        <p:nvPicPr>
          <p:cNvPr id="18" name="2384804F-3998-4D57-9195-F3826E402611-4" descr="wpp"/>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08910" y="3844925"/>
            <a:ext cx="6769735" cy="12369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3368040" y="351155"/>
            <a:ext cx="528129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sym typeface="+mn-ea"/>
              </a:rPr>
              <a:t>Model Free RL Q-Learning </a:t>
            </a:r>
            <a:endParaRPr lang="en-US" altLang="en-US" sz="3200" b="1">
              <a:latin typeface="Cambria" panose="02040503050406030204" charset="0"/>
              <a:cs typeface="Cambria" panose="02040503050406030204" charset="0"/>
            </a:endParaRPr>
          </a:p>
        </p:txBody>
      </p:sp>
      <p:sp>
        <p:nvSpPr>
          <p:cNvPr id="4" name="Text Box 3"/>
          <p:cNvSpPr txBox="1"/>
          <p:nvPr/>
        </p:nvSpPr>
        <p:spPr>
          <a:xfrm>
            <a:off x="1257300" y="1204595"/>
            <a:ext cx="9911080" cy="5322570"/>
          </a:xfrm>
          <a:prstGeom prst="rect">
            <a:avLst/>
          </a:prstGeom>
          <a:noFill/>
        </p:spPr>
        <p:txBody>
          <a:bodyPr wrap="square" rtlCol="0">
            <a:noAutofit/>
          </a:bodyPr>
          <a:p>
            <a:pPr marL="342900" indent="-342900" algn="just">
              <a:buFont typeface="Wingdings" panose="05000000000000000000" charset="0"/>
              <a:buChar char="v"/>
            </a:pPr>
            <a:r>
              <a:rPr lang="en-US" altLang="en-US" sz="2000" b="1">
                <a:latin typeface="Cambria" panose="02040503050406030204" charset="0"/>
                <a:cs typeface="Cambria" panose="02040503050406030204" charset="0"/>
                <a:sym typeface="+mn-ea"/>
              </a:rPr>
              <a:t>Overview</a:t>
            </a:r>
            <a:r>
              <a:rPr lang="en-US" altLang="en-US" sz="2000">
                <a:latin typeface="Cambria" panose="02040503050406030204" charset="0"/>
                <a:cs typeface="Cambria" panose="02040503050406030204" charset="0"/>
                <a:sym typeface="+mn-ea"/>
              </a:rPr>
              <a:t>: Q-Learning enables the agent to learn the optimal action-value function  that is </a:t>
            </a:r>
            <a:r>
              <a:rPr lang="zh-CN" altLang="en-US" sz="2000">
                <a:latin typeface="Cambria" panose="02040503050406030204" charset="0"/>
                <a:cs typeface="Cambria" panose="02040503050406030204" charset="0"/>
                <a:sym typeface="+mn-ea"/>
              </a:rPr>
              <a:t>𝑄</a:t>
            </a:r>
            <a:r>
              <a:rPr lang="en-US" altLang="en-US" sz="2000" baseline="30000">
                <a:latin typeface="Cambria" panose="02040503050406030204" charset="0"/>
                <a:cs typeface="Cambria" panose="02040503050406030204" charset="0"/>
                <a:sym typeface="+mn-ea"/>
              </a:rPr>
              <a:t>∗</a:t>
            </a:r>
            <a:r>
              <a:rPr lang="en-US" altLang="en-US" sz="2000">
                <a:latin typeface="Cambria" panose="02040503050406030204" charset="0"/>
                <a:cs typeface="Cambria" panose="02040503050406030204" charset="0"/>
                <a:sym typeface="+mn-ea"/>
              </a:rPr>
              <a:t>(s,a) </a:t>
            </a:r>
            <a:r>
              <a:rPr lang="en-US" altLang="en-US" sz="2000">
                <a:latin typeface="Cambria" panose="02040503050406030204" charset="0"/>
                <a:cs typeface="Cambria" panose="02040503050406030204" charset="0"/>
              </a:rPr>
              <a:t>through trial-and-error by maintaining a Q-table for all state action pairs.</a:t>
            </a: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Q-Learning Update Formula</a:t>
            </a:r>
            <a:r>
              <a:rPr lang="en-US" altLang="en-US" sz="2000">
                <a:latin typeface="Cambria" panose="02040503050406030204" charset="0"/>
                <a:cs typeface="Cambria" panose="02040503050406030204" charset="0"/>
              </a:rPr>
              <a:t>: This iterative formula solves the Bellman optimality equation for action values, allowing direct convergence to the optimal policy</a:t>
            </a:r>
            <a:r>
              <a:rPr lang="en-US" altLang="en-US" sz="1400">
                <a:latin typeface="Cambria" panose="02040503050406030204" charset="0"/>
                <a:cs typeface="Cambria" panose="02040503050406030204" charset="0"/>
              </a:rPr>
              <a:t>[14]</a:t>
            </a:r>
            <a:r>
              <a:rPr lang="en-US" altLang="en-US" sz="2000">
                <a:latin typeface="Cambria" panose="02040503050406030204" charset="0"/>
                <a:cs typeface="Cambria" panose="02040503050406030204" charset="0"/>
              </a:rPr>
              <a:t>.</a:t>
            </a: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endParaRPr lang="en-US" altLang="en-US" sz="2000">
              <a:latin typeface="Cambria" panose="02040503050406030204" charset="0"/>
              <a:cs typeface="Cambria" panose="02040503050406030204" charset="0"/>
            </a:endParaRPr>
          </a:p>
          <a:p>
            <a:pPr marL="342900" indent="-342900" algn="just">
              <a:buFont typeface="Wingdings" panose="05000000000000000000" charset="0"/>
              <a:buChar char="v"/>
            </a:pPr>
            <a:r>
              <a:rPr lang="en-US" altLang="en-US" sz="2000" b="1">
                <a:latin typeface="Cambria" panose="02040503050406030204" charset="0"/>
                <a:cs typeface="Cambria" panose="02040503050406030204" charset="0"/>
              </a:rPr>
              <a:t>Q-Table:</a:t>
            </a:r>
            <a:r>
              <a:rPr lang="en-US" altLang="en-US" sz="2000">
                <a:latin typeface="Cambria" panose="02040503050406030204" charset="0"/>
                <a:cs typeface="Cambria" panose="02040503050406030204" charset="0"/>
              </a:rPr>
              <a:t> Stores Q(s,a) for all state-action pairs, where rows represent states and columns represent actions, holding expected rewards to guide the agent toward optimal actions</a:t>
            </a:r>
            <a:r>
              <a:rPr lang="en-US" altLang="en-US" sz="1400">
                <a:latin typeface="Cambria" panose="02040503050406030204" charset="0"/>
                <a:cs typeface="Cambria" panose="02040503050406030204" charset="0"/>
              </a:rPr>
              <a:t>[14]</a:t>
            </a:r>
            <a:r>
              <a:rPr lang="en-US" altLang="en-US" sz="2000">
                <a:latin typeface="Cambria" panose="02040503050406030204" charset="0"/>
                <a:cs typeface="Cambria" panose="02040503050406030204" charset="0"/>
              </a:rPr>
              <a:t>.</a:t>
            </a:r>
            <a:endParaRPr lang="en-US" altLang="en-US" sz="2000">
              <a:latin typeface="Cambria" panose="02040503050406030204" charset="0"/>
              <a:cs typeface="Cambria" panose="02040503050406030204" charset="0"/>
            </a:endParaRPr>
          </a:p>
        </p:txBody>
      </p:sp>
      <p:pic>
        <p:nvPicPr>
          <p:cNvPr id="5" name="2384804F-3998-4D57-9195-F3826E402611-5" descr="wpp"/>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2358390" y="3143885"/>
            <a:ext cx="7404735" cy="628650"/>
          </a:xfrm>
          <a:prstGeom prst="rect">
            <a:avLst/>
          </a:prstGeom>
        </p:spPr>
      </p:pic>
      <p:pic>
        <p:nvPicPr>
          <p:cNvPr id="10" name="2384804F-3998-4D57-9195-F3826E402611-6" descr="C:/Users/SHUBHAM/AppData/Local/Temp/wpp.rfjdcmwpp"/>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04720" y="4120515"/>
            <a:ext cx="7000240" cy="11163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3637280" y="294640"/>
            <a:ext cx="490537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E-DEECP Block Diagram</a:t>
            </a:r>
            <a:endParaRPr lang="en-US" altLang="en-US" sz="3200" b="1">
              <a:latin typeface="Cambria" panose="02040503050406030204" charset="0"/>
              <a:cs typeface="Cambria" panose="02040503050406030204" charset="0"/>
            </a:endParaRPr>
          </a:p>
        </p:txBody>
      </p:sp>
      <p:sp>
        <p:nvSpPr>
          <p:cNvPr id="4" name="Text Box 3"/>
          <p:cNvSpPr txBox="1"/>
          <p:nvPr/>
        </p:nvSpPr>
        <p:spPr>
          <a:xfrm>
            <a:off x="4171315" y="6345555"/>
            <a:ext cx="3836670" cy="313055"/>
          </a:xfrm>
          <a:prstGeom prst="rect">
            <a:avLst/>
          </a:prstGeom>
          <a:noFill/>
        </p:spPr>
        <p:txBody>
          <a:bodyPr wrap="square" rtlCol="0">
            <a:noAutofit/>
          </a:bodyPr>
          <a:p>
            <a:r>
              <a:rPr lang="en-US" altLang="en-US" sz="1400" i="1">
                <a:latin typeface="Cambria" panose="02040503050406030204" charset="0"/>
                <a:cs typeface="Cambria" panose="02040503050406030204" charset="0"/>
              </a:rPr>
              <a:t>Fig 3: Block digram of deecp and e-deecp method</a:t>
            </a:r>
            <a:endParaRPr lang="en-US" altLang="en-US" sz="1400" i="1">
              <a:latin typeface="Cambria" panose="02040503050406030204" charset="0"/>
              <a:cs typeface="Cambria" panose="02040503050406030204" charset="0"/>
            </a:endParaRPr>
          </a:p>
        </p:txBody>
      </p:sp>
      <p:pic>
        <p:nvPicPr>
          <p:cNvPr id="5" name="Picture 4" descr="deecp_base (1)"/>
          <p:cNvPicPr>
            <a:picLocks noChangeAspect="1"/>
          </p:cNvPicPr>
          <p:nvPr/>
        </p:nvPicPr>
        <p:blipFill>
          <a:blip r:embed="rId1"/>
          <a:stretch>
            <a:fillRect/>
          </a:stretch>
        </p:blipFill>
        <p:spPr>
          <a:xfrm>
            <a:off x="774065" y="1367790"/>
            <a:ext cx="10644505" cy="41294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401820" y="294640"/>
            <a:ext cx="345376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The Methodology</a:t>
            </a:r>
            <a:endParaRPr lang="en-US" altLang="en-US" sz="3200" b="1">
              <a:latin typeface="Cambria" panose="02040503050406030204" charset="0"/>
              <a:cs typeface="Cambria" panose="02040503050406030204" charset="0"/>
            </a:endParaRPr>
          </a:p>
        </p:txBody>
      </p:sp>
      <p:sp>
        <p:nvSpPr>
          <p:cNvPr id="5" name="Text Box 4"/>
          <p:cNvSpPr txBox="1"/>
          <p:nvPr/>
        </p:nvSpPr>
        <p:spPr>
          <a:xfrm>
            <a:off x="4525010" y="6282690"/>
            <a:ext cx="3330575" cy="248285"/>
          </a:xfrm>
          <a:prstGeom prst="rect">
            <a:avLst/>
          </a:prstGeom>
          <a:noFill/>
        </p:spPr>
        <p:txBody>
          <a:bodyPr wrap="square" rtlCol="0">
            <a:noAutofit/>
          </a:bodyPr>
          <a:p>
            <a:r>
              <a:rPr lang="en-US" altLang="en-US" sz="1400" i="1">
                <a:latin typeface="Cambria" panose="02040503050406030204" charset="0"/>
                <a:cs typeface="Cambria" panose="02040503050406030204" charset="0"/>
              </a:rPr>
              <a:t>Fig 3: Block digram of QL-DEECP method</a:t>
            </a:r>
            <a:endParaRPr lang="en-US" altLang="en-US" sz="1400" i="1">
              <a:latin typeface="Cambria" panose="02040503050406030204" charset="0"/>
              <a:cs typeface="Cambria" panose="02040503050406030204" charset="0"/>
            </a:endParaRPr>
          </a:p>
        </p:txBody>
      </p:sp>
      <p:pic>
        <p:nvPicPr>
          <p:cNvPr id="3" name="Picture 2" descr="ql_deecp"/>
          <p:cNvPicPr>
            <a:picLocks noChangeAspect="1"/>
          </p:cNvPicPr>
          <p:nvPr/>
        </p:nvPicPr>
        <p:blipFill>
          <a:blip r:embed="rId1"/>
          <a:stretch>
            <a:fillRect/>
          </a:stretch>
        </p:blipFill>
        <p:spPr>
          <a:xfrm>
            <a:off x="125730" y="1439545"/>
            <a:ext cx="11939905" cy="415861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401820" y="294640"/>
            <a:ext cx="345376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The Methodology</a:t>
            </a:r>
            <a:endParaRPr lang="en-US" altLang="en-US" sz="3200" b="1">
              <a:latin typeface="Cambria" panose="02040503050406030204" charset="0"/>
              <a:cs typeface="Cambria" panose="02040503050406030204" charset="0"/>
            </a:endParaRPr>
          </a:p>
        </p:txBody>
      </p:sp>
      <p:sp>
        <p:nvSpPr>
          <p:cNvPr id="4" name="Text Box 3"/>
          <p:cNvSpPr txBox="1"/>
          <p:nvPr/>
        </p:nvSpPr>
        <p:spPr>
          <a:xfrm>
            <a:off x="1217930" y="1199515"/>
            <a:ext cx="9724390" cy="5019040"/>
          </a:xfrm>
          <a:prstGeom prst="rect">
            <a:avLst/>
          </a:prstGeom>
        </p:spPr>
        <p:txBody>
          <a:bodyPr wrap="square">
            <a:noAutofit/>
          </a:bodyPr>
          <a:p>
            <a:pPr marL="342900" indent="-342900">
              <a:buFont typeface="Wingdings" panose="05000000000000000000" charset="0"/>
              <a:buChar char="v"/>
            </a:pPr>
            <a:r>
              <a:rPr sz="2000" b="1">
                <a:latin typeface="Cambria" panose="02040503050406030204" charset="0"/>
                <a:cs typeface="Cambria" panose="02040503050406030204" charset="0"/>
              </a:rPr>
              <a:t>Agent reads node state:</a:t>
            </a:r>
            <a:r>
              <a:rPr sz="2000">
                <a:latin typeface="Cambria" panose="02040503050406030204" charset="0"/>
                <a:cs typeface="Cambria" panose="02040503050406030204" charset="0"/>
              </a:rPr>
              <a:t> </a:t>
            </a:r>
            <a:r>
              <a:rPr lang="en-US" sz="2000">
                <a:latin typeface="Cambria" panose="02040503050406030204" charset="0"/>
                <a:cs typeface="Cambria" panose="02040503050406030204" charset="0"/>
              </a:rPr>
              <a:t>R</a:t>
            </a:r>
            <a:r>
              <a:rPr sz="2000">
                <a:latin typeface="Cambria" panose="02040503050406030204" charset="0"/>
                <a:cs typeface="Cambria" panose="02040503050406030204" charset="0"/>
              </a:rPr>
              <a:t>emaining energy, </a:t>
            </a:r>
            <a:r>
              <a:rPr lang="en-US" sz="2000">
                <a:latin typeface="Cambria" panose="02040503050406030204" charset="0"/>
                <a:cs typeface="Cambria" panose="02040503050406030204" charset="0"/>
              </a:rPr>
              <a:t>D</a:t>
            </a:r>
            <a:r>
              <a:rPr sz="2000">
                <a:latin typeface="Cambria" panose="02040503050406030204" charset="0"/>
                <a:cs typeface="Cambria" panose="02040503050406030204" charset="0"/>
              </a:rPr>
              <a:t>istance to BS</a:t>
            </a:r>
            <a:r>
              <a:rPr lang="en-US" sz="2000">
                <a:latin typeface="Cambria" panose="02040503050406030204" charset="0"/>
                <a:cs typeface="Cambria" panose="02040503050406030204" charset="0"/>
              </a:rPr>
              <a:t> and</a:t>
            </a:r>
            <a:r>
              <a:rPr sz="2000">
                <a:latin typeface="Cambria" panose="02040503050406030204" charset="0"/>
                <a:cs typeface="Cambria" panose="02040503050406030204" charset="0"/>
              </a:rPr>
              <a:t> </a:t>
            </a:r>
            <a:r>
              <a:rPr lang="en-US" sz="2000">
                <a:latin typeface="Cambria" panose="02040503050406030204" charset="0"/>
                <a:cs typeface="Cambria" panose="02040503050406030204" charset="0"/>
              </a:rPr>
              <a:t>R</a:t>
            </a:r>
            <a:r>
              <a:rPr sz="2000">
                <a:latin typeface="Cambria" panose="02040503050406030204" charset="0"/>
                <a:cs typeface="Cambria" panose="02040503050406030204" charset="0"/>
              </a:rPr>
              <a:t>ound number.</a:t>
            </a:r>
            <a:endParaRPr sz="2000">
              <a:latin typeface="Cambria" panose="02040503050406030204" charset="0"/>
              <a:cs typeface="Cambria" panose="02040503050406030204" charset="0"/>
            </a:endParaRPr>
          </a:p>
          <a:p>
            <a:endParaRPr sz="2000">
              <a:latin typeface="Cambria" panose="02040503050406030204" charset="0"/>
              <a:cs typeface="Cambria" panose="02040503050406030204" charset="0"/>
            </a:endParaRPr>
          </a:p>
          <a:p>
            <a:pPr marL="342900" indent="-342900">
              <a:buFont typeface="Wingdings" panose="05000000000000000000" charset="0"/>
              <a:buChar char="v"/>
            </a:pPr>
            <a:r>
              <a:rPr sz="2000" b="1">
                <a:latin typeface="Cambria" panose="02040503050406030204" charset="0"/>
                <a:cs typeface="Cambria" panose="02040503050406030204" charset="0"/>
              </a:rPr>
              <a:t>Selects action using epsilon-greedy:</a:t>
            </a:r>
            <a:r>
              <a:rPr sz="2000">
                <a:latin typeface="Cambria" panose="02040503050406030204" charset="0"/>
                <a:cs typeface="Cambria" panose="02040503050406030204" charset="0"/>
              </a:rPr>
              <a:t> </a:t>
            </a:r>
            <a:r>
              <a:rPr lang="en-US" sz="2000">
                <a:latin typeface="Cambria" panose="02040503050406030204" charset="0"/>
                <a:cs typeface="Cambria" panose="02040503050406030204" charset="0"/>
              </a:rPr>
              <a:t>E</a:t>
            </a:r>
            <a:r>
              <a:rPr sz="2000">
                <a:latin typeface="Cambria" panose="02040503050406030204" charset="0"/>
                <a:cs typeface="Cambria" panose="02040503050406030204" charset="0"/>
              </a:rPr>
              <a:t>xplore new CHs or exploit best</a:t>
            </a:r>
            <a:r>
              <a:rPr lang="en-US" sz="2000">
                <a:latin typeface="Cambria" panose="02040503050406030204" charset="0"/>
                <a:cs typeface="Cambria" panose="02040503050406030204" charset="0"/>
              </a:rPr>
              <a:t> </a:t>
            </a:r>
            <a:r>
              <a:rPr sz="2000">
                <a:latin typeface="Cambria" panose="02040503050406030204" charset="0"/>
                <a:cs typeface="Cambria" panose="02040503050406030204" charset="0"/>
              </a:rPr>
              <a:t>known CH.</a:t>
            </a:r>
            <a:endParaRPr sz="2000">
              <a:latin typeface="Cambria" panose="02040503050406030204" charset="0"/>
              <a:cs typeface="Cambria" panose="02040503050406030204" charset="0"/>
            </a:endParaRPr>
          </a:p>
          <a:p>
            <a:endParaRPr sz="2000">
              <a:latin typeface="Cambria" panose="02040503050406030204" charset="0"/>
              <a:cs typeface="Cambria" panose="02040503050406030204" charset="0"/>
            </a:endParaRPr>
          </a:p>
          <a:p>
            <a:pPr marL="342900" indent="-342900">
              <a:buFont typeface="Wingdings" panose="05000000000000000000" charset="0"/>
              <a:buChar char="v"/>
            </a:pPr>
            <a:r>
              <a:rPr sz="2000" b="1">
                <a:latin typeface="Cambria" panose="02040503050406030204" charset="0"/>
                <a:cs typeface="Cambria" panose="02040503050406030204" charset="0"/>
              </a:rPr>
              <a:t>Chooses Cluster Head:</a:t>
            </a:r>
            <a:r>
              <a:rPr sz="2000">
                <a:latin typeface="Cambria" panose="02040503050406030204" charset="0"/>
                <a:cs typeface="Cambria" panose="02040503050406030204" charset="0"/>
              </a:rPr>
              <a:t> </a:t>
            </a:r>
            <a:r>
              <a:rPr lang="en-US" sz="2000">
                <a:latin typeface="Cambria" panose="02040503050406030204" charset="0"/>
                <a:cs typeface="Cambria" panose="02040503050406030204" charset="0"/>
              </a:rPr>
              <a:t>H</a:t>
            </a:r>
            <a:r>
              <a:rPr sz="2000">
                <a:latin typeface="Cambria" panose="02040503050406030204" charset="0"/>
                <a:cs typeface="Cambria" panose="02040503050406030204" charset="0"/>
              </a:rPr>
              <a:t>ighest</a:t>
            </a:r>
            <a:r>
              <a:rPr lang="en-US" sz="2000">
                <a:latin typeface="Cambria" panose="02040503050406030204" charset="0"/>
                <a:cs typeface="Cambria" panose="02040503050406030204" charset="0"/>
              </a:rPr>
              <a:t> </a:t>
            </a:r>
            <a:r>
              <a:rPr sz="2000">
                <a:latin typeface="Cambria" panose="02040503050406030204" charset="0"/>
                <a:cs typeface="Cambria" panose="02040503050406030204" charset="0"/>
              </a:rPr>
              <a:t>valued node becomes CH; others join as CMs.</a:t>
            </a:r>
            <a:endParaRPr sz="2000">
              <a:latin typeface="Cambria" panose="02040503050406030204" charset="0"/>
              <a:cs typeface="Cambria" panose="02040503050406030204" charset="0"/>
            </a:endParaRPr>
          </a:p>
          <a:p>
            <a:endParaRPr sz="2000">
              <a:latin typeface="Cambria" panose="02040503050406030204" charset="0"/>
              <a:cs typeface="Cambria" panose="02040503050406030204" charset="0"/>
            </a:endParaRPr>
          </a:p>
          <a:p>
            <a:pPr marL="342900" indent="-342900">
              <a:buFont typeface="Wingdings" panose="05000000000000000000" charset="0"/>
              <a:buChar char="v"/>
            </a:pPr>
            <a:r>
              <a:rPr sz="2000" b="1">
                <a:latin typeface="Cambria" panose="02040503050406030204" charset="0"/>
                <a:cs typeface="Cambria" panose="02040503050406030204" charset="0"/>
              </a:rPr>
              <a:t>Communication occurs:</a:t>
            </a:r>
            <a:r>
              <a:rPr sz="2000">
                <a:latin typeface="Cambria" panose="02040503050406030204" charset="0"/>
                <a:cs typeface="Cambria" panose="02040503050406030204" charset="0"/>
              </a:rPr>
              <a:t> </a:t>
            </a:r>
            <a:r>
              <a:rPr lang="en-US" sz="2000">
                <a:latin typeface="Cambria" panose="02040503050406030204" charset="0"/>
                <a:cs typeface="Cambria" panose="02040503050406030204" charset="0"/>
              </a:rPr>
              <a:t>N</a:t>
            </a:r>
            <a:r>
              <a:rPr sz="2000">
                <a:latin typeface="Cambria" panose="02040503050406030204" charset="0"/>
                <a:cs typeface="Cambria" panose="02040503050406030204" charset="0"/>
              </a:rPr>
              <a:t>odes send data to CH; CH aggregates and sends to BS</a:t>
            </a:r>
            <a:r>
              <a:rPr lang="en-US" sz="2000">
                <a:latin typeface="Cambria" panose="02040503050406030204" charset="0"/>
                <a:cs typeface="Cambria" panose="02040503050406030204" charset="0"/>
              </a:rPr>
              <a:t>.</a:t>
            </a:r>
            <a:endParaRPr sz="2000">
              <a:latin typeface="Cambria" panose="02040503050406030204" charset="0"/>
              <a:cs typeface="Cambria" panose="02040503050406030204" charset="0"/>
            </a:endParaRPr>
          </a:p>
          <a:p>
            <a:endParaRPr sz="2000">
              <a:latin typeface="Cambria" panose="02040503050406030204" charset="0"/>
              <a:cs typeface="Cambria" panose="02040503050406030204" charset="0"/>
            </a:endParaRPr>
          </a:p>
          <a:p>
            <a:pPr marL="342900" indent="-342900">
              <a:buFont typeface="Wingdings" panose="05000000000000000000" charset="0"/>
              <a:buChar char="v"/>
            </a:pPr>
            <a:r>
              <a:rPr sz="2000" b="1">
                <a:latin typeface="Cambria" panose="02040503050406030204" charset="0"/>
                <a:cs typeface="Cambria" panose="02040503050406030204" charset="0"/>
              </a:rPr>
              <a:t>Reward is computed:</a:t>
            </a:r>
            <a:r>
              <a:rPr lang="en-US" sz="2000" b="1">
                <a:latin typeface="Cambria" panose="02040503050406030204" charset="0"/>
                <a:cs typeface="Cambria" panose="02040503050406030204" charset="0"/>
              </a:rPr>
              <a:t> </a:t>
            </a:r>
            <a:r>
              <a:rPr lang="en-US" sz="2000">
                <a:latin typeface="Cambria" panose="02040503050406030204" charset="0"/>
                <a:cs typeface="Cambria" panose="02040503050406030204" charset="0"/>
              </a:rPr>
              <a:t>B</a:t>
            </a:r>
            <a:r>
              <a:rPr sz="2000">
                <a:latin typeface="Cambria" panose="02040503050406030204" charset="0"/>
                <a:cs typeface="Cambria" panose="02040503050406030204" charset="0"/>
              </a:rPr>
              <a:t>ased on energy consumption, alive nodes, and balanced CH selection.</a:t>
            </a:r>
            <a:endParaRPr sz="2000">
              <a:latin typeface="Cambria" panose="02040503050406030204" charset="0"/>
              <a:cs typeface="Cambria" panose="02040503050406030204" charset="0"/>
            </a:endParaRPr>
          </a:p>
          <a:p>
            <a:endParaRPr sz="2000">
              <a:latin typeface="Cambria" panose="02040503050406030204" charset="0"/>
              <a:cs typeface="Cambria" panose="02040503050406030204" charset="0"/>
            </a:endParaRPr>
          </a:p>
          <a:p>
            <a:pPr marL="342900" indent="-342900">
              <a:buFont typeface="Wingdings" panose="05000000000000000000" charset="0"/>
              <a:buChar char="v"/>
            </a:pPr>
            <a:r>
              <a:rPr sz="2000" b="1">
                <a:latin typeface="Cambria" panose="02040503050406030204" charset="0"/>
                <a:cs typeface="Cambria" panose="02040503050406030204" charset="0"/>
              </a:rPr>
              <a:t>Q-table updated: </a:t>
            </a:r>
            <a:r>
              <a:rPr lang="en-US" sz="2000">
                <a:latin typeface="Cambria" panose="02040503050406030204" charset="0"/>
                <a:cs typeface="Cambria" panose="02040503050406030204" charset="0"/>
              </a:rPr>
              <a:t>A</a:t>
            </a:r>
            <a:r>
              <a:rPr sz="2000">
                <a:latin typeface="Cambria" panose="02040503050406030204" charset="0"/>
                <a:cs typeface="Cambria" panose="02040503050406030204" charset="0"/>
              </a:rPr>
              <a:t>gent learns which node is best suited as CH in future rounds.</a:t>
            </a:r>
            <a:endParaRPr sz="2000">
              <a:latin typeface="Cambria" panose="02040503050406030204" charset="0"/>
              <a:cs typeface="Cambria" panose="02040503050406030204" charset="0"/>
            </a:endParaRPr>
          </a:p>
          <a:p>
            <a:endParaRPr sz="2000">
              <a:latin typeface="Cambria" panose="02040503050406030204" charset="0"/>
              <a:cs typeface="Cambria" panose="02040503050406030204" charset="0"/>
            </a:endParaRPr>
          </a:p>
          <a:p>
            <a:pPr marL="342900" indent="-342900">
              <a:buFont typeface="Wingdings" panose="05000000000000000000" charset="0"/>
              <a:buChar char="v"/>
            </a:pPr>
            <a:r>
              <a:rPr sz="2000" b="1">
                <a:latin typeface="Cambria" panose="02040503050406030204" charset="0"/>
                <a:cs typeface="Cambria" panose="02040503050406030204" charset="0"/>
              </a:rPr>
              <a:t>Check terminal state:</a:t>
            </a:r>
            <a:r>
              <a:rPr sz="2000">
                <a:latin typeface="Cambria" panose="02040503050406030204" charset="0"/>
                <a:cs typeface="Cambria" panose="02040503050406030204" charset="0"/>
              </a:rPr>
              <a:t> </a:t>
            </a:r>
            <a:r>
              <a:rPr lang="en-US" sz="2000">
                <a:latin typeface="Cambria" panose="02040503050406030204" charset="0"/>
                <a:cs typeface="Cambria" panose="02040503050406030204" charset="0"/>
              </a:rPr>
              <a:t>I</a:t>
            </a:r>
            <a:r>
              <a:rPr sz="2000">
                <a:latin typeface="Cambria" panose="02040503050406030204" charset="0"/>
                <a:cs typeface="Cambria" panose="02040503050406030204" charset="0"/>
              </a:rPr>
              <a:t>f nodes die</a:t>
            </a:r>
            <a:r>
              <a:rPr lang="en-US" sz="2000">
                <a:latin typeface="Cambria" panose="02040503050406030204" charset="0"/>
                <a:cs typeface="Cambria" panose="02040503050406030204" charset="0"/>
              </a:rPr>
              <a:t> </a:t>
            </a:r>
            <a:r>
              <a:rPr sz="2000">
                <a:latin typeface="Cambria" panose="02040503050406030204" charset="0"/>
                <a:cs typeface="Cambria" panose="02040503050406030204" charset="0"/>
              </a:rPr>
              <a:t>stop; else continue to next round.</a:t>
            </a:r>
            <a:endParaRPr sz="2000">
              <a:latin typeface="Cambria" panose="02040503050406030204" charset="0"/>
              <a:cs typeface="Cambria" panose="0204050305040603020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3644900" y="206375"/>
            <a:ext cx="481520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Simulation Environment</a:t>
            </a:r>
            <a:endParaRPr lang="en-US" altLang="en-US" sz="3200" b="1">
              <a:latin typeface="Cambria" panose="02040503050406030204" charset="0"/>
              <a:cs typeface="Cambria" panose="02040503050406030204" charset="0"/>
            </a:endParaRPr>
          </a:p>
        </p:txBody>
      </p:sp>
      <p:graphicFrame>
        <p:nvGraphicFramePr>
          <p:cNvPr id="5" name="Table 4"/>
          <p:cNvGraphicFramePr/>
          <p:nvPr/>
        </p:nvGraphicFramePr>
        <p:xfrm>
          <a:off x="6567805" y="1249680"/>
          <a:ext cx="4946015" cy="4358640"/>
        </p:xfrm>
        <a:graphic>
          <a:graphicData uri="http://schemas.openxmlformats.org/drawingml/2006/table">
            <a:tbl>
              <a:tblPr firstRow="1" bandRow="1">
                <a:tableStyleId>{5C22544A-7EE6-4342-B048-85BDC9FD1C3A}</a:tableStyleId>
              </a:tblPr>
              <a:tblGrid>
                <a:gridCol w="3128645"/>
                <a:gridCol w="1817370"/>
              </a:tblGrid>
              <a:tr h="396240">
                <a:tc>
                  <a:txBody>
                    <a:bodyPr/>
                    <a:p>
                      <a:pPr>
                        <a:buNone/>
                      </a:pPr>
                      <a:r>
                        <a:rPr lang="en-US" sz="2000">
                          <a:latin typeface="Cambria" panose="02040503050406030204" charset="0"/>
                          <a:cs typeface="Cambria" panose="02040503050406030204" charset="0"/>
                        </a:rPr>
                        <a:t>Network Parameters</a:t>
                      </a:r>
                      <a:endParaRPr lang="en-US" sz="2000">
                        <a:latin typeface="Cambria" panose="02040503050406030204" charset="0"/>
                        <a:cs typeface="Cambria" panose="02040503050406030204" charset="0"/>
                      </a:endParaRPr>
                    </a:p>
                  </a:txBody>
                  <a:tcPr>
                    <a:solidFill>
                      <a:schemeClr val="bg1">
                        <a:lumMod val="65000"/>
                      </a:schemeClr>
                    </a:solidFill>
                  </a:tcPr>
                </a:tc>
                <a:tc>
                  <a:txBody>
                    <a:bodyPr/>
                    <a:p>
                      <a:pPr>
                        <a:buNone/>
                      </a:pPr>
                      <a:r>
                        <a:rPr lang="en-US" sz="2000">
                          <a:latin typeface="Cambria" panose="02040503050406030204" charset="0"/>
                          <a:cs typeface="Cambria" panose="02040503050406030204" charset="0"/>
                        </a:rPr>
                        <a:t>Value</a:t>
                      </a:r>
                      <a:endParaRPr lang="en-US" sz="2000">
                        <a:latin typeface="Cambria" panose="02040503050406030204" charset="0"/>
                        <a:cs typeface="Cambria" panose="02040503050406030204" charset="0"/>
                      </a:endParaRPr>
                    </a:p>
                  </a:txBody>
                  <a:tcPr>
                    <a:solidFill>
                      <a:schemeClr val="bg1">
                        <a:lumMod val="65000"/>
                      </a:schemeClr>
                    </a:solidFill>
                  </a:tcPr>
                </a:tc>
              </a:tr>
              <a:tr h="381000">
                <a:tc>
                  <a:txBody>
                    <a:bodyPr/>
                    <a:p>
                      <a:pPr>
                        <a:buNone/>
                      </a:pPr>
                      <a:r>
                        <a:rPr lang="en-US" altLang="en-US" sz="2000">
                          <a:latin typeface="Cambria" panose="02040503050406030204" charset="0"/>
                          <a:cs typeface="Cambria" panose="02040503050406030204" charset="0"/>
                        </a:rPr>
                        <a:t>WSN area size</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500m x 500m</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Initial energy</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0.5 Joules</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Packet size</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3000 bits</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Data aggregation energy</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5n J/bit/signal</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Transmit energy</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50n J/bit</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Receive energy</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50n J/bit</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Free space loss</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10n J/bit</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Multipath loss</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0.0013p J/bit</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Simulation Rounds</a:t>
                      </a:r>
                      <a:endParaRPr lang="en-US" altLang="en-US" sz="2000">
                        <a:latin typeface="Cambria" panose="02040503050406030204" charset="0"/>
                        <a:cs typeface="Cambria" panose="02040503050406030204" charset="0"/>
                      </a:endParaRPr>
                    </a:p>
                  </a:txBody>
                  <a:tcPr/>
                </a:tc>
                <a:tc>
                  <a:txBody>
                    <a:bodyPr/>
                    <a:p>
                      <a:pPr>
                        <a:buNone/>
                      </a:pPr>
                      <a:r>
                        <a:rPr lang="en-US" sz="2000">
                          <a:latin typeface="Cambria" panose="02040503050406030204" charset="0"/>
                          <a:cs typeface="Cambria" panose="02040503050406030204" charset="0"/>
                        </a:rPr>
                        <a:t>10000</a:t>
                      </a:r>
                      <a:endParaRPr lang="en-US" sz="2000">
                        <a:latin typeface="Cambria" panose="02040503050406030204" charset="0"/>
                        <a:cs typeface="Cambria" panose="02040503050406030204" charset="0"/>
                      </a:endParaRPr>
                    </a:p>
                  </a:txBody>
                  <a:tcPr/>
                </a:tc>
              </a:tr>
            </a:tbl>
          </a:graphicData>
        </a:graphic>
      </p:graphicFrame>
      <p:graphicFrame>
        <p:nvGraphicFramePr>
          <p:cNvPr id="7" name="Table 6"/>
          <p:cNvGraphicFramePr/>
          <p:nvPr/>
        </p:nvGraphicFramePr>
        <p:xfrm>
          <a:off x="683260" y="1247140"/>
          <a:ext cx="5143500" cy="4358640"/>
        </p:xfrm>
        <a:graphic>
          <a:graphicData uri="http://schemas.openxmlformats.org/drawingml/2006/table">
            <a:tbl>
              <a:tblPr firstRow="1" bandRow="1">
                <a:tableStyleId>{5C22544A-7EE6-4342-B048-85BDC9FD1C3A}</a:tableStyleId>
              </a:tblPr>
              <a:tblGrid>
                <a:gridCol w="3325495"/>
                <a:gridCol w="1818005"/>
              </a:tblGrid>
              <a:tr h="381000">
                <a:tc>
                  <a:txBody>
                    <a:bodyPr/>
                    <a:p>
                      <a:pPr>
                        <a:buNone/>
                      </a:pPr>
                      <a:r>
                        <a:rPr lang="en-US" sz="2000">
                          <a:latin typeface="Cambria" panose="02040503050406030204" charset="0"/>
                          <a:cs typeface="Cambria" panose="02040503050406030204" charset="0"/>
                        </a:rPr>
                        <a:t>Physical Layer Parameters</a:t>
                      </a:r>
                      <a:endParaRPr lang="en-US" sz="2000">
                        <a:latin typeface="Cambria" panose="02040503050406030204" charset="0"/>
                        <a:cs typeface="Cambria" panose="02040503050406030204" charset="0"/>
                      </a:endParaRPr>
                    </a:p>
                  </a:txBody>
                  <a:tcPr>
                    <a:solidFill>
                      <a:schemeClr val="bg1">
                        <a:lumMod val="65000"/>
                      </a:schemeClr>
                    </a:solidFill>
                  </a:tcPr>
                </a:tc>
                <a:tc>
                  <a:txBody>
                    <a:bodyPr/>
                    <a:p>
                      <a:pPr>
                        <a:buNone/>
                      </a:pPr>
                      <a:r>
                        <a:rPr lang="en-US" sz="2000">
                          <a:latin typeface="Cambria" panose="02040503050406030204" charset="0"/>
                          <a:cs typeface="Cambria" panose="02040503050406030204" charset="0"/>
                        </a:rPr>
                        <a:t>Value</a:t>
                      </a:r>
                      <a:endParaRPr lang="en-US" sz="2000">
                        <a:latin typeface="Cambria" panose="02040503050406030204" charset="0"/>
                        <a:cs typeface="Cambria" panose="02040503050406030204" charset="0"/>
                      </a:endParaRPr>
                    </a:p>
                  </a:txBody>
                  <a:tcPr>
                    <a:solidFill>
                      <a:schemeClr val="bg1">
                        <a:lumMod val="65000"/>
                      </a:schemeClr>
                    </a:solidFill>
                  </a:tcPr>
                </a:tc>
              </a:tr>
              <a:tr h="381000">
                <a:tc>
                  <a:txBody>
                    <a:bodyPr/>
                    <a:p>
                      <a:pPr>
                        <a:buNone/>
                      </a:pPr>
                      <a:r>
                        <a:rPr lang="en-US" altLang="en-US" sz="2000">
                          <a:latin typeface="Cambria" panose="02040503050406030204" charset="0"/>
                          <a:cs typeface="Cambria" panose="02040503050406030204" charset="0"/>
                        </a:rPr>
                        <a:t>Sink (BS) location</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Center</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Number of nodes</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50</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Node mobility</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Static</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Channel model</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AWGN</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Sensing/traffic model</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Periodic</a:t>
                      </a:r>
                      <a:endParaRPr lang="en-US" altLang="en-US" sz="2000">
                        <a:latin typeface="Cambria" panose="02040503050406030204" charset="0"/>
                        <a:cs typeface="Cambria" panose="02040503050406030204" charset="0"/>
                      </a:endParaRPr>
                    </a:p>
                  </a:txBody>
                  <a:tcPr/>
                </a:tc>
              </a:tr>
            </a:tbl>
          </a:graphicData>
        </a:graphic>
      </p:graphicFrame>
      <p:graphicFrame>
        <p:nvGraphicFramePr>
          <p:cNvPr id="12" name="Table 11"/>
          <p:cNvGraphicFramePr/>
          <p:nvPr/>
        </p:nvGraphicFramePr>
        <p:xfrm>
          <a:off x="683260" y="4012565"/>
          <a:ext cx="5143500" cy="4358640"/>
        </p:xfrm>
        <a:graphic>
          <a:graphicData uri="http://schemas.openxmlformats.org/drawingml/2006/table">
            <a:tbl>
              <a:tblPr firstRow="1" bandRow="1">
                <a:tableStyleId>{5C22544A-7EE6-4342-B048-85BDC9FD1C3A}</a:tableStyleId>
              </a:tblPr>
              <a:tblGrid>
                <a:gridCol w="3325495"/>
                <a:gridCol w="1818005"/>
              </a:tblGrid>
              <a:tr h="381000">
                <a:tc>
                  <a:txBody>
                    <a:bodyPr/>
                    <a:p>
                      <a:pPr>
                        <a:buNone/>
                      </a:pPr>
                      <a:r>
                        <a:rPr lang="en-US" sz="2000">
                          <a:latin typeface="Cambria" panose="02040503050406030204" charset="0"/>
                          <a:cs typeface="Cambria" panose="02040503050406030204" charset="0"/>
                        </a:rPr>
                        <a:t>Application/Software</a:t>
                      </a:r>
                      <a:endParaRPr lang="en-US" sz="2000">
                        <a:latin typeface="Cambria" panose="02040503050406030204" charset="0"/>
                        <a:cs typeface="Cambria" panose="02040503050406030204" charset="0"/>
                      </a:endParaRPr>
                    </a:p>
                  </a:txBody>
                  <a:tcPr>
                    <a:solidFill>
                      <a:schemeClr val="bg1">
                        <a:lumMod val="65000"/>
                      </a:schemeClr>
                    </a:solidFill>
                  </a:tcPr>
                </a:tc>
                <a:tc>
                  <a:txBody>
                    <a:bodyPr/>
                    <a:p>
                      <a:pPr>
                        <a:buNone/>
                      </a:pPr>
                      <a:r>
                        <a:rPr lang="en-US" sz="2000">
                          <a:latin typeface="Cambria" panose="02040503050406030204" charset="0"/>
                          <a:cs typeface="Cambria" panose="02040503050406030204" charset="0"/>
                        </a:rPr>
                        <a:t>Version</a:t>
                      </a:r>
                      <a:endParaRPr lang="en-US" sz="2000">
                        <a:latin typeface="Cambria" panose="02040503050406030204" charset="0"/>
                        <a:cs typeface="Cambria" panose="02040503050406030204" charset="0"/>
                      </a:endParaRPr>
                    </a:p>
                  </a:txBody>
                  <a:tcPr>
                    <a:solidFill>
                      <a:schemeClr val="bg1">
                        <a:lumMod val="65000"/>
                      </a:schemeClr>
                    </a:solidFill>
                  </a:tcPr>
                </a:tc>
              </a:tr>
              <a:tr h="381000">
                <a:tc>
                  <a:txBody>
                    <a:bodyPr/>
                    <a:p>
                      <a:pPr>
                        <a:buNone/>
                      </a:pPr>
                      <a:r>
                        <a:rPr lang="en-US" altLang="en-US" sz="2000">
                          <a:latin typeface="Cambria" panose="02040503050406030204" charset="0"/>
                          <a:cs typeface="Cambria" panose="02040503050406030204" charset="0"/>
                        </a:rPr>
                        <a:t>Python</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3.11.1</a:t>
                      </a:r>
                      <a:endParaRPr lang="en-US" altLang="en-US" sz="2000">
                        <a:latin typeface="Cambria" panose="02040503050406030204" charset="0"/>
                        <a:cs typeface="Cambria" panose="02040503050406030204" charset="0"/>
                      </a:endParaRPr>
                    </a:p>
                  </a:txBody>
                  <a:tcPr/>
                </a:tc>
              </a:tr>
              <a:tr h="381000">
                <a:tc>
                  <a:txBody>
                    <a:bodyPr/>
                    <a:p>
                      <a:pPr>
                        <a:buNone/>
                      </a:pPr>
                      <a:r>
                        <a:rPr lang="en-US" altLang="en-US" sz="2000">
                          <a:latin typeface="Cambria" panose="02040503050406030204" charset="0"/>
                          <a:cs typeface="Cambria" panose="02040503050406030204" charset="0"/>
                        </a:rPr>
                        <a:t>Antigravity</a:t>
                      </a:r>
                      <a:endParaRPr lang="en-US" altLang="en-US" sz="2000">
                        <a:latin typeface="Cambria" panose="02040503050406030204" charset="0"/>
                        <a:cs typeface="Cambria" panose="02040503050406030204" charset="0"/>
                      </a:endParaRPr>
                    </a:p>
                  </a:txBody>
                  <a:tcPr/>
                </a:tc>
                <a:tc>
                  <a:txBody>
                    <a:bodyPr/>
                    <a:p>
                      <a:pPr>
                        <a:buNone/>
                      </a:pPr>
                      <a:r>
                        <a:rPr lang="en-US" altLang="en-US" sz="2000">
                          <a:latin typeface="Cambria" panose="02040503050406030204" charset="0"/>
                          <a:cs typeface="Cambria" panose="02040503050406030204" charset="0"/>
                        </a:rPr>
                        <a:t>A1</a:t>
                      </a:r>
                      <a:endParaRPr lang="en-US" altLang="en-US" sz="2000">
                        <a:latin typeface="Cambria" panose="02040503050406030204" charset="0"/>
                        <a:cs typeface="Cambria" panose="02040503050406030204" charset="0"/>
                      </a:endParaRPr>
                    </a:p>
                  </a:txBody>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descr="Figure_9"/>
          <p:cNvPicPr>
            <a:picLocks noChangeAspect="1"/>
          </p:cNvPicPr>
          <p:nvPr/>
        </p:nvPicPr>
        <p:blipFill>
          <a:blip r:embed="rId1"/>
          <a:stretch>
            <a:fillRect/>
          </a:stretch>
        </p:blipFill>
        <p:spPr>
          <a:xfrm>
            <a:off x="154305" y="819785"/>
            <a:ext cx="11518900" cy="5838825"/>
          </a:xfrm>
          <a:prstGeom prst="rect">
            <a:avLst/>
          </a:prstGeom>
        </p:spPr>
      </p:pic>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335145" y="179070"/>
            <a:ext cx="401637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Simulation Results</a:t>
            </a:r>
            <a:endParaRPr lang="en-US" altLang="en-US" sz="3200" b="1">
              <a:latin typeface="Cambria" panose="02040503050406030204" charset="0"/>
              <a:cs typeface="Cambria" panose="02040503050406030204" charset="0"/>
            </a:endParaRPr>
          </a:p>
        </p:txBody>
      </p:sp>
      <p:sp>
        <p:nvSpPr>
          <p:cNvPr id="5" name="Text Box 4"/>
          <p:cNvSpPr txBox="1"/>
          <p:nvPr/>
        </p:nvSpPr>
        <p:spPr>
          <a:xfrm>
            <a:off x="4841875" y="6468745"/>
            <a:ext cx="3002280" cy="233045"/>
          </a:xfrm>
          <a:prstGeom prst="rect">
            <a:avLst/>
          </a:prstGeom>
          <a:noFill/>
        </p:spPr>
        <p:txBody>
          <a:bodyPr wrap="square" rtlCol="0">
            <a:noAutofit/>
          </a:bodyPr>
          <a:p>
            <a:r>
              <a:rPr lang="en-US" altLang="en-US" sz="1400" i="1">
                <a:latin typeface="Cambria" panose="02040503050406030204" charset="0"/>
                <a:cs typeface="Cambria" panose="02040503050406030204" charset="0"/>
              </a:rPr>
              <a:t>Fig 4:  Network Lifetime for 50 nodes</a:t>
            </a:r>
            <a:endParaRPr lang="en-US" altLang="en-US" sz="1400" i="1">
              <a:latin typeface="Cambria" panose="02040503050406030204" charset="0"/>
              <a:cs typeface="Cambria" panose="02040503050406030204" charset="0"/>
            </a:endParaRPr>
          </a:p>
        </p:txBody>
      </p:sp>
      <p:cxnSp>
        <p:nvCxnSpPr>
          <p:cNvPr id="3" name="Straight Connector 2"/>
          <p:cNvCxnSpPr/>
          <p:nvPr>
            <p:custDataLst>
              <p:tags r:id="rId2"/>
            </p:custDataLst>
          </p:nvPr>
        </p:nvCxnSpPr>
        <p:spPr>
          <a:xfrm>
            <a:off x="9162415" y="1479550"/>
            <a:ext cx="12700" cy="4497705"/>
          </a:xfrm>
          <a:prstGeom prst="line">
            <a:avLst/>
          </a:prstGeom>
          <a:ln>
            <a:solidFill>
              <a:srgbClr val="FF0000"/>
            </a:solidFill>
          </a:ln>
        </p:spPr>
        <p:style>
          <a:lnRef idx="2">
            <a:schemeClr val="accent1"/>
          </a:lnRef>
          <a:fillRef idx="0">
            <a:srgbClr val="FFFFFF"/>
          </a:fillRef>
          <a:effectRef idx="0">
            <a:srgbClr val="FFFFFF"/>
          </a:effectRef>
          <a:fontRef idx="minor">
            <a:schemeClr val="tx1"/>
          </a:fontRef>
        </p:style>
      </p:cxnSp>
      <p:cxnSp>
        <p:nvCxnSpPr>
          <p:cNvPr id="6" name="Straight Connector 5"/>
          <p:cNvCxnSpPr/>
          <p:nvPr>
            <p:custDataLst>
              <p:tags r:id="rId3"/>
            </p:custDataLst>
          </p:nvPr>
        </p:nvCxnSpPr>
        <p:spPr>
          <a:xfrm>
            <a:off x="9949815" y="1479550"/>
            <a:ext cx="12700" cy="4497705"/>
          </a:xfrm>
          <a:prstGeom prst="line">
            <a:avLst/>
          </a:prstGeom>
          <a:ln>
            <a:solidFill>
              <a:srgbClr val="92D050"/>
            </a:solidFill>
          </a:ln>
        </p:spPr>
        <p:style>
          <a:lnRef idx="2">
            <a:schemeClr val="accent1"/>
          </a:lnRef>
          <a:fillRef idx="0">
            <a:srgbClr val="FFFFFF"/>
          </a:fillRef>
          <a:effectRef idx="0">
            <a:srgbClr val="FFFFFF"/>
          </a:effectRef>
          <a:fontRef idx="minor">
            <a:schemeClr val="tx1"/>
          </a:fontRef>
        </p:style>
      </p:cxnSp>
      <p:sp>
        <p:nvSpPr>
          <p:cNvPr id="27" name="Text Box 26"/>
          <p:cNvSpPr txBox="1"/>
          <p:nvPr>
            <p:custDataLst>
              <p:tags r:id="rId4"/>
            </p:custDataLst>
          </p:nvPr>
        </p:nvSpPr>
        <p:spPr>
          <a:xfrm>
            <a:off x="8542655" y="5737225"/>
            <a:ext cx="670560" cy="201930"/>
          </a:xfrm>
          <a:prstGeom prst="rect">
            <a:avLst/>
          </a:prstGeom>
          <a:noFill/>
        </p:spPr>
        <p:txBody>
          <a:bodyPr wrap="square" rtlCol="0">
            <a:noAutofit/>
          </a:bodyPr>
          <a:p>
            <a:r>
              <a:rPr lang="en-US" sz="1200">
                <a:latin typeface="Cambria" panose="02040503050406030204" charset="0"/>
                <a:cs typeface="Cambria" panose="02040503050406030204" charset="0"/>
              </a:rPr>
              <a:t>~9705 </a:t>
            </a:r>
            <a:endParaRPr lang="en-US" sz="1200">
              <a:latin typeface="Cambria" panose="02040503050406030204" charset="0"/>
              <a:cs typeface="Cambria" panose="02040503050406030204" charset="0"/>
            </a:endParaRPr>
          </a:p>
        </p:txBody>
      </p:sp>
      <p:sp>
        <p:nvSpPr>
          <p:cNvPr id="7" name="Text Box 6"/>
          <p:cNvSpPr txBox="1"/>
          <p:nvPr>
            <p:custDataLst>
              <p:tags r:id="rId5"/>
            </p:custDataLst>
          </p:nvPr>
        </p:nvSpPr>
        <p:spPr>
          <a:xfrm>
            <a:off x="9914255" y="5749925"/>
            <a:ext cx="721360" cy="201930"/>
          </a:xfrm>
          <a:prstGeom prst="rect">
            <a:avLst/>
          </a:prstGeom>
          <a:noFill/>
        </p:spPr>
        <p:txBody>
          <a:bodyPr wrap="square" rtlCol="0">
            <a:noAutofit/>
          </a:bodyPr>
          <a:p>
            <a:r>
              <a:rPr lang="en-US" sz="1200">
                <a:latin typeface="Cambria" panose="02040503050406030204" charset="0"/>
                <a:cs typeface="Cambria" panose="02040503050406030204" charset="0"/>
              </a:rPr>
              <a:t>~10700 </a:t>
            </a:r>
            <a:endParaRPr lang="en-US" sz="1200">
              <a:latin typeface="Cambria" panose="02040503050406030204" charset="0"/>
              <a:cs typeface="Cambria" panose="02040503050406030204" charset="0"/>
            </a:endParaRPr>
          </a:p>
        </p:txBody>
      </p:sp>
      <p:cxnSp>
        <p:nvCxnSpPr>
          <p:cNvPr id="11" name="Straight Connector 10"/>
          <p:cNvCxnSpPr/>
          <p:nvPr>
            <p:custDataLst>
              <p:tags r:id="rId6"/>
            </p:custDataLst>
          </p:nvPr>
        </p:nvCxnSpPr>
        <p:spPr>
          <a:xfrm>
            <a:off x="4565015" y="1492250"/>
            <a:ext cx="12700" cy="4497705"/>
          </a:xfrm>
          <a:prstGeom prst="line">
            <a:avLst/>
          </a:prstGeom>
          <a:ln>
            <a:solidFill>
              <a:schemeClr val="accent1">
                <a:lumMod val="50000"/>
              </a:schemeClr>
            </a:solidFill>
          </a:ln>
        </p:spPr>
        <p:style>
          <a:lnRef idx="2">
            <a:schemeClr val="accent1"/>
          </a:lnRef>
          <a:fillRef idx="0">
            <a:srgbClr val="FFFFFF"/>
          </a:fillRef>
          <a:effectRef idx="0">
            <a:srgbClr val="FFFFFF"/>
          </a:effectRef>
          <a:fontRef idx="minor">
            <a:schemeClr val="tx1"/>
          </a:fontRef>
        </p:style>
      </p:cxnSp>
      <p:sp>
        <p:nvSpPr>
          <p:cNvPr id="12" name="Text Box 11"/>
          <p:cNvSpPr txBox="1"/>
          <p:nvPr>
            <p:custDataLst>
              <p:tags r:id="rId7"/>
            </p:custDataLst>
          </p:nvPr>
        </p:nvSpPr>
        <p:spPr>
          <a:xfrm>
            <a:off x="3968115" y="5749925"/>
            <a:ext cx="670560" cy="201930"/>
          </a:xfrm>
          <a:prstGeom prst="rect">
            <a:avLst/>
          </a:prstGeom>
          <a:noFill/>
        </p:spPr>
        <p:txBody>
          <a:bodyPr wrap="square" rtlCol="0">
            <a:noAutofit/>
          </a:bodyPr>
          <a:p>
            <a:r>
              <a:rPr lang="en-US" sz="1200">
                <a:latin typeface="Cambria" panose="02040503050406030204" charset="0"/>
                <a:cs typeface="Cambria" panose="02040503050406030204" charset="0"/>
              </a:rPr>
              <a:t>~3842 </a:t>
            </a:r>
            <a:endParaRPr lang="en-US" sz="1200">
              <a:latin typeface="Cambria" panose="02040503050406030204" charset="0"/>
              <a:cs typeface="Cambria" panose="0204050305040603020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335145" y="179070"/>
            <a:ext cx="401637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Simulation Results</a:t>
            </a:r>
            <a:endParaRPr lang="en-US" altLang="en-US" sz="3200" b="1">
              <a:latin typeface="Cambria" panose="02040503050406030204" charset="0"/>
              <a:cs typeface="Cambria" panose="02040503050406030204" charset="0"/>
            </a:endParaRPr>
          </a:p>
        </p:txBody>
      </p:sp>
      <p:pic>
        <p:nvPicPr>
          <p:cNvPr id="23" name="Picture 22" descr="Figure_11"/>
          <p:cNvPicPr>
            <a:picLocks noChangeAspect="1"/>
          </p:cNvPicPr>
          <p:nvPr/>
        </p:nvPicPr>
        <p:blipFill>
          <a:blip r:embed="rId1"/>
          <a:stretch>
            <a:fillRect/>
          </a:stretch>
        </p:blipFill>
        <p:spPr>
          <a:xfrm>
            <a:off x="450850" y="985520"/>
            <a:ext cx="11059160" cy="5367020"/>
          </a:xfrm>
          <a:prstGeom prst="rect">
            <a:avLst/>
          </a:prstGeom>
        </p:spPr>
      </p:pic>
      <p:sp>
        <p:nvSpPr>
          <p:cNvPr id="24" name="Text Box 23"/>
          <p:cNvSpPr txBox="1"/>
          <p:nvPr/>
        </p:nvSpPr>
        <p:spPr>
          <a:xfrm>
            <a:off x="8721090" y="2964815"/>
            <a:ext cx="731520" cy="201930"/>
          </a:xfrm>
          <a:prstGeom prst="rect">
            <a:avLst/>
          </a:prstGeom>
          <a:noFill/>
        </p:spPr>
        <p:txBody>
          <a:bodyPr wrap="square" rtlCol="0">
            <a:noAutofit/>
          </a:bodyPr>
          <a:p>
            <a:r>
              <a:rPr lang="en-US" sz="1200">
                <a:latin typeface="Cambria" panose="02040503050406030204" charset="0"/>
                <a:cs typeface="Cambria" panose="02040503050406030204" charset="0"/>
              </a:rPr>
              <a:t>~140% </a:t>
            </a:r>
            <a:endParaRPr lang="en-US" sz="1200">
              <a:latin typeface="Cambria" panose="02040503050406030204" charset="0"/>
              <a:cs typeface="Cambria" panose="02040503050406030204" charset="0"/>
            </a:endParaRPr>
          </a:p>
        </p:txBody>
      </p:sp>
      <p:cxnSp>
        <p:nvCxnSpPr>
          <p:cNvPr id="25" name="Elbow Connector 24"/>
          <p:cNvCxnSpPr/>
          <p:nvPr/>
        </p:nvCxnSpPr>
        <p:spPr>
          <a:xfrm rot="5400000" flipV="1">
            <a:off x="8144510" y="2816225"/>
            <a:ext cx="2466340" cy="3175"/>
          </a:xfrm>
          <a:prstGeom prst="bentConnector3">
            <a:avLst>
              <a:gd name="adj1" fmla="val 50026"/>
            </a:avLst>
          </a:prstGeom>
          <a:ln>
            <a:headEnd type="arrow"/>
            <a:tailEnd type="arrow"/>
          </a:ln>
        </p:spPr>
        <p:style>
          <a:lnRef idx="2">
            <a:schemeClr val="accent1"/>
          </a:lnRef>
          <a:fillRef idx="0">
            <a:srgbClr val="FFFFFF"/>
          </a:fillRef>
          <a:effectRef idx="0">
            <a:srgbClr val="FFFFFF"/>
          </a:effectRef>
          <a:fontRef idx="minor">
            <a:schemeClr val="tx1"/>
          </a:fontRef>
        </p:style>
      </p:cxnSp>
      <p:cxnSp>
        <p:nvCxnSpPr>
          <p:cNvPr id="26" name="Elbow Connector 25"/>
          <p:cNvCxnSpPr/>
          <p:nvPr/>
        </p:nvCxnSpPr>
        <p:spPr>
          <a:xfrm rot="5400000" flipV="1">
            <a:off x="8909050" y="1880235"/>
            <a:ext cx="504825" cy="3175"/>
          </a:xfrm>
          <a:prstGeom prst="bentConnector3">
            <a:avLst>
              <a:gd name="adj1" fmla="val 50063"/>
            </a:avLst>
          </a:prstGeom>
          <a:ln>
            <a:headEnd type="arrow"/>
            <a:tailEnd type="arrow"/>
          </a:ln>
        </p:spPr>
        <p:style>
          <a:lnRef idx="2">
            <a:schemeClr val="accent1"/>
          </a:lnRef>
          <a:fillRef idx="0">
            <a:srgbClr val="FFFFFF"/>
          </a:fillRef>
          <a:effectRef idx="0">
            <a:srgbClr val="FFFFFF"/>
          </a:effectRef>
          <a:fontRef idx="minor">
            <a:schemeClr val="tx1"/>
          </a:fontRef>
        </p:style>
      </p:cxnSp>
      <p:sp>
        <p:nvSpPr>
          <p:cNvPr id="27" name="Text Box 26"/>
          <p:cNvSpPr txBox="1"/>
          <p:nvPr/>
        </p:nvSpPr>
        <p:spPr>
          <a:xfrm>
            <a:off x="8619490" y="1765935"/>
            <a:ext cx="670560" cy="201930"/>
          </a:xfrm>
          <a:prstGeom prst="rect">
            <a:avLst/>
          </a:prstGeom>
          <a:noFill/>
        </p:spPr>
        <p:txBody>
          <a:bodyPr wrap="square" rtlCol="0">
            <a:noAutofit/>
          </a:bodyPr>
          <a:p>
            <a:r>
              <a:rPr lang="en-US" sz="1200">
                <a:latin typeface="Cambria" panose="02040503050406030204" charset="0"/>
                <a:cs typeface="Cambria" panose="02040503050406030204" charset="0"/>
              </a:rPr>
              <a:t>~13% </a:t>
            </a:r>
            <a:endParaRPr lang="en-US" sz="1200">
              <a:latin typeface="Cambria" panose="02040503050406030204" charset="0"/>
              <a:cs typeface="Cambria" panose="02040503050406030204" charset="0"/>
            </a:endParaRPr>
          </a:p>
        </p:txBody>
      </p:sp>
      <p:sp>
        <p:nvSpPr>
          <p:cNvPr id="5" name="Text Box 4"/>
          <p:cNvSpPr txBox="1"/>
          <p:nvPr/>
        </p:nvSpPr>
        <p:spPr>
          <a:xfrm>
            <a:off x="4698365" y="6312535"/>
            <a:ext cx="3290570" cy="233045"/>
          </a:xfrm>
          <a:prstGeom prst="rect">
            <a:avLst/>
          </a:prstGeom>
          <a:noFill/>
        </p:spPr>
        <p:txBody>
          <a:bodyPr wrap="square" rtlCol="0">
            <a:noAutofit/>
          </a:bodyPr>
          <a:p>
            <a:r>
              <a:rPr lang="en-US" altLang="en-US" sz="1400" i="1">
                <a:latin typeface="Cambria" panose="02040503050406030204" charset="0"/>
                <a:cs typeface="Cambria" panose="02040503050406030204" charset="0"/>
              </a:rPr>
              <a:t>Fig 6:  Network Throughput for 50 nodes</a:t>
            </a:r>
            <a:endParaRPr lang="en-US" altLang="en-US" sz="1400" i="1">
              <a:latin typeface="Cambria" panose="02040503050406030204" charset="0"/>
              <a:cs typeface="Cambria" panose="02040503050406030204" charset="0"/>
            </a:endParaRPr>
          </a:p>
        </p:txBody>
      </p:sp>
      <p:sp>
        <p:nvSpPr>
          <p:cNvPr id="3" name="Rectangles 2"/>
          <p:cNvSpPr/>
          <p:nvPr/>
        </p:nvSpPr>
        <p:spPr>
          <a:xfrm>
            <a:off x="932815" y="2806700"/>
            <a:ext cx="203200" cy="1549400"/>
          </a:xfrm>
          <a:prstGeom prst="rect">
            <a:avLst/>
          </a:prstGeom>
          <a:solidFill>
            <a:schemeClr val="bg1"/>
          </a:solidFill>
          <a:ln>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 name="Text Box 3"/>
          <p:cNvSpPr txBox="1"/>
          <p:nvPr/>
        </p:nvSpPr>
        <p:spPr>
          <a:xfrm rot="16200000">
            <a:off x="150495" y="3209290"/>
            <a:ext cx="1614805" cy="248920"/>
          </a:xfrm>
          <a:prstGeom prst="rect">
            <a:avLst/>
          </a:prstGeom>
          <a:noFill/>
        </p:spPr>
        <p:txBody>
          <a:bodyPr wrap="square" rtlCol="0">
            <a:noAutofit/>
          </a:bodyPr>
          <a:p>
            <a:r>
              <a:rPr lang="en-US" altLang="en-US" sz="1200">
                <a:latin typeface="Calibri" panose="020F0502020204030204" charset="0"/>
                <a:cs typeface="Calibri" panose="020F0502020204030204" charset="0"/>
              </a:rPr>
              <a:t>Number of bits</a:t>
            </a:r>
            <a:endParaRPr lang="en-US" altLang="en-US" sz="1200">
              <a:latin typeface="Calibri" panose="020F0502020204030204" charset="0"/>
              <a:cs typeface="Calibri" panose="020F050202020403020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335145" y="179070"/>
            <a:ext cx="401637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Simulation Results</a:t>
            </a:r>
            <a:endParaRPr lang="en-US" altLang="en-US" sz="3200" b="1">
              <a:latin typeface="Cambria" panose="02040503050406030204" charset="0"/>
              <a:cs typeface="Cambria" panose="02040503050406030204" charset="0"/>
            </a:endParaRPr>
          </a:p>
        </p:txBody>
      </p:sp>
      <p:pic>
        <p:nvPicPr>
          <p:cNvPr id="6" name="Picture 5" descr="Figure_14"/>
          <p:cNvPicPr>
            <a:picLocks noChangeAspect="1"/>
          </p:cNvPicPr>
          <p:nvPr/>
        </p:nvPicPr>
        <p:blipFill>
          <a:blip r:embed="rId1"/>
          <a:stretch>
            <a:fillRect/>
          </a:stretch>
        </p:blipFill>
        <p:spPr>
          <a:xfrm>
            <a:off x="376555" y="909955"/>
            <a:ext cx="11438890" cy="5552440"/>
          </a:xfrm>
          <a:prstGeom prst="rect">
            <a:avLst/>
          </a:prstGeom>
        </p:spPr>
      </p:pic>
      <p:sp>
        <p:nvSpPr>
          <p:cNvPr id="7" name="Text Box 6"/>
          <p:cNvSpPr txBox="1"/>
          <p:nvPr/>
        </p:nvSpPr>
        <p:spPr>
          <a:xfrm>
            <a:off x="2860675" y="1816735"/>
            <a:ext cx="601345" cy="273050"/>
          </a:xfrm>
          <a:prstGeom prst="rect">
            <a:avLst/>
          </a:prstGeom>
          <a:noFill/>
        </p:spPr>
        <p:txBody>
          <a:bodyPr wrap="square" rtlCol="0">
            <a:noAutofit/>
          </a:bodyPr>
          <a:p>
            <a:r>
              <a:rPr lang="en-US" sz="1200">
                <a:latin typeface="Cambria" panose="02040503050406030204" charset="0"/>
                <a:cs typeface="Cambria" panose="02040503050406030204" charset="0"/>
              </a:rPr>
              <a:t>~10% </a:t>
            </a:r>
            <a:endParaRPr lang="en-US" sz="1200">
              <a:latin typeface="Cambria" panose="02040503050406030204" charset="0"/>
              <a:cs typeface="Cambria" panose="02040503050406030204" charset="0"/>
            </a:endParaRPr>
          </a:p>
        </p:txBody>
      </p:sp>
      <p:cxnSp>
        <p:nvCxnSpPr>
          <p:cNvPr id="11" name="Elbow Connector 10"/>
          <p:cNvCxnSpPr/>
          <p:nvPr/>
        </p:nvCxnSpPr>
        <p:spPr>
          <a:xfrm rot="5400000" flipV="1">
            <a:off x="1485900" y="3289935"/>
            <a:ext cx="2240280" cy="3175"/>
          </a:xfrm>
          <a:prstGeom prst="bentConnector3">
            <a:avLst>
              <a:gd name="adj1" fmla="val 50014"/>
            </a:avLst>
          </a:prstGeom>
          <a:ln>
            <a:headEnd type="arrow"/>
            <a:tailEnd type="arrow"/>
          </a:ln>
        </p:spPr>
        <p:style>
          <a:lnRef idx="2">
            <a:schemeClr val="accent1"/>
          </a:lnRef>
          <a:fillRef idx="0">
            <a:srgbClr val="FFFFFF"/>
          </a:fillRef>
          <a:effectRef idx="0">
            <a:srgbClr val="FFFFFF"/>
          </a:effectRef>
          <a:fontRef idx="minor">
            <a:schemeClr val="tx1"/>
          </a:fontRef>
        </p:style>
      </p:cxnSp>
      <p:sp>
        <p:nvSpPr>
          <p:cNvPr id="17" name="Text Box 16"/>
          <p:cNvSpPr txBox="1"/>
          <p:nvPr/>
        </p:nvSpPr>
        <p:spPr>
          <a:xfrm>
            <a:off x="6264910" y="1661160"/>
            <a:ext cx="601345" cy="273050"/>
          </a:xfrm>
          <a:prstGeom prst="rect">
            <a:avLst/>
          </a:prstGeom>
          <a:noFill/>
        </p:spPr>
        <p:txBody>
          <a:bodyPr wrap="square" rtlCol="0">
            <a:noAutofit/>
          </a:bodyPr>
          <a:p>
            <a:r>
              <a:rPr lang="en-US" sz="1200">
                <a:latin typeface="Cambria" panose="02040503050406030204" charset="0"/>
                <a:cs typeface="Cambria" panose="02040503050406030204" charset="0"/>
              </a:rPr>
              <a:t>~11% </a:t>
            </a:r>
            <a:endParaRPr lang="en-US" sz="1200">
              <a:latin typeface="Cambria" panose="02040503050406030204" charset="0"/>
              <a:cs typeface="Cambria" panose="02040503050406030204" charset="0"/>
            </a:endParaRPr>
          </a:p>
        </p:txBody>
      </p:sp>
      <p:cxnSp>
        <p:nvCxnSpPr>
          <p:cNvPr id="18" name="Elbow Connector 17"/>
          <p:cNvCxnSpPr/>
          <p:nvPr/>
        </p:nvCxnSpPr>
        <p:spPr>
          <a:xfrm rot="5400000" flipV="1">
            <a:off x="10089515" y="1662430"/>
            <a:ext cx="325755" cy="3175"/>
          </a:xfrm>
          <a:prstGeom prst="bentConnector3">
            <a:avLst>
              <a:gd name="adj1" fmla="val 50000"/>
            </a:avLst>
          </a:prstGeom>
          <a:ln>
            <a:headEnd type="arrow"/>
            <a:tailEnd type="arrow"/>
          </a:ln>
        </p:spPr>
        <p:style>
          <a:lnRef idx="2">
            <a:schemeClr val="accent1"/>
          </a:lnRef>
          <a:fillRef idx="0">
            <a:srgbClr val="FFFFFF"/>
          </a:fillRef>
          <a:effectRef idx="0">
            <a:srgbClr val="FFFFFF"/>
          </a:effectRef>
          <a:fontRef idx="minor">
            <a:schemeClr val="tx1"/>
          </a:fontRef>
        </p:style>
      </p:cxnSp>
      <p:sp>
        <p:nvSpPr>
          <p:cNvPr id="21" name="Text Box 20"/>
          <p:cNvSpPr txBox="1"/>
          <p:nvPr/>
        </p:nvSpPr>
        <p:spPr>
          <a:xfrm>
            <a:off x="9639935" y="1561465"/>
            <a:ext cx="624840" cy="273050"/>
          </a:xfrm>
          <a:prstGeom prst="rect">
            <a:avLst/>
          </a:prstGeom>
          <a:noFill/>
        </p:spPr>
        <p:txBody>
          <a:bodyPr wrap="square" rtlCol="0">
            <a:noAutofit/>
          </a:bodyPr>
          <a:p>
            <a:r>
              <a:rPr lang="en-US" sz="1200">
                <a:latin typeface="Cambria" panose="02040503050406030204" charset="0"/>
                <a:cs typeface="Cambria" panose="02040503050406030204" charset="0"/>
              </a:rPr>
              <a:t>~11% </a:t>
            </a:r>
            <a:endParaRPr lang="en-US" sz="1200">
              <a:latin typeface="Cambria" panose="02040503050406030204" charset="0"/>
              <a:cs typeface="Cambria" panose="02040503050406030204" charset="0"/>
            </a:endParaRPr>
          </a:p>
        </p:txBody>
      </p:sp>
      <p:cxnSp>
        <p:nvCxnSpPr>
          <p:cNvPr id="22" name="Elbow Connector 21"/>
          <p:cNvCxnSpPr/>
          <p:nvPr/>
        </p:nvCxnSpPr>
        <p:spPr>
          <a:xfrm rot="5400000" flipV="1">
            <a:off x="6679565" y="1783080"/>
            <a:ext cx="325755" cy="3175"/>
          </a:xfrm>
          <a:prstGeom prst="bentConnector3">
            <a:avLst>
              <a:gd name="adj1" fmla="val 50000"/>
            </a:avLst>
          </a:prstGeom>
          <a:ln>
            <a:headEnd type="arrow"/>
            <a:tailEnd type="arrow"/>
          </a:ln>
        </p:spPr>
        <p:style>
          <a:lnRef idx="2">
            <a:schemeClr val="accent1"/>
          </a:lnRef>
          <a:fillRef idx="0">
            <a:srgbClr val="FFFFFF"/>
          </a:fillRef>
          <a:effectRef idx="0">
            <a:srgbClr val="FFFFFF"/>
          </a:effectRef>
          <a:fontRef idx="minor">
            <a:schemeClr val="tx1"/>
          </a:fontRef>
        </p:style>
      </p:cxnSp>
      <p:cxnSp>
        <p:nvCxnSpPr>
          <p:cNvPr id="3" name="Elbow Connector 2"/>
          <p:cNvCxnSpPr/>
          <p:nvPr/>
        </p:nvCxnSpPr>
        <p:spPr>
          <a:xfrm rot="5400000" flipV="1">
            <a:off x="3304540" y="1955165"/>
            <a:ext cx="325755" cy="3175"/>
          </a:xfrm>
          <a:prstGeom prst="bentConnector3">
            <a:avLst>
              <a:gd name="adj1" fmla="val 50000"/>
            </a:avLst>
          </a:prstGeom>
          <a:ln>
            <a:headEnd type="arrow"/>
            <a:tailEnd type="arrow"/>
          </a:ln>
        </p:spPr>
        <p:style>
          <a:lnRef idx="2">
            <a:schemeClr val="accent1"/>
          </a:lnRef>
          <a:fillRef idx="0">
            <a:srgbClr val="FFFFFF"/>
          </a:fillRef>
          <a:effectRef idx="0">
            <a:srgbClr val="FFFFFF"/>
          </a:effectRef>
          <a:fontRef idx="minor">
            <a:schemeClr val="tx1"/>
          </a:fontRef>
        </p:style>
      </p:cxnSp>
      <p:sp>
        <p:nvSpPr>
          <p:cNvPr id="4" name="Text Box 3"/>
          <p:cNvSpPr txBox="1"/>
          <p:nvPr/>
        </p:nvSpPr>
        <p:spPr>
          <a:xfrm>
            <a:off x="1948180" y="3227705"/>
            <a:ext cx="731520" cy="201930"/>
          </a:xfrm>
          <a:prstGeom prst="rect">
            <a:avLst/>
          </a:prstGeom>
          <a:noFill/>
        </p:spPr>
        <p:txBody>
          <a:bodyPr wrap="square" rtlCol="0">
            <a:noAutofit/>
          </a:bodyPr>
          <a:p>
            <a:r>
              <a:rPr lang="en-US" sz="1200">
                <a:latin typeface="Cambria" panose="02040503050406030204" charset="0"/>
                <a:cs typeface="Cambria" panose="02040503050406030204" charset="0"/>
              </a:rPr>
              <a:t>~150% </a:t>
            </a:r>
            <a:endParaRPr lang="en-US" sz="1200">
              <a:latin typeface="Cambria" panose="02040503050406030204" charset="0"/>
              <a:cs typeface="Cambria" panose="02040503050406030204" charset="0"/>
            </a:endParaRPr>
          </a:p>
        </p:txBody>
      </p:sp>
      <p:sp>
        <p:nvSpPr>
          <p:cNvPr id="12" name="Text Box 11"/>
          <p:cNvSpPr txBox="1"/>
          <p:nvPr/>
        </p:nvSpPr>
        <p:spPr>
          <a:xfrm>
            <a:off x="5330190" y="3354705"/>
            <a:ext cx="731520" cy="201930"/>
          </a:xfrm>
          <a:prstGeom prst="rect">
            <a:avLst/>
          </a:prstGeom>
          <a:noFill/>
        </p:spPr>
        <p:txBody>
          <a:bodyPr wrap="square" rtlCol="0">
            <a:noAutofit/>
          </a:bodyPr>
          <a:p>
            <a:r>
              <a:rPr lang="en-US" sz="1200">
                <a:latin typeface="Cambria" panose="02040503050406030204" charset="0"/>
                <a:cs typeface="Cambria" panose="02040503050406030204" charset="0"/>
              </a:rPr>
              <a:t>~160% </a:t>
            </a:r>
            <a:endParaRPr lang="en-US" sz="1200">
              <a:latin typeface="Cambria" panose="02040503050406030204" charset="0"/>
              <a:cs typeface="Cambria" panose="02040503050406030204" charset="0"/>
            </a:endParaRPr>
          </a:p>
        </p:txBody>
      </p:sp>
      <p:cxnSp>
        <p:nvCxnSpPr>
          <p:cNvPr id="13" name="Elbow Connector 12"/>
          <p:cNvCxnSpPr/>
          <p:nvPr/>
        </p:nvCxnSpPr>
        <p:spPr>
          <a:xfrm rot="5400000">
            <a:off x="4668520" y="3321050"/>
            <a:ext cx="2669540" cy="3175"/>
          </a:xfrm>
          <a:prstGeom prst="bentConnector3">
            <a:avLst>
              <a:gd name="adj1" fmla="val 50012"/>
            </a:avLst>
          </a:prstGeom>
          <a:ln>
            <a:headEnd type="arrow"/>
            <a:tailEnd type="arrow"/>
          </a:ln>
        </p:spPr>
        <p:style>
          <a:lnRef idx="2">
            <a:schemeClr val="accent1"/>
          </a:lnRef>
          <a:fillRef idx="0">
            <a:srgbClr val="FFFFFF"/>
          </a:fillRef>
          <a:effectRef idx="0">
            <a:srgbClr val="FFFFFF"/>
          </a:effectRef>
          <a:fontRef idx="minor">
            <a:schemeClr val="tx1"/>
          </a:fontRef>
        </p:style>
      </p:cxnSp>
      <p:cxnSp>
        <p:nvCxnSpPr>
          <p:cNvPr id="19" name="Elbow Connector 18"/>
          <p:cNvCxnSpPr/>
          <p:nvPr/>
        </p:nvCxnSpPr>
        <p:spPr>
          <a:xfrm rot="5400000">
            <a:off x="8050530" y="3214370"/>
            <a:ext cx="2703830" cy="3175"/>
          </a:xfrm>
          <a:prstGeom prst="bentConnector3">
            <a:avLst>
              <a:gd name="adj1" fmla="val 50012"/>
            </a:avLst>
          </a:prstGeom>
          <a:ln>
            <a:headEnd type="arrow"/>
            <a:tailEnd type="arrow"/>
          </a:ln>
        </p:spPr>
        <p:style>
          <a:lnRef idx="2">
            <a:schemeClr val="accent1"/>
          </a:lnRef>
          <a:fillRef idx="0">
            <a:srgbClr val="FFFFFF"/>
          </a:fillRef>
          <a:effectRef idx="0">
            <a:srgbClr val="FFFFFF"/>
          </a:effectRef>
          <a:fontRef idx="minor">
            <a:schemeClr val="tx1"/>
          </a:fontRef>
        </p:style>
      </p:cxnSp>
      <p:sp>
        <p:nvSpPr>
          <p:cNvPr id="20" name="Text Box 19"/>
          <p:cNvSpPr txBox="1"/>
          <p:nvPr/>
        </p:nvSpPr>
        <p:spPr>
          <a:xfrm>
            <a:off x="8742680" y="3354705"/>
            <a:ext cx="731520" cy="201930"/>
          </a:xfrm>
          <a:prstGeom prst="rect">
            <a:avLst/>
          </a:prstGeom>
          <a:noFill/>
        </p:spPr>
        <p:txBody>
          <a:bodyPr wrap="square" rtlCol="0">
            <a:noAutofit/>
          </a:bodyPr>
          <a:p>
            <a:r>
              <a:rPr lang="en-US" sz="1200">
                <a:latin typeface="Cambria" panose="02040503050406030204" charset="0"/>
                <a:cs typeface="Cambria" panose="02040503050406030204" charset="0"/>
              </a:rPr>
              <a:t>~155% </a:t>
            </a:r>
            <a:endParaRPr lang="en-US" sz="1200">
              <a:latin typeface="Cambria" panose="02040503050406030204" charset="0"/>
              <a:cs typeface="Cambria" panose="02040503050406030204" charset="0"/>
            </a:endParaRPr>
          </a:p>
        </p:txBody>
      </p:sp>
      <p:sp>
        <p:nvSpPr>
          <p:cNvPr id="5" name="Text Box 4"/>
          <p:cNvSpPr txBox="1"/>
          <p:nvPr/>
        </p:nvSpPr>
        <p:spPr>
          <a:xfrm>
            <a:off x="4040505" y="6462395"/>
            <a:ext cx="3925570" cy="226060"/>
          </a:xfrm>
          <a:prstGeom prst="rect">
            <a:avLst/>
          </a:prstGeom>
          <a:noFill/>
        </p:spPr>
        <p:txBody>
          <a:bodyPr wrap="square" rtlCol="0">
            <a:noAutofit/>
          </a:bodyPr>
          <a:p>
            <a:r>
              <a:rPr lang="en-US" altLang="en-US" sz="1400" i="1">
                <a:latin typeface="Cambria" panose="02040503050406030204" charset="0"/>
                <a:cs typeface="Cambria" panose="02040503050406030204" charset="0"/>
              </a:rPr>
              <a:t>Fig 7:  Network Lifetime Comparision for 50 nodes</a:t>
            </a:r>
            <a:endParaRPr lang="en-US" altLang="en-US" sz="1400" i="1">
              <a:latin typeface="Cambria" panose="02040503050406030204" charset="0"/>
              <a:cs typeface="Cambria" panose="0204050305040603020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3243580" y="206375"/>
            <a:ext cx="5704840"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sym typeface="+mn-ea"/>
              </a:rPr>
              <a:t>Simulation Result Summary</a:t>
            </a:r>
            <a:endParaRPr lang="en-US" altLang="en-US" sz="3200" b="1">
              <a:latin typeface="Cambria" panose="02040503050406030204" charset="0"/>
              <a:cs typeface="Cambria" panose="02040503050406030204" charset="0"/>
            </a:endParaRPr>
          </a:p>
        </p:txBody>
      </p:sp>
      <p:graphicFrame>
        <p:nvGraphicFramePr>
          <p:cNvPr id="4" name="Table 3"/>
          <p:cNvGraphicFramePr/>
          <p:nvPr>
            <p:custDataLst>
              <p:tags r:id="rId1"/>
            </p:custDataLst>
          </p:nvPr>
        </p:nvGraphicFramePr>
        <p:xfrm>
          <a:off x="821055" y="1141095"/>
          <a:ext cx="10549890" cy="3640455"/>
        </p:xfrm>
        <a:graphic>
          <a:graphicData uri="http://schemas.openxmlformats.org/drawingml/2006/table">
            <a:tbl>
              <a:tblPr firstRow="1" bandRow="1">
                <a:tableStyleId>{5C22544A-7EE6-4342-B048-85BDC9FD1C3A}</a:tableStyleId>
              </a:tblPr>
              <a:tblGrid>
                <a:gridCol w="2257425"/>
                <a:gridCol w="2404110"/>
                <a:gridCol w="3143885"/>
                <a:gridCol w="2744470"/>
              </a:tblGrid>
              <a:tr h="520065">
                <a:tc gridSpan="4">
                  <a:txBody>
                    <a:bodyPr/>
                    <a:p>
                      <a:pPr algn="ctr">
                        <a:buNone/>
                      </a:pPr>
                      <a:r>
                        <a:rPr lang="en-US" sz="2000" b="0">
                          <a:solidFill>
                            <a:schemeClr val="tx1"/>
                          </a:solidFill>
                          <a:latin typeface="Cambria" panose="02040503050406030204" charset="0"/>
                          <a:cs typeface="Cambria" panose="02040503050406030204" charset="0"/>
                        </a:rPr>
                        <a:t>For Number of Nodes = 50</a:t>
                      </a:r>
                      <a:endParaRPr lang="en-US" sz="2000" b="0">
                        <a:solidFill>
                          <a:schemeClr val="tx1"/>
                        </a:solidFill>
                        <a:latin typeface="Cambria" panose="02040503050406030204" charset="0"/>
                        <a:cs typeface="Cambria" panose="02040503050406030204" charset="0"/>
                      </a:endParaRPr>
                    </a:p>
                  </a:txBody>
                  <a:tcPr anchor="ctr" anchorCtr="0">
                    <a:solidFill>
                      <a:schemeClr val="bg1">
                        <a:lumMod val="75000"/>
                      </a:schemeClr>
                    </a:solidFill>
                  </a:tcPr>
                </a:tc>
                <a:tc hMerge="1">
                  <a:tcPr anchor="ctr" anchorCtr="0">
                    <a:solidFill>
                      <a:schemeClr val="bg1">
                        <a:lumMod val="75000"/>
                      </a:schemeClr>
                    </a:solidFill>
                  </a:tcPr>
                </a:tc>
                <a:tc hMerge="1">
                  <a:tcPr anchor="ctr" anchorCtr="0">
                    <a:solidFill>
                      <a:schemeClr val="bg1">
                        <a:lumMod val="75000"/>
                      </a:schemeClr>
                    </a:solidFill>
                  </a:tcPr>
                </a:tc>
                <a:tc hMerge="1">
                  <a:tcPr anchor="ctr" anchorCtr="0">
                    <a:solidFill>
                      <a:schemeClr val="bg1">
                        <a:lumMod val="75000"/>
                      </a:schemeClr>
                    </a:solidFill>
                  </a:tcPr>
                </a:tc>
              </a:tr>
              <a:tr h="520065">
                <a:tc>
                  <a:txBody>
                    <a:bodyPr/>
                    <a:p>
                      <a:pPr>
                        <a:buNone/>
                      </a:pPr>
                      <a:r>
                        <a:rPr lang="en-US" sz="2000" b="0">
                          <a:solidFill>
                            <a:schemeClr val="tx1"/>
                          </a:solidFill>
                          <a:latin typeface="Cambria" panose="02040503050406030204" charset="0"/>
                          <a:cs typeface="Cambria" panose="02040503050406030204" charset="0"/>
                        </a:rPr>
                        <a:t>Milestone</a:t>
                      </a:r>
                      <a:endParaRPr lang="en-US" sz="2000" b="0">
                        <a:solidFill>
                          <a:schemeClr val="tx1"/>
                        </a:solidFill>
                        <a:latin typeface="Cambria" panose="02040503050406030204" charset="0"/>
                        <a:cs typeface="Cambria" panose="02040503050406030204" charset="0"/>
                      </a:endParaRPr>
                    </a:p>
                  </a:txBody>
                  <a:tcPr anchor="ctr" anchorCtr="0">
                    <a:solidFill>
                      <a:schemeClr val="bg1">
                        <a:lumMod val="75000"/>
                      </a:schemeClr>
                    </a:solidFill>
                  </a:tcPr>
                </a:tc>
                <a:tc>
                  <a:txBody>
                    <a:bodyPr/>
                    <a:p>
                      <a:pPr>
                        <a:buNone/>
                      </a:pPr>
                      <a:r>
                        <a:rPr lang="en-US" sz="2000" b="0">
                          <a:solidFill>
                            <a:schemeClr val="tx1"/>
                          </a:solidFill>
                          <a:latin typeface="Cambria" panose="02040503050406030204" charset="0"/>
                          <a:cs typeface="Cambria" panose="02040503050406030204" charset="0"/>
                        </a:rPr>
                        <a:t>Baseline DEECP</a:t>
                      </a:r>
                      <a:endParaRPr lang="en-US" sz="2000" b="0">
                        <a:solidFill>
                          <a:schemeClr val="tx1"/>
                        </a:solidFill>
                        <a:latin typeface="Cambria" panose="02040503050406030204" charset="0"/>
                        <a:cs typeface="Cambria" panose="02040503050406030204" charset="0"/>
                      </a:endParaRPr>
                    </a:p>
                  </a:txBody>
                  <a:tcPr anchor="ctr" anchorCtr="0">
                    <a:solidFill>
                      <a:schemeClr val="bg1">
                        <a:lumMod val="75000"/>
                      </a:schemeClr>
                    </a:solidFill>
                  </a:tcPr>
                </a:tc>
                <a:tc>
                  <a:txBody>
                    <a:bodyPr/>
                    <a:p>
                      <a:pPr>
                        <a:buNone/>
                      </a:pPr>
                      <a:r>
                        <a:rPr lang="en-US" sz="2000" b="0">
                          <a:solidFill>
                            <a:schemeClr val="tx1"/>
                          </a:solidFill>
                          <a:latin typeface="Cambria" panose="02040503050406030204" charset="0"/>
                          <a:cs typeface="Cambria" panose="02040503050406030204" charset="0"/>
                        </a:rPr>
                        <a:t>Enhanced DEECP</a:t>
                      </a:r>
                      <a:endParaRPr lang="en-US" sz="2000" b="0">
                        <a:solidFill>
                          <a:schemeClr val="tx1"/>
                        </a:solidFill>
                        <a:latin typeface="Cambria" panose="02040503050406030204" charset="0"/>
                        <a:cs typeface="Cambria" panose="02040503050406030204" charset="0"/>
                      </a:endParaRPr>
                    </a:p>
                  </a:txBody>
                  <a:tcPr anchor="ctr" anchorCtr="0">
                    <a:solidFill>
                      <a:schemeClr val="bg1">
                        <a:lumMod val="75000"/>
                      </a:schemeClr>
                    </a:solidFill>
                  </a:tcPr>
                </a:tc>
                <a:tc>
                  <a:txBody>
                    <a:bodyPr/>
                    <a:p>
                      <a:pPr>
                        <a:buNone/>
                      </a:pPr>
                      <a:r>
                        <a:rPr lang="en-US" sz="2000" b="0">
                          <a:solidFill>
                            <a:schemeClr val="tx1"/>
                          </a:solidFill>
                          <a:latin typeface="Cambria" panose="02040503050406030204" charset="0"/>
                          <a:cs typeface="Cambria" panose="02040503050406030204" charset="0"/>
                        </a:rPr>
                        <a:t>Q-Learning DEECP</a:t>
                      </a:r>
                      <a:endParaRPr lang="en-US" sz="2000" b="0">
                        <a:solidFill>
                          <a:schemeClr val="tx1"/>
                        </a:solidFill>
                        <a:latin typeface="Cambria" panose="02040503050406030204" charset="0"/>
                        <a:cs typeface="Cambria" panose="02040503050406030204" charset="0"/>
                      </a:endParaRPr>
                    </a:p>
                  </a:txBody>
                  <a:tcPr anchor="ctr" anchorCtr="0">
                    <a:solidFill>
                      <a:schemeClr val="bg1">
                        <a:lumMod val="75000"/>
                      </a:schemeClr>
                    </a:solidFill>
                  </a:tcPr>
                </a:tc>
              </a:tr>
              <a:tr h="520065">
                <a:tc>
                  <a:txBody>
                    <a:bodyPr/>
                    <a:p>
                      <a:pPr>
                        <a:buNone/>
                      </a:pPr>
                      <a:r>
                        <a:rPr lang="en-US" sz="2000">
                          <a:solidFill>
                            <a:schemeClr val="tx1"/>
                          </a:solidFill>
                          <a:latin typeface="Cambria" panose="02040503050406030204" charset="0"/>
                          <a:cs typeface="Cambria" panose="02040503050406030204" charset="0"/>
                        </a:rPr>
                        <a:t>1st Node Death</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1203</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315</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508</a:t>
                      </a:r>
                      <a:endParaRPr lang="en-US" sz="2000">
                        <a:solidFill>
                          <a:schemeClr val="tx1"/>
                        </a:solidFill>
                        <a:latin typeface="Cambria" panose="02040503050406030204" charset="0"/>
                        <a:cs typeface="Cambria" panose="02040503050406030204" charset="0"/>
                      </a:endParaRPr>
                    </a:p>
                  </a:txBody>
                  <a:tcPr/>
                </a:tc>
              </a:tr>
              <a:tr h="520065">
                <a:tc>
                  <a:txBody>
                    <a:bodyPr/>
                    <a:p>
                      <a:pPr>
                        <a:buNone/>
                      </a:pPr>
                      <a:r>
                        <a:rPr lang="en-US" sz="2000">
                          <a:solidFill>
                            <a:schemeClr val="tx1"/>
                          </a:solidFill>
                          <a:latin typeface="Cambria" panose="02040503050406030204" charset="0"/>
                          <a:cs typeface="Cambria" panose="02040503050406030204" charset="0"/>
                        </a:rPr>
                        <a:t>50% Node Death</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2128</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2117</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2596</a:t>
                      </a:r>
                      <a:endParaRPr lang="en-US" sz="2000">
                        <a:solidFill>
                          <a:schemeClr val="tx1"/>
                        </a:solidFill>
                        <a:latin typeface="Cambria" panose="02040503050406030204" charset="0"/>
                        <a:cs typeface="Cambria" panose="02040503050406030204" charset="0"/>
                      </a:endParaRPr>
                    </a:p>
                  </a:txBody>
                  <a:tcPr/>
                </a:tc>
              </a:tr>
              <a:tr h="520065">
                <a:tc>
                  <a:txBody>
                    <a:bodyPr/>
                    <a:p>
                      <a:pPr>
                        <a:buNone/>
                      </a:pPr>
                      <a:r>
                        <a:rPr lang="en-US" sz="2000">
                          <a:solidFill>
                            <a:schemeClr val="tx1"/>
                          </a:solidFill>
                          <a:latin typeface="Cambria" panose="02040503050406030204" charset="0"/>
                          <a:cs typeface="Cambria" panose="02040503050406030204" charset="0"/>
                        </a:rPr>
                        <a:t>90% Node Death</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3476</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5749</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6711</a:t>
                      </a:r>
                      <a:endParaRPr lang="en-US" sz="2000">
                        <a:solidFill>
                          <a:schemeClr val="tx1"/>
                        </a:solidFill>
                        <a:latin typeface="Cambria" panose="02040503050406030204" charset="0"/>
                        <a:cs typeface="Cambria" panose="02040503050406030204" charset="0"/>
                      </a:endParaRPr>
                    </a:p>
                  </a:txBody>
                  <a:tcPr/>
                </a:tc>
              </a:tr>
              <a:tr h="520065">
                <a:tc>
                  <a:txBody>
                    <a:bodyPr/>
                    <a:p>
                      <a:pPr>
                        <a:buNone/>
                      </a:pPr>
                      <a:r>
                        <a:rPr lang="en-US" sz="2000">
                          <a:solidFill>
                            <a:schemeClr val="tx1"/>
                          </a:solidFill>
                          <a:latin typeface="Cambria" panose="02040503050406030204" charset="0"/>
                          <a:cs typeface="Cambria" panose="02040503050406030204" charset="0"/>
                        </a:rPr>
                        <a:t>Last Node Death</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3842</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9705</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10700</a:t>
                      </a:r>
                      <a:endParaRPr lang="en-US" sz="2000">
                        <a:solidFill>
                          <a:schemeClr val="tx1"/>
                        </a:solidFill>
                        <a:latin typeface="Cambria" panose="02040503050406030204" charset="0"/>
                        <a:cs typeface="Cambria" panose="02040503050406030204" charset="0"/>
                      </a:endParaRPr>
                    </a:p>
                  </a:txBody>
                  <a:tcPr/>
                </a:tc>
              </a:tr>
              <a:tr h="520065">
                <a:tc>
                  <a:txBody>
                    <a:bodyPr/>
                    <a:p>
                      <a:pPr>
                        <a:buNone/>
                      </a:pPr>
                      <a:r>
                        <a:rPr lang="en-US" sz="2000">
                          <a:solidFill>
                            <a:schemeClr val="tx1"/>
                          </a:solidFill>
                          <a:latin typeface="Cambria" panose="02040503050406030204" charset="0"/>
                          <a:cs typeface="Cambria" panose="02040503050406030204" charset="0"/>
                        </a:rPr>
                        <a:t>Throughput</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70kbit/sec</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160kbit/sec</a:t>
                      </a:r>
                      <a:endParaRPr lang="en-US" sz="2000">
                        <a:solidFill>
                          <a:schemeClr val="tx1"/>
                        </a:solidFill>
                        <a:latin typeface="Cambria" panose="02040503050406030204" charset="0"/>
                        <a:cs typeface="Cambria" panose="02040503050406030204" charset="0"/>
                      </a:endParaRPr>
                    </a:p>
                  </a:txBody>
                  <a:tcPr/>
                </a:tc>
                <a:tc>
                  <a:txBody>
                    <a:bodyPr/>
                    <a:p>
                      <a:pPr>
                        <a:buNone/>
                      </a:pPr>
                      <a:r>
                        <a:rPr lang="en-US" sz="2000">
                          <a:solidFill>
                            <a:schemeClr val="tx1"/>
                          </a:solidFill>
                          <a:latin typeface="Cambria" panose="02040503050406030204" charset="0"/>
                          <a:cs typeface="Cambria" panose="02040503050406030204" charset="0"/>
                        </a:rPr>
                        <a:t>190kbits/sec</a:t>
                      </a:r>
                      <a:endParaRPr lang="en-US" sz="2000">
                        <a:solidFill>
                          <a:schemeClr val="tx1"/>
                        </a:solidFill>
                        <a:latin typeface="Cambria" panose="02040503050406030204" charset="0"/>
                        <a:cs typeface="Cambria" panose="02040503050406030204" charset="0"/>
                      </a:endParaRPr>
                    </a:p>
                  </a:txBody>
                  <a:tcPr/>
                </a:tc>
              </a:tr>
            </a:tbl>
          </a:graphicData>
        </a:graphic>
      </p:graphicFrame>
      <p:sp>
        <p:nvSpPr>
          <p:cNvPr id="5" name="Text Box 4"/>
          <p:cNvSpPr txBox="1"/>
          <p:nvPr/>
        </p:nvSpPr>
        <p:spPr>
          <a:xfrm>
            <a:off x="821055" y="5238115"/>
            <a:ext cx="3787775" cy="922020"/>
          </a:xfrm>
          <a:prstGeom prst="rect">
            <a:avLst/>
          </a:prstGeom>
          <a:noFill/>
        </p:spPr>
        <p:txBody>
          <a:bodyPr wrap="square" rtlCol="0" anchor="t">
            <a:spAutoFit/>
          </a:bodyPr>
          <a:p>
            <a:pPr marL="285750" indent="-285750" algn="just">
              <a:buFont typeface="Wingdings" panose="05000000000000000000" charset="0"/>
              <a:buChar char="v"/>
            </a:pPr>
            <a:r>
              <a:rPr lang="en-US" altLang="en-US">
                <a:latin typeface="Cambria" panose="02040503050406030204" charset="0"/>
                <a:cs typeface="Cambria" panose="02040503050406030204" charset="0"/>
                <a:sym typeface="+mn-ea"/>
              </a:rPr>
              <a:t>QL-DEECP vs Baseline DEECP</a:t>
            </a:r>
            <a:endParaRPr lang="en-US" altLang="en-US">
              <a:latin typeface="Cambria" panose="02040503050406030204" charset="0"/>
              <a:cs typeface="Cambria" panose="02040503050406030204" charset="0"/>
            </a:endParaRPr>
          </a:p>
          <a:p>
            <a:pPr marL="742950" lvl="1" indent="-285750" algn="just">
              <a:buFont typeface="Arial" panose="020B0604020202020204" pitchFamily="34" charset="0"/>
              <a:buChar char="•"/>
            </a:pPr>
            <a:r>
              <a:rPr lang="en-US" altLang="en-US">
                <a:latin typeface="Cambria" panose="02040503050406030204" charset="0"/>
                <a:cs typeface="Cambria" panose="02040503050406030204" charset="0"/>
                <a:sym typeface="+mn-ea"/>
              </a:rPr>
              <a:t>+160% Network Lifetime</a:t>
            </a:r>
            <a:endParaRPr lang="en-US" altLang="en-US">
              <a:latin typeface="Cambria" panose="02040503050406030204" charset="0"/>
              <a:cs typeface="Cambria" panose="02040503050406030204" charset="0"/>
            </a:endParaRPr>
          </a:p>
          <a:p>
            <a:pPr marL="742950" lvl="1" indent="-285750" algn="just">
              <a:buFont typeface="Arial" panose="020B0604020202020204" pitchFamily="34" charset="0"/>
              <a:buChar char="•"/>
            </a:pPr>
            <a:r>
              <a:rPr lang="en-US" altLang="en-US">
                <a:latin typeface="Cambria" panose="02040503050406030204" charset="0"/>
                <a:cs typeface="Cambria" panose="02040503050406030204" charset="0"/>
                <a:sym typeface="+mn-ea"/>
              </a:rPr>
              <a:t>+140% Throughput</a:t>
            </a:r>
            <a:endParaRPr lang="en-US" altLang="en-US">
              <a:latin typeface="Cambria" panose="02040503050406030204" charset="0"/>
              <a:cs typeface="Cambria" panose="02040503050406030204" charset="0"/>
              <a:sym typeface="+mn-ea"/>
            </a:endParaRPr>
          </a:p>
        </p:txBody>
      </p:sp>
      <p:sp>
        <p:nvSpPr>
          <p:cNvPr id="6" name="Text Box 5"/>
          <p:cNvSpPr txBox="1"/>
          <p:nvPr/>
        </p:nvSpPr>
        <p:spPr>
          <a:xfrm>
            <a:off x="6737350" y="5238115"/>
            <a:ext cx="4633595" cy="921385"/>
          </a:xfrm>
          <a:prstGeom prst="rect">
            <a:avLst/>
          </a:prstGeom>
          <a:noFill/>
        </p:spPr>
        <p:txBody>
          <a:bodyPr wrap="square" rtlCol="0">
            <a:noAutofit/>
          </a:bodyPr>
          <a:p>
            <a:pPr marL="285750" indent="-285750" algn="just">
              <a:buFont typeface="Wingdings" panose="05000000000000000000" charset="0"/>
              <a:buChar char="v"/>
            </a:pPr>
            <a:r>
              <a:rPr lang="en-US" altLang="en-US">
                <a:latin typeface="Cambria" panose="02040503050406030204" charset="0"/>
                <a:cs typeface="Cambria" panose="02040503050406030204" charset="0"/>
                <a:sym typeface="+mn-ea"/>
              </a:rPr>
              <a:t>QL-DEECP vs Enhanced DEECP (E-DEECP)</a:t>
            </a:r>
            <a:endParaRPr lang="en-US" altLang="en-US">
              <a:latin typeface="Cambria" panose="02040503050406030204" charset="0"/>
              <a:cs typeface="Cambria" panose="02040503050406030204" charset="0"/>
            </a:endParaRPr>
          </a:p>
          <a:p>
            <a:pPr marL="742950" lvl="1" indent="-285750" algn="just">
              <a:buFont typeface="Arial" panose="020B0604020202020204" pitchFamily="34" charset="0"/>
              <a:buChar char="•"/>
            </a:pPr>
            <a:r>
              <a:rPr lang="en-US" altLang="en-US">
                <a:latin typeface="Cambria" panose="02040503050406030204" charset="0"/>
                <a:cs typeface="Cambria" panose="02040503050406030204" charset="0"/>
                <a:sym typeface="+mn-ea"/>
              </a:rPr>
              <a:t>+10% Network Lifetime</a:t>
            </a:r>
            <a:endParaRPr lang="en-US" altLang="en-US">
              <a:latin typeface="Cambria" panose="02040503050406030204" charset="0"/>
              <a:cs typeface="Cambria" panose="02040503050406030204" charset="0"/>
            </a:endParaRPr>
          </a:p>
          <a:p>
            <a:pPr marL="742950" lvl="1" indent="-285750" algn="just">
              <a:buFont typeface="Arial" panose="020B0604020202020204" pitchFamily="34" charset="0"/>
              <a:buChar char="•"/>
            </a:pPr>
            <a:r>
              <a:rPr lang="en-US" altLang="en-US">
                <a:latin typeface="Cambria" panose="02040503050406030204" charset="0"/>
                <a:cs typeface="Cambria" panose="02040503050406030204" charset="0"/>
                <a:sym typeface="+mn-ea"/>
              </a:rPr>
              <a:t>+13% Throughput</a:t>
            </a:r>
            <a:endParaRPr lang="en-US" altLang="en-US">
              <a:latin typeface="Cambria" panose="02040503050406030204" charset="0"/>
              <a:cs typeface="Cambria" panose="02040503050406030204" charset="0"/>
              <a:sym typeface="+mn-ea"/>
            </a:endParaRPr>
          </a:p>
          <a:p>
            <a:pPr algn="just"/>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930775" y="193040"/>
            <a:ext cx="233108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Conclusion</a:t>
            </a:r>
            <a:endParaRPr lang="en-US" altLang="en-US" sz="3200" b="1">
              <a:latin typeface="Cambria" panose="02040503050406030204" charset="0"/>
              <a:cs typeface="Cambria" panose="02040503050406030204" charset="0"/>
            </a:endParaRPr>
          </a:p>
        </p:txBody>
      </p:sp>
      <p:sp>
        <p:nvSpPr>
          <p:cNvPr id="4" name="Text Box 3"/>
          <p:cNvSpPr txBox="1"/>
          <p:nvPr/>
        </p:nvSpPr>
        <p:spPr>
          <a:xfrm>
            <a:off x="1370965" y="1189355"/>
            <a:ext cx="9418320" cy="4868545"/>
          </a:xfrm>
          <a:prstGeom prst="rect">
            <a:avLst/>
          </a:prstGeom>
          <a:noFill/>
        </p:spPr>
        <p:txBody>
          <a:bodyPr wrap="square" rtlCol="0">
            <a:noAutofit/>
          </a:bodyPr>
          <a:p>
            <a:pPr marL="285750" indent="-285750" algn="just">
              <a:buFont typeface="Wingdings" panose="05000000000000000000" charset="0"/>
              <a:buChar char="v"/>
            </a:pPr>
            <a:r>
              <a:rPr lang="en-US" altLang="en-US" sz="2000">
                <a:latin typeface="Cambria" panose="02040503050406030204" charset="0"/>
                <a:cs typeface="Cambria" panose="02040503050406030204" charset="0"/>
              </a:rPr>
              <a:t>QL-DEECP achieves the best performance, extending total network lifetime by up to +160% over Baseline and +10% over Enhanced DEECP.</a:t>
            </a:r>
            <a:endParaRPr lang="en-US" altLang="en-US" sz="2000">
              <a:latin typeface="Cambria" panose="02040503050406030204" charset="0"/>
              <a:cs typeface="Cambria" panose="02040503050406030204" charset="0"/>
            </a:endParaRPr>
          </a:p>
          <a:p>
            <a:pPr marL="285750" indent="-285750" algn="just">
              <a:buFont typeface="Wingdings" panose="05000000000000000000" charset="0"/>
              <a:buChar char="v"/>
            </a:pPr>
            <a:endParaRPr lang="en-US" altLang="en-US" sz="2000">
              <a:latin typeface="Cambria" panose="02040503050406030204" charset="0"/>
              <a:cs typeface="Cambria" panose="02040503050406030204" charset="0"/>
            </a:endParaRPr>
          </a:p>
          <a:p>
            <a:pPr marL="285750" indent="-285750" algn="just">
              <a:buFont typeface="Wingdings" panose="05000000000000000000" charset="0"/>
              <a:buChar char="v"/>
            </a:pPr>
            <a:r>
              <a:rPr lang="en-US" altLang="en-US" sz="2000">
                <a:latin typeface="Cambria" panose="02040503050406030204" charset="0"/>
                <a:cs typeface="Cambria" panose="02040503050406030204" charset="0"/>
              </a:rPr>
              <a:t>Throughput improves significantly, reaching +140% over Baseline and +13% over Enhanced DEECP.</a:t>
            </a:r>
            <a:endParaRPr lang="en-US" altLang="en-US" sz="2000">
              <a:latin typeface="Cambria" panose="02040503050406030204" charset="0"/>
              <a:cs typeface="Cambria" panose="02040503050406030204" charset="0"/>
            </a:endParaRPr>
          </a:p>
          <a:p>
            <a:pPr marL="285750" indent="-285750" algn="just">
              <a:buFont typeface="Wingdings" panose="05000000000000000000" charset="0"/>
              <a:buChar char="v"/>
            </a:pPr>
            <a:endParaRPr lang="en-US" altLang="en-US" sz="2000">
              <a:latin typeface="Cambria" panose="02040503050406030204" charset="0"/>
              <a:cs typeface="Cambria" panose="02040503050406030204" charset="0"/>
            </a:endParaRPr>
          </a:p>
          <a:p>
            <a:pPr marL="285750" indent="-285750" algn="just">
              <a:buFont typeface="Wingdings" panose="05000000000000000000" charset="0"/>
              <a:buChar char="v"/>
            </a:pPr>
            <a:r>
              <a:rPr lang="en-US" altLang="en-US" sz="2000">
                <a:latin typeface="Cambria" panose="02040503050406030204" charset="0"/>
                <a:cs typeface="Cambria" panose="02040503050406030204" charset="0"/>
              </a:rPr>
              <a:t>Q-learning enables adaptive, energy-aware CH selection, reducing premature node deaths and balancing load across the network.</a:t>
            </a:r>
            <a:endParaRPr lang="en-US" altLang="en-US" sz="2000">
              <a:latin typeface="Cambria" panose="02040503050406030204" charset="0"/>
              <a:cs typeface="Cambria" panose="02040503050406030204" charset="0"/>
            </a:endParaRPr>
          </a:p>
          <a:p>
            <a:pPr marL="285750" indent="-285750" algn="just">
              <a:buFont typeface="Wingdings" panose="05000000000000000000" charset="0"/>
              <a:buChar char="v"/>
            </a:pPr>
            <a:endParaRPr lang="en-US" altLang="en-US" sz="2000">
              <a:latin typeface="Cambria" panose="02040503050406030204" charset="0"/>
              <a:cs typeface="Cambria" panose="02040503050406030204" charset="0"/>
            </a:endParaRPr>
          </a:p>
          <a:p>
            <a:pPr marL="285750" indent="-285750" algn="just">
              <a:buFont typeface="Wingdings" panose="05000000000000000000" charset="0"/>
              <a:buChar char="v"/>
            </a:pPr>
            <a:r>
              <a:rPr lang="en-US" altLang="en-US" sz="2000">
                <a:latin typeface="Cambria" panose="02040503050406030204" charset="0"/>
                <a:cs typeface="Cambria" panose="02040503050406030204" charset="0"/>
              </a:rPr>
              <a:t>Overall, QL-DEECP provides the most stable, energy-efficient, and high-throughput operation for homogeneous WSNs.</a:t>
            </a:r>
            <a:endParaRPr lang="en-US" altLang="en-US" sz="2000">
              <a:latin typeface="Cambria" panose="02040503050406030204" charset="0"/>
              <a:cs typeface="Cambria" panose="02040503050406030204" charset="0"/>
            </a:endParaRPr>
          </a:p>
          <a:p>
            <a:pPr marL="285750" indent="-285750" algn="just">
              <a:buFont typeface="Wingdings" panose="05000000000000000000" charset="0"/>
              <a:buChar char="v"/>
            </a:pPr>
            <a:endParaRPr lang="en-US" altLang="en-US" sz="2000">
              <a:latin typeface="Cambria" panose="02040503050406030204" charset="0"/>
              <a:cs typeface="Cambria" panose="0204050305040603020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3453130" y="168275"/>
            <a:ext cx="4806950"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sym typeface="+mn-ea"/>
              </a:rPr>
              <a:t>Future Work Motivation</a:t>
            </a:r>
            <a:endParaRPr lang="en-US" altLang="en-US" sz="3200" b="1">
              <a:latin typeface="Cambria" panose="02040503050406030204" charset="0"/>
              <a:cs typeface="Cambria" panose="02040503050406030204" charset="0"/>
            </a:endParaRPr>
          </a:p>
        </p:txBody>
      </p:sp>
      <p:sp>
        <p:nvSpPr>
          <p:cNvPr id="4" name="Text Box 3"/>
          <p:cNvSpPr txBox="1"/>
          <p:nvPr/>
        </p:nvSpPr>
        <p:spPr>
          <a:xfrm>
            <a:off x="1514475" y="1218565"/>
            <a:ext cx="8683625" cy="3046095"/>
          </a:xfrm>
          <a:prstGeom prst="rect">
            <a:avLst/>
          </a:prstGeom>
          <a:noFill/>
        </p:spPr>
        <p:txBody>
          <a:bodyPr wrap="square" rtlCol="0">
            <a:noAutofit/>
          </a:bodyPr>
          <a:p>
            <a:pPr marL="285750" indent="-285750" algn="just">
              <a:buFont typeface="Wingdings" panose="05000000000000000000" charset="0"/>
              <a:buChar char="v"/>
            </a:pPr>
            <a:r>
              <a:rPr lang="en-US" altLang="en-US" sz="2000">
                <a:latin typeface="Cambria" panose="02040503050406030204" charset="0"/>
                <a:cs typeface="Cambria" panose="02040503050406030204" charset="0"/>
              </a:rPr>
              <a:t>Limitations of QL-DEECP </a:t>
            </a:r>
            <a:endParaRPr lang="en-US" altLang="en-US" sz="2000">
              <a:latin typeface="Cambria" panose="02040503050406030204" charset="0"/>
              <a:cs typeface="Cambria" panose="02040503050406030204" charset="0"/>
            </a:endParaRPr>
          </a:p>
          <a:p>
            <a:pPr marL="800100" lvl="1" indent="-342900" algn="just">
              <a:buFont typeface="Arial" panose="020B0604020202020204" pitchFamily="34" charset="0"/>
              <a:buChar char="•"/>
            </a:pPr>
            <a:r>
              <a:rPr lang="en-US" altLang="en-US" sz="2000">
                <a:latin typeface="Cambria" panose="02040503050406030204" charset="0"/>
                <a:cs typeface="Cambria" panose="02040503050406030204" charset="0"/>
              </a:rPr>
              <a:t>No spatial cluster optimization</a:t>
            </a:r>
            <a:endParaRPr lang="en-US" altLang="en-US" sz="2000">
              <a:latin typeface="Cambria" panose="02040503050406030204" charset="0"/>
              <a:cs typeface="Cambria" panose="02040503050406030204" charset="0"/>
            </a:endParaRPr>
          </a:p>
          <a:p>
            <a:pPr marL="800100" lvl="1" indent="-342900" algn="just">
              <a:buFont typeface="Arial" panose="020B0604020202020204" pitchFamily="34" charset="0"/>
              <a:buChar char="•"/>
            </a:pPr>
            <a:r>
              <a:rPr lang="en-US" altLang="en-US" sz="2000">
                <a:latin typeface="Cambria" panose="02040503050406030204" charset="0"/>
                <a:cs typeface="Cambria" panose="02040503050406030204" charset="0"/>
              </a:rPr>
              <a:t>Lacks multi-hop routing</a:t>
            </a:r>
            <a:endParaRPr lang="en-US" altLang="en-US" sz="2000">
              <a:latin typeface="Cambria" panose="02040503050406030204" charset="0"/>
              <a:cs typeface="Cambria" panose="02040503050406030204" charset="0"/>
            </a:endParaRPr>
          </a:p>
          <a:p>
            <a:pPr marL="800100" lvl="1" indent="-342900" algn="just">
              <a:buFont typeface="Arial" panose="020B0604020202020204" pitchFamily="34" charset="0"/>
              <a:buChar char="•"/>
            </a:pPr>
            <a:r>
              <a:rPr lang="en-US" altLang="en-US" sz="2000">
                <a:latin typeface="Cambria" panose="02040503050406030204" charset="0"/>
                <a:cs typeface="Cambria" panose="02040503050406030204" charset="0"/>
              </a:rPr>
              <a:t>Limited state representation (It does not capture complex features such as node density, cluster load, PDR)</a:t>
            </a:r>
            <a:endParaRPr lang="en-US" altLang="en-US" sz="2000">
              <a:latin typeface="Cambria" panose="02040503050406030204" charset="0"/>
              <a:cs typeface="Cambria" panose="02040503050406030204" charset="0"/>
            </a:endParaRPr>
          </a:p>
          <a:p>
            <a:pPr marL="800100" lvl="1" indent="-342900" algn="just">
              <a:buFont typeface="Arial" panose="020B0604020202020204" pitchFamily="34" charset="0"/>
              <a:buChar char="•"/>
            </a:pPr>
            <a:r>
              <a:rPr lang="en-US" altLang="en-US" sz="2000">
                <a:latin typeface="Cambria" panose="02040503050406030204" charset="0"/>
                <a:cs typeface="Cambria" panose="02040503050406030204" charset="0"/>
              </a:rPr>
              <a:t>Does NOT support node/BS mobility</a:t>
            </a:r>
            <a:endParaRPr lang="en-US" altLang="en-US" sz="2000">
              <a:latin typeface="Cambria" panose="02040503050406030204" charset="0"/>
              <a:cs typeface="Cambria" panose="02040503050406030204"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843145" y="20320"/>
            <a:ext cx="2637790"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sym typeface="+mn-ea"/>
              </a:rPr>
              <a:t>Future Work</a:t>
            </a:r>
            <a:endParaRPr lang="en-US" altLang="en-US" sz="3200" b="1">
              <a:latin typeface="Cambria" panose="02040503050406030204" charset="0"/>
              <a:cs typeface="Cambria" panose="02040503050406030204" charset="0"/>
            </a:endParaRPr>
          </a:p>
        </p:txBody>
      </p:sp>
      <p:sp>
        <p:nvSpPr>
          <p:cNvPr id="5" name="Text Box 4"/>
          <p:cNvSpPr txBox="1"/>
          <p:nvPr/>
        </p:nvSpPr>
        <p:spPr>
          <a:xfrm>
            <a:off x="3937000" y="6514465"/>
            <a:ext cx="4394200" cy="211455"/>
          </a:xfrm>
          <a:prstGeom prst="rect">
            <a:avLst/>
          </a:prstGeom>
          <a:noFill/>
        </p:spPr>
        <p:txBody>
          <a:bodyPr wrap="square" rtlCol="0">
            <a:noAutofit/>
          </a:bodyPr>
          <a:p>
            <a:r>
              <a:rPr lang="en-US" altLang="en-US" sz="1400" i="1">
                <a:latin typeface="Cambria" panose="02040503050406030204" charset="0"/>
                <a:cs typeface="Cambria" panose="02040503050406030204" charset="0"/>
              </a:rPr>
              <a:t>Fig 8:  Reinforcement Learning driven Hybrid Clustering</a:t>
            </a:r>
            <a:endParaRPr lang="en-US" altLang="en-US" sz="1400" i="1">
              <a:latin typeface="Cambria" panose="02040503050406030204" charset="0"/>
              <a:cs typeface="Cambria" panose="02040503050406030204" charset="0"/>
            </a:endParaRPr>
          </a:p>
        </p:txBody>
      </p:sp>
      <p:pic>
        <p:nvPicPr>
          <p:cNvPr id="4" name="Picture 3" descr="abstract - Copy (1)"/>
          <p:cNvPicPr>
            <a:picLocks noChangeAspect="1"/>
          </p:cNvPicPr>
          <p:nvPr/>
        </p:nvPicPr>
        <p:blipFill>
          <a:blip r:embed="rId1"/>
          <a:stretch>
            <a:fillRect/>
          </a:stretch>
        </p:blipFill>
        <p:spPr>
          <a:xfrm>
            <a:off x="1273175" y="694690"/>
            <a:ext cx="9680575" cy="57404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787900" y="140335"/>
            <a:ext cx="2616835" cy="619760"/>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References</a:t>
            </a:r>
            <a:endParaRPr lang="en-US" altLang="en-US" sz="3200" b="1">
              <a:latin typeface="Cambria" panose="02040503050406030204" charset="0"/>
              <a:cs typeface="Cambria" panose="02040503050406030204" charset="0"/>
            </a:endParaRPr>
          </a:p>
        </p:txBody>
      </p:sp>
      <p:graphicFrame>
        <p:nvGraphicFramePr>
          <p:cNvPr id="5" name="Table 4"/>
          <p:cNvGraphicFramePr/>
          <p:nvPr>
            <p:custDataLst>
              <p:tags r:id="rId1"/>
            </p:custDataLst>
          </p:nvPr>
        </p:nvGraphicFramePr>
        <p:xfrm>
          <a:off x="424180" y="833120"/>
          <a:ext cx="11409680" cy="5774690"/>
        </p:xfrm>
        <a:graphic>
          <a:graphicData uri="http://schemas.openxmlformats.org/drawingml/2006/table">
            <a:tbl>
              <a:tblPr firstRow="1" bandRow="1">
                <a:tableStyleId>{5C22544A-7EE6-4342-B048-85BDC9FD1C3A}</a:tableStyleId>
              </a:tblPr>
              <a:tblGrid>
                <a:gridCol w="11409680"/>
              </a:tblGrid>
              <a:tr h="406400">
                <a:tc>
                  <a:txBody>
                    <a:bodyPr/>
                    <a:p>
                      <a:pPr>
                        <a:buNone/>
                      </a:pPr>
                      <a:r>
                        <a:rPr lang="en-US" sz="1800" b="0">
                          <a:solidFill>
                            <a:schemeClr val="tx1"/>
                          </a:solidFill>
                          <a:latin typeface="Cambria" panose="02040503050406030204" charset="0"/>
                          <a:cs typeface="Cambria" panose="02040503050406030204" charset="0"/>
                        </a:rPr>
                        <a:t>[1] </a:t>
                      </a:r>
                      <a:r>
                        <a:rPr lang="en-US" sz="1800" b="0">
                          <a:solidFill>
                            <a:schemeClr val="tx1"/>
                          </a:solidFill>
                          <a:latin typeface="Cambria" panose="02040503050406030204" charset="0"/>
                          <a:cs typeface="Cambria" panose="02040503050406030204" charset="0"/>
                          <a:sym typeface="+mn-ea"/>
                        </a:rPr>
                        <a:t>Online </a:t>
                      </a:r>
                      <a:r>
                        <a:rPr lang="en-US" sz="1800" b="0">
                          <a:solidFill>
                            <a:schemeClr val="tx1"/>
                          </a:solidFill>
                          <a:latin typeface="Cambria" panose="02040503050406030204" charset="0"/>
                          <a:cs typeface="Cambria" panose="02040503050406030204" charset="0"/>
                          <a:sym typeface="+mn-ea"/>
                        </a:rPr>
                        <a:t>Data Source: </a:t>
                      </a:r>
                      <a:r>
                        <a:rPr lang="en-US" altLang="en-US" sz="1800" b="0">
                          <a:solidFill>
                            <a:schemeClr val="tx1"/>
                          </a:solidFill>
                          <a:latin typeface="Cambria" panose="02040503050406030204" charset="0"/>
                          <a:cs typeface="Cambria" panose="02040503050406030204" charset="0"/>
                          <a:sym typeface="+mn-ea"/>
                        </a:rPr>
                        <a:t>Directorate General of Mines Safety (DGMS) - https://www.dgms.gov.in</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[2] </a:t>
                      </a:r>
                      <a:r>
                        <a:rPr lang="en-US" sz="1800">
                          <a:solidFill>
                            <a:schemeClr val="tx1"/>
                          </a:solidFill>
                          <a:latin typeface="Cambria" panose="02040503050406030204" charset="0"/>
                          <a:cs typeface="Cambria" panose="02040503050406030204" charset="0"/>
                          <a:sym typeface="+mn-ea"/>
                        </a:rPr>
                        <a:t>Online Data Source: </a:t>
                      </a:r>
                      <a:r>
                        <a:rPr lang="en-US" altLang="en-US" sz="1800" b="0">
                          <a:solidFill>
                            <a:schemeClr val="tx1"/>
                          </a:solidFill>
                          <a:latin typeface="Cambria" panose="02040503050406030204" charset="0"/>
                          <a:cs typeface="Cambria" panose="02040503050406030204" charset="0"/>
                        </a:rPr>
                        <a:t>https://www.assocham.org/uploads/files/Study_Indian%20Mineral%202022.pdf</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[3] S. Saha, S. C. Bakshi, A. Pramanik and R. Lakshmanan, "On Underground Coal Mine Environment Monitoring with LoRa Range Extension," 2023 </a:t>
                      </a:r>
                      <a:r>
                        <a:rPr lang="en-US" altLang="en-US" sz="1800" b="0" i="1">
                          <a:solidFill>
                            <a:schemeClr val="tx1"/>
                          </a:solidFill>
                          <a:latin typeface="Cambria" panose="02040503050406030204" charset="0"/>
                          <a:cs typeface="Cambria" panose="02040503050406030204" charset="0"/>
                        </a:rPr>
                        <a:t>5th International Conference on Energy, Power and Environmen</a:t>
                      </a:r>
                      <a:r>
                        <a:rPr lang="en-US" altLang="en-US" sz="1800" b="0">
                          <a:solidFill>
                            <a:schemeClr val="tx1"/>
                          </a:solidFill>
                          <a:latin typeface="Cambria" panose="02040503050406030204" charset="0"/>
                          <a:cs typeface="Cambria" panose="02040503050406030204" charset="0"/>
                        </a:rPr>
                        <a:t>t: Towards Flexible Green Energy Technologies (ICEPE), Shillong, India, 2023, pp. 1-6, doi: 10.1109/ICEPE57949.2023.10201552.</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[4] M. Amanzadeh, S. M. Aminossadati, M. S. Kizil, E. Sheridan and W. P. Bowen, "A microfabricated fibre optic sensor for methane gas measurement in underground coal mines," 2012 </a:t>
                      </a:r>
                      <a:r>
                        <a:rPr lang="en-US" altLang="en-US" sz="1800" b="0" i="1">
                          <a:solidFill>
                            <a:schemeClr val="tx1"/>
                          </a:solidFill>
                          <a:latin typeface="Cambria" panose="02040503050406030204" charset="0"/>
                          <a:cs typeface="Cambria" panose="02040503050406030204" charset="0"/>
                        </a:rPr>
                        <a:t>Photonics Global Conference (PGC</a:t>
                      </a:r>
                      <a:r>
                        <a:rPr lang="en-US" altLang="en-US" sz="1800" b="0">
                          <a:solidFill>
                            <a:schemeClr val="tx1"/>
                          </a:solidFill>
                          <a:latin typeface="Cambria" panose="02040503050406030204" charset="0"/>
                          <a:cs typeface="Cambria" panose="02040503050406030204" charset="0"/>
                        </a:rPr>
                        <a:t>), Singapore, 2012, pp. 1-5, doi: 10.1109/PGC.2012.6457999</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[5]</a:t>
                      </a:r>
                      <a:r>
                        <a:rPr lang="en-US" sz="1800">
                          <a:solidFill>
                            <a:schemeClr val="tx1"/>
                          </a:solidFill>
                          <a:latin typeface="Cambria" panose="02040503050406030204" charset="0"/>
                          <a:cs typeface="Cambria" panose="02040503050406030204" charset="0"/>
                          <a:sym typeface="+mn-ea"/>
                        </a:rPr>
                        <a:t> </a:t>
                      </a:r>
                      <a:r>
                        <a:rPr lang="en-US" altLang="en-US" sz="1800">
                          <a:solidFill>
                            <a:schemeClr val="tx1"/>
                          </a:solidFill>
                          <a:latin typeface="Cambria" panose="02040503050406030204" charset="0"/>
                          <a:cs typeface="Cambria" panose="02040503050406030204" charset="0"/>
                          <a:sym typeface="+mn-ea"/>
                        </a:rPr>
                        <a:t>B. R. Al-Kaseem, Z. K. Taha, S. W. Abdulmajeedand H. S. Al-Raweshidy, “</a:t>
                      </a:r>
                      <a:r>
                        <a:rPr lang="en-US" altLang="en-US" sz="1800" i="1">
                          <a:solidFill>
                            <a:schemeClr val="tx1"/>
                          </a:solidFill>
                          <a:latin typeface="Cambria" panose="02040503050406030204" charset="0"/>
                          <a:cs typeface="Cambria" panose="02040503050406030204" charset="0"/>
                          <a:sym typeface="+mn-ea"/>
                        </a:rPr>
                        <a:t>Optimized energy–efficient path planning strategy in WSN with multiple mobile sinks</a:t>
                      </a:r>
                      <a:r>
                        <a:rPr lang="en-US" altLang="en-US" sz="1800">
                          <a:solidFill>
                            <a:schemeClr val="tx1"/>
                          </a:solidFill>
                          <a:latin typeface="Cambria" panose="02040503050406030204" charset="0"/>
                          <a:cs typeface="Cambria" panose="02040503050406030204" charset="0"/>
                          <a:sym typeface="+mn-ea"/>
                        </a:rPr>
                        <a:t>,”</a:t>
                      </a:r>
                      <a:r>
                        <a:rPr lang="en-US" altLang="en-US" sz="1800" i="1">
                          <a:solidFill>
                            <a:schemeClr val="tx1"/>
                          </a:solidFill>
                          <a:latin typeface="Cambria" panose="02040503050406030204" charset="0"/>
                          <a:cs typeface="Cambria" panose="02040503050406030204" charset="0"/>
                          <a:sym typeface="+mn-ea"/>
                        </a:rPr>
                        <a:t> IEEE Access, vol. 9</a:t>
                      </a:r>
                      <a:r>
                        <a:rPr lang="en-US" altLang="en-US" sz="1800">
                          <a:solidFill>
                            <a:schemeClr val="tx1"/>
                          </a:solidFill>
                          <a:latin typeface="Cambria" panose="02040503050406030204" charset="0"/>
                          <a:cs typeface="Cambria" panose="02040503050406030204" charset="0"/>
                          <a:sym typeface="+mn-ea"/>
                        </a:rPr>
                        <a:t>, pp. 79994–80007, Jun. 2021, doi: 10.1109/ACCESS.2021.3087086</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[6] </a:t>
                      </a:r>
                      <a:r>
                        <a:rPr lang="en-US" altLang="en-US" sz="1800">
                          <a:solidFill>
                            <a:schemeClr val="tx1"/>
                          </a:solidFill>
                          <a:latin typeface="Cambria" panose="02040503050406030204" charset="0"/>
                          <a:cs typeface="Cambria" panose="02040503050406030204" charset="0"/>
                          <a:sym typeface="+mn-ea"/>
                        </a:rPr>
                        <a:t>R. Alsaqour, E. S. Ali, R. A. Mokhtar, R. A. Saeed, H. Alhumyaniand M. Abdelhaq,</a:t>
                      </a:r>
                      <a:r>
                        <a:rPr lang="en-US" altLang="en-US" sz="1800">
                          <a:solidFill>
                            <a:schemeClr val="tx1"/>
                          </a:solidFill>
                          <a:latin typeface="Cambria" panose="02040503050406030204" charset="0"/>
                          <a:cs typeface="Cambria" panose="02040503050406030204" charset="0"/>
                          <a:sym typeface="+mn-ea"/>
                        </a:rPr>
                        <a:t> “Efficient energy mechanism in heterogeneous WSNs for underground mining monitoring applications,” </a:t>
                      </a:r>
                      <a:r>
                        <a:rPr lang="en-US" altLang="en-US" sz="1800" i="1">
                          <a:solidFill>
                            <a:schemeClr val="tx1"/>
                          </a:solidFill>
                          <a:latin typeface="Cambria" panose="02040503050406030204" charset="0"/>
                          <a:cs typeface="Cambria" panose="02040503050406030204" charset="0"/>
                          <a:sym typeface="+mn-ea"/>
                        </a:rPr>
                        <a:t>IEEE Access, vol. 10, pp</a:t>
                      </a:r>
                      <a:r>
                        <a:rPr lang="en-US" altLang="en-US" sz="1800">
                          <a:solidFill>
                            <a:schemeClr val="tx1"/>
                          </a:solidFill>
                          <a:latin typeface="Cambria" panose="02040503050406030204" charset="0"/>
                          <a:cs typeface="Cambria" panose="02040503050406030204" charset="0"/>
                          <a:sym typeface="+mn-ea"/>
                        </a:rPr>
                        <a:t>. 100123–100138, Jul. 2022, doi: 10.1109/ACCESS.2022.3188654.</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[7] </a:t>
                      </a:r>
                      <a:r>
                        <a:rPr lang="en-US" altLang="en-US" sz="1800">
                          <a:solidFill>
                            <a:schemeClr val="tx1"/>
                          </a:solidFill>
                          <a:latin typeface="Cambria" panose="02040503050406030204" charset="0"/>
                          <a:cs typeface="Cambria" panose="02040503050406030204" charset="0"/>
                          <a:sym typeface="+mn-ea"/>
                        </a:rPr>
                        <a:t>F. M. Salman, A. A. Mohammedand A. F. Mutar, “</a:t>
                      </a:r>
                      <a:r>
                        <a:rPr lang="en-US" altLang="en-US" sz="1800">
                          <a:solidFill>
                            <a:schemeClr val="tx1"/>
                          </a:solidFill>
                          <a:latin typeface="Cambria" panose="02040503050406030204" charset="0"/>
                          <a:cs typeface="Cambria" panose="02040503050406030204" charset="0"/>
                          <a:sym typeface="+mn-ea"/>
                        </a:rPr>
                        <a:t>Optimization of LEACH protocol for WSNs in terms of energy efficiency and network lifetime,” Journal of Cyber Security and Mobility, </a:t>
                      </a:r>
                      <a:r>
                        <a:rPr lang="en-US" altLang="en-US" sz="1800" i="1">
                          <a:solidFill>
                            <a:schemeClr val="tx1"/>
                          </a:solidFill>
                          <a:latin typeface="Cambria" panose="02040503050406030204" charset="0"/>
                          <a:cs typeface="Cambria" panose="02040503050406030204" charset="0"/>
                          <a:sym typeface="+mn-ea"/>
                        </a:rPr>
                        <a:t>IEEE </a:t>
                      </a:r>
                      <a:r>
                        <a:rPr lang="en-US" altLang="en-US" sz="1800" i="1">
                          <a:solidFill>
                            <a:schemeClr val="tx1"/>
                          </a:solidFill>
                          <a:latin typeface="Cambria" panose="02040503050406030204" charset="0"/>
                          <a:cs typeface="Cambria" panose="02040503050406030204" charset="0"/>
                          <a:sym typeface="+mn-ea"/>
                        </a:rPr>
                        <a:t>vol. 12, no</a:t>
                      </a:r>
                      <a:r>
                        <a:rPr lang="en-US" altLang="en-US" sz="1800">
                          <a:solidFill>
                            <a:schemeClr val="tx1"/>
                          </a:solidFill>
                          <a:latin typeface="Cambria" panose="02040503050406030204" charset="0"/>
                          <a:cs typeface="Cambria" panose="02040503050406030204" charset="0"/>
                          <a:sym typeface="+mn-ea"/>
                        </a:rPr>
                        <a:t>. 3, pp. 275–296, May 2023, doi: 10.13052/jcsm2245-1439.1232.</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4787900" y="76835"/>
            <a:ext cx="2616835" cy="730885"/>
          </a:xfrm>
          <a:prstGeom prst="rect">
            <a:avLst/>
          </a:prstGeom>
          <a:noFill/>
        </p:spPr>
        <p:txBody>
          <a:bodyPr wrap="square" rtlCol="0">
            <a:noAutofit/>
          </a:bodyPr>
          <a:p>
            <a:pPr indent="0">
              <a:buFont typeface="+mj-lt"/>
              <a:buNone/>
            </a:pPr>
            <a:r>
              <a:rPr lang="en-US" altLang="en-US" sz="3200" b="1">
                <a:latin typeface="Cambria" panose="02040503050406030204" charset="0"/>
                <a:cs typeface="Cambria" panose="02040503050406030204" charset="0"/>
              </a:rPr>
              <a:t>References</a:t>
            </a:r>
            <a:endParaRPr lang="en-US" altLang="en-US" sz="3200" b="1">
              <a:latin typeface="Cambria" panose="02040503050406030204" charset="0"/>
              <a:cs typeface="Cambria" panose="02040503050406030204" charset="0"/>
            </a:endParaRPr>
          </a:p>
        </p:txBody>
      </p:sp>
      <p:graphicFrame>
        <p:nvGraphicFramePr>
          <p:cNvPr id="5" name="Table 4"/>
          <p:cNvGraphicFramePr/>
          <p:nvPr>
            <p:custDataLst>
              <p:tags r:id="rId1"/>
            </p:custDataLst>
          </p:nvPr>
        </p:nvGraphicFramePr>
        <p:xfrm>
          <a:off x="452120" y="789305"/>
          <a:ext cx="11469370" cy="5981700"/>
        </p:xfrm>
        <a:graphic>
          <a:graphicData uri="http://schemas.openxmlformats.org/drawingml/2006/table">
            <a:tbl>
              <a:tblPr firstRow="1" bandRow="1">
                <a:tableStyleId>{5C22544A-7EE6-4342-B048-85BDC9FD1C3A}</a:tableStyleId>
              </a:tblPr>
              <a:tblGrid>
                <a:gridCol w="11469370"/>
              </a:tblGrid>
              <a:tr h="406400">
                <a:tc>
                  <a:txBody>
                    <a:bodyPr/>
                    <a:p>
                      <a:pPr>
                        <a:buNone/>
                      </a:pPr>
                      <a:r>
                        <a:rPr lang="en-US" altLang="en-US" sz="1800" b="0">
                          <a:solidFill>
                            <a:schemeClr val="tx1"/>
                          </a:solidFill>
                          <a:latin typeface="Cambria" panose="02040503050406030204" charset="0"/>
                          <a:cs typeface="Cambria" panose="02040503050406030204" charset="0"/>
                        </a:rPr>
                        <a:t>[8] </a:t>
                      </a:r>
                      <a:r>
                        <a:rPr lang="en-US" altLang="en-US" sz="1800" b="0">
                          <a:solidFill>
                            <a:schemeClr val="tx1"/>
                          </a:solidFill>
                          <a:latin typeface="Cambria" panose="02040503050406030204" charset="0"/>
                          <a:cs typeface="Cambria" panose="02040503050406030204" charset="0"/>
                          <a:sym typeface="+mn-ea"/>
                        </a:rPr>
                        <a:t>M. Gamal, N. E. Mekky, H. H. Solimanand N. A. Hikal, “Enhancing the lifetime of wireless sensor networks using fuzzy logic LEACH technique-based particle swarm optimization,” </a:t>
                      </a:r>
                      <a:r>
                        <a:rPr lang="en-US" altLang="en-US" sz="1800" b="0" i="1">
                          <a:solidFill>
                            <a:schemeClr val="tx1"/>
                          </a:solidFill>
                          <a:latin typeface="Cambria" panose="02040503050406030204" charset="0"/>
                          <a:cs typeface="Cambria" panose="02040503050406030204" charset="0"/>
                          <a:sym typeface="+mn-ea"/>
                        </a:rPr>
                        <a:t>IEEE Access,</a:t>
                      </a:r>
                      <a:r>
                        <a:rPr lang="en-US" altLang="en-US" sz="1800" b="0">
                          <a:solidFill>
                            <a:schemeClr val="tx1"/>
                          </a:solidFill>
                          <a:latin typeface="Cambria" panose="02040503050406030204" charset="0"/>
                          <a:cs typeface="Cambria" panose="02040503050406030204" charset="0"/>
                          <a:sym typeface="+mn-ea"/>
                        </a:rPr>
                        <a:t> vol. 10, pp. 36935–36948, Mar. 2022, doi: 10.1109/ACCESS.2022.3163254.</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[9] </a:t>
                      </a:r>
                      <a:r>
                        <a:rPr lang="en-US" altLang="en-US" sz="1800">
                          <a:solidFill>
                            <a:schemeClr val="tx1"/>
                          </a:solidFill>
                          <a:latin typeface="Cambria" panose="02040503050406030204" charset="0"/>
                          <a:cs typeface="Cambria" panose="02040503050406030204" charset="0"/>
                          <a:sym typeface="+mn-ea"/>
                        </a:rPr>
                        <a:t>S. Mohapatra, P. K. Behera, P. K. Sahoo, S. K. Bisoy “Mobility induced multi-hop LEACH protocol in heterogeneous mobile network,”</a:t>
                      </a:r>
                      <a:r>
                        <a:rPr lang="en-US" altLang="en-US" sz="1800" i="1">
                          <a:solidFill>
                            <a:schemeClr val="tx1"/>
                          </a:solidFill>
                          <a:latin typeface="Cambria" panose="02040503050406030204" charset="0"/>
                          <a:cs typeface="Cambria" panose="02040503050406030204" charset="0"/>
                          <a:sym typeface="+mn-ea"/>
                        </a:rPr>
                        <a:t> IEEE Access, vol. 10</a:t>
                      </a:r>
                      <a:r>
                        <a:rPr lang="en-US" altLang="en-US" sz="1800">
                          <a:solidFill>
                            <a:schemeClr val="tx1"/>
                          </a:solidFill>
                          <a:latin typeface="Cambria" panose="02040503050406030204" charset="0"/>
                          <a:cs typeface="Cambria" panose="02040503050406030204" charset="0"/>
                          <a:sym typeface="+mn-ea"/>
                        </a:rPr>
                        <a:t>, pp. 132895–132907, Dec. 2022, doi: 10.1109/ACCESS.2022.3228576.</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[10] </a:t>
                      </a:r>
                      <a:r>
                        <a:rPr lang="en-US" altLang="en-US" sz="1800">
                          <a:solidFill>
                            <a:schemeClr val="tx1"/>
                          </a:solidFill>
                          <a:latin typeface="Cambria" panose="02040503050406030204" charset="0"/>
                          <a:cs typeface="Cambria" panose="02040503050406030204" charset="0"/>
                          <a:sym typeface="+mn-ea"/>
                        </a:rPr>
                        <a:t>Zhu, B., Bedeer, E., Nguyen, H. H., Barton, R., &amp; Henry, J. (2022). “UAV Trajectory Planning in Wireless Sensor Networks for Energy Consumption Minimization by Deep Reinforcement Learning”. I</a:t>
                      </a:r>
                      <a:r>
                        <a:rPr lang="en-US" altLang="en-US" sz="1800" i="1">
                          <a:solidFill>
                            <a:schemeClr val="tx1"/>
                          </a:solidFill>
                          <a:latin typeface="Cambria" panose="02040503050406030204" charset="0"/>
                          <a:cs typeface="Cambria" panose="02040503050406030204" charset="0"/>
                          <a:sym typeface="+mn-ea"/>
                        </a:rPr>
                        <a:t>EEE Transactions on Vehicular Technology, </a:t>
                      </a:r>
                      <a:r>
                        <a:rPr lang="en-US" altLang="en-US" sz="1800">
                          <a:solidFill>
                            <a:schemeClr val="tx1"/>
                          </a:solidFill>
                          <a:latin typeface="Cambria" panose="02040503050406030204" charset="0"/>
                          <a:cs typeface="Cambria" panose="02040503050406030204" charset="0"/>
                          <a:sym typeface="+mn-ea"/>
                        </a:rPr>
                        <a:t>70(9), 9540–9554. doi:10.1109/TVT.2021.3102161</a:t>
                      </a:r>
                      <a:r>
                        <a:rPr lang="en-US" sz="1800">
                          <a:solidFill>
                            <a:schemeClr val="tx1"/>
                          </a:solidFill>
                          <a:latin typeface="Cambria" panose="02040503050406030204" charset="0"/>
                          <a:cs typeface="Cambria" panose="02040503050406030204" charset="0"/>
                          <a:sym typeface="+mn-ea"/>
                        </a:rPr>
                        <a:t> </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[11] </a:t>
                      </a:r>
                      <a:r>
                        <a:rPr lang="en-US" altLang="en-US" sz="1800">
                          <a:solidFill>
                            <a:schemeClr val="tx1"/>
                          </a:solidFill>
                          <a:latin typeface="Cambria" panose="02040503050406030204" charset="0"/>
                          <a:cs typeface="Cambria" panose="02040503050406030204" charset="0"/>
                          <a:sym typeface="+mn-ea"/>
                        </a:rPr>
                        <a:t>Abose, T. A., Tekulapally, V., Kejela, D. C., Megersa, K. T., Daka, S. T., &amp; Jember, K. A. (2024). “Optimized Cluster Routing Protocol With Energy-Sustainable Mechanisms for Wireless Sensor Networks.” </a:t>
                      </a:r>
                      <a:r>
                        <a:rPr lang="en-US" altLang="en-US" sz="1800" i="1">
                          <a:solidFill>
                            <a:schemeClr val="tx1"/>
                          </a:solidFill>
                          <a:latin typeface="Cambria" panose="02040503050406030204" charset="0"/>
                          <a:cs typeface="Cambria" panose="02040503050406030204" charset="0"/>
                          <a:sym typeface="+mn-ea"/>
                        </a:rPr>
                        <a:t>IEEE Access,</a:t>
                      </a:r>
                      <a:r>
                        <a:rPr lang="en-US" altLang="en-US" sz="1800">
                          <a:solidFill>
                            <a:schemeClr val="tx1"/>
                          </a:solidFill>
                          <a:latin typeface="Cambria" panose="02040503050406030204" charset="0"/>
                          <a:cs typeface="Cambria" panose="02040503050406030204" charset="0"/>
                          <a:sym typeface="+mn-ea"/>
                        </a:rPr>
                        <a:t> 12, 99661-99671. doi:10.1109/ACCESS.2024.3429645</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[12] </a:t>
                      </a:r>
                      <a:r>
                        <a:rPr lang="en-US" altLang="en-US" sz="1800">
                          <a:solidFill>
                            <a:schemeClr val="tx1"/>
                          </a:solidFill>
                          <a:latin typeface="Cambria" panose="02040503050406030204" charset="0"/>
                          <a:cs typeface="Cambria" panose="02040503050406030204" charset="0"/>
                          <a:sym typeface="+mn-ea"/>
                        </a:rPr>
                        <a:t>Chowdhury, A. R., Bakshi, S. C., Pramanik, A., &amp; Roy, G. C. (2024). “Design and Study of LoRa-Based IIoT Network for Underground Coal Mine Environment.”</a:t>
                      </a:r>
                      <a:r>
                        <a:rPr lang="en-US" altLang="en-US" sz="1800" i="1">
                          <a:solidFill>
                            <a:schemeClr val="tx1"/>
                          </a:solidFill>
                          <a:latin typeface="Cambria" panose="02040503050406030204" charset="0"/>
                          <a:cs typeface="Cambria" panose="02040503050406030204" charset="0"/>
                          <a:sym typeface="+mn-ea"/>
                        </a:rPr>
                        <a:t> IEEE Access.</a:t>
                      </a:r>
                      <a:r>
                        <a:rPr lang="en-US" altLang="en-US" sz="1800">
                          <a:solidFill>
                            <a:schemeClr val="tx1"/>
                          </a:solidFill>
                          <a:latin typeface="Cambria" panose="02040503050406030204" charset="0"/>
                          <a:cs typeface="Cambria" panose="02040503050406030204" charset="0"/>
                          <a:sym typeface="+mn-ea"/>
                        </a:rPr>
                        <a:t> DOI: 10.1109/ACCESS.2024</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[13] </a:t>
                      </a:r>
                      <a:r>
                        <a:rPr lang="en-US" altLang="en-US" sz="1800">
                          <a:solidFill>
                            <a:schemeClr val="tx1"/>
                          </a:solidFill>
                          <a:latin typeface="Cambria" panose="02040503050406030204" charset="0"/>
                          <a:cs typeface="Cambria" panose="02040503050406030204" charset="0"/>
                          <a:sym typeface="+mn-ea"/>
                        </a:rPr>
                        <a:t>Abdul Aleem &amp; Rajesh Thumma “</a:t>
                      </a:r>
                      <a:r>
                        <a:rPr lang="en-US" altLang="en-US" sz="1800" i="1">
                          <a:solidFill>
                            <a:schemeClr val="tx1"/>
                          </a:solidFill>
                          <a:latin typeface="Cambria" panose="02040503050406030204" charset="0"/>
                          <a:cs typeface="Cambria" panose="02040503050406030204" charset="0"/>
                          <a:sym typeface="+mn-ea"/>
                        </a:rPr>
                        <a:t>Optimizing Energy Efficiency in IoT-Enabled Wireless Sensor Networks Using an Integrated EEKA-K-means Approach</a:t>
                      </a:r>
                      <a:r>
                        <a:rPr lang="en-US" altLang="en-US" sz="1800">
                          <a:solidFill>
                            <a:schemeClr val="tx1"/>
                          </a:solidFill>
                          <a:latin typeface="Cambria" panose="02040503050406030204" charset="0"/>
                          <a:cs typeface="Cambria" panose="02040503050406030204" charset="0"/>
                          <a:sym typeface="+mn-ea"/>
                        </a:rPr>
                        <a:t>” by EEE Sensors Journal, 2025. DOI: 10.1109/JSEN.2025.3582381</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altLang="en-US" sz="1800" b="0">
                          <a:solidFill>
                            <a:schemeClr val="tx1"/>
                          </a:solidFill>
                          <a:latin typeface="Cambria" panose="02040503050406030204" charset="0"/>
                          <a:cs typeface="Cambria" panose="02040503050406030204" charset="0"/>
                        </a:rPr>
                        <a:t>[14] Chaudhari, A., Deshpande (2025). Energy-efficient Q-learning-based routing in wireless sensor networks. </a:t>
                      </a:r>
                      <a:r>
                        <a:rPr lang="en-US" altLang="en-US" sz="1800" b="0" i="1">
                          <a:solidFill>
                            <a:schemeClr val="tx1"/>
                          </a:solidFill>
                          <a:latin typeface="Cambria" panose="02040503050406030204" charset="0"/>
                          <a:cs typeface="Cambria" panose="02040503050406030204" charset="0"/>
                        </a:rPr>
                        <a:t>International Journal on Smart Sensing and Intelligent Systems,</a:t>
                      </a:r>
                      <a:r>
                        <a:rPr lang="en-US" altLang="en-US" sz="1800" b="0">
                          <a:solidFill>
                            <a:schemeClr val="tx1"/>
                          </a:solidFill>
                          <a:latin typeface="Cambria" panose="02040503050406030204" charset="0"/>
                          <a:cs typeface="Cambria" panose="02040503050406030204" charset="0"/>
                        </a:rPr>
                        <a:t> https://doi.org/10.2478/ijssis-2025-0008</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r h="521970">
                <a:tc>
                  <a:txBody>
                    <a:bodyPr/>
                    <a:p>
                      <a:pPr>
                        <a:buNone/>
                      </a:pPr>
                      <a:r>
                        <a:rPr lang="en-US" sz="1800">
                          <a:solidFill>
                            <a:schemeClr val="tx1"/>
                          </a:solidFill>
                          <a:latin typeface="Cambria" panose="02040503050406030204" charset="0"/>
                          <a:cs typeface="Cambria" panose="02040503050406030204" charset="0"/>
                          <a:sym typeface="+mn-ea"/>
                        </a:rPr>
                        <a:t>[15] </a:t>
                      </a:r>
                      <a:r>
                        <a:rPr lang="en-US" sz="1800">
                          <a:solidFill>
                            <a:schemeClr val="tx1"/>
                          </a:solidFill>
                          <a:latin typeface="Cambria" panose="02040503050406030204" charset="0"/>
                          <a:cs typeface="Cambria" panose="02040503050406030204" charset="0"/>
                          <a:sym typeface="+mn-ea"/>
                        </a:rPr>
                        <a:t> Available Online Book : </a:t>
                      </a:r>
                      <a:r>
                        <a:rPr lang="en-US" altLang="en-US" sz="1800">
                          <a:solidFill>
                            <a:schemeClr val="tx1"/>
                          </a:solidFill>
                          <a:latin typeface="Cambria" panose="02040503050406030204" charset="0"/>
                          <a:cs typeface="Cambria" panose="02040503050406030204" charset="0"/>
                          <a:sym typeface="+mn-ea"/>
                        </a:rPr>
                        <a:t>https://web.stanford.edu/class/psych209/Readings/SuttonBartoIPRLBook2ndEd.pdf</a:t>
                      </a:r>
                      <a:endParaRPr lang="en-US" altLang="en-US" sz="1800" b="0">
                        <a:solidFill>
                          <a:schemeClr val="tx1"/>
                        </a:solidFill>
                        <a:latin typeface="Cambria" panose="02040503050406030204" charset="0"/>
                        <a:cs typeface="Cambria" panose="02040503050406030204" charset="0"/>
                      </a:endParaRPr>
                    </a:p>
                  </a:txBody>
                  <a:tcPr>
                    <a:solidFill>
                      <a:schemeClr val="bg1">
                        <a:lumMod val="85000"/>
                      </a:schemeClr>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Oval 4"/>
          <p:cNvSpPr/>
          <p:nvPr/>
        </p:nvSpPr>
        <p:spPr>
          <a:xfrm>
            <a:off x="3966210" y="1387475"/>
            <a:ext cx="4140200" cy="3981450"/>
          </a:xfrm>
          <a:prstGeom prst="ellipse">
            <a:avLst/>
          </a:prstGeom>
          <a:solidFill>
            <a:schemeClr val="accent1">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Rectangles 8"/>
          <p:cNvSpPr/>
          <p:nvPr/>
        </p:nvSpPr>
        <p:spPr>
          <a:xfrm>
            <a:off x="0" y="6985"/>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Oval 13"/>
          <p:cNvSpPr/>
          <p:nvPr/>
        </p:nvSpPr>
        <p:spPr>
          <a:xfrm>
            <a:off x="1217930" y="37465"/>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11051540" y="665861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Oval 15"/>
          <p:cNvSpPr/>
          <p:nvPr/>
        </p:nvSpPr>
        <p:spPr>
          <a:xfrm>
            <a:off x="10789285" y="667385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11070590" y="6670040"/>
            <a:ext cx="1132840" cy="199390"/>
          </a:xfrm>
          <a:prstGeom prst="rect">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10789285" y="6658610"/>
            <a:ext cx="153035" cy="153670"/>
          </a:xfrm>
          <a:prstGeom prst="ellipse">
            <a:avLst/>
          </a:prstGeom>
          <a:solidFill>
            <a:srgbClr val="FFC000"/>
          </a:solidFill>
          <a:ln>
            <a:solidFill>
              <a:srgbClr val="FFC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4841875" y="2722245"/>
            <a:ext cx="2555875" cy="706755"/>
          </a:xfrm>
          <a:prstGeom prst="rect">
            <a:avLst/>
          </a:prstGeom>
          <a:noFill/>
        </p:spPr>
        <p:txBody>
          <a:bodyPr wrap="square" rtlCol="0">
            <a:spAutoFit/>
          </a:bodyPr>
          <a:p>
            <a:r>
              <a:rPr lang="en-US" sz="4000">
                <a:latin typeface="Cambria" panose="02040503050406030204" charset="0"/>
                <a:cs typeface="Cambria" panose="02040503050406030204" charset="0"/>
              </a:rPr>
              <a:t>Thank You</a:t>
            </a:r>
            <a:endParaRPr lang="en-US" sz="4000">
              <a:latin typeface="Cambria" panose="02040503050406030204" charset="0"/>
              <a:cs typeface="Cambria" panose="02040503050406030204" charset="0"/>
            </a:endParaRPr>
          </a:p>
        </p:txBody>
      </p:sp>
      <p:sp>
        <p:nvSpPr>
          <p:cNvPr id="4" name="Text Box 3"/>
          <p:cNvSpPr txBox="1"/>
          <p:nvPr/>
        </p:nvSpPr>
        <p:spPr>
          <a:xfrm>
            <a:off x="5172075" y="3429000"/>
            <a:ext cx="1748155" cy="398780"/>
          </a:xfrm>
          <a:prstGeom prst="rect">
            <a:avLst/>
          </a:prstGeom>
          <a:noFill/>
        </p:spPr>
        <p:txBody>
          <a:bodyPr wrap="square" rtlCol="0">
            <a:spAutoFit/>
          </a:bodyPr>
          <a:p>
            <a:r>
              <a:rPr lang="en-US" sz="2000">
                <a:latin typeface="Cambria" panose="02040503050406030204" charset="0"/>
                <a:cs typeface="Cambria" panose="02040503050406030204" charset="0"/>
              </a:rPr>
              <a:t>Open to Q&amp;A</a:t>
            </a:r>
            <a:endParaRPr lang="en-US" sz="2000">
              <a:latin typeface="Cambria" panose="02040503050406030204" charset="0"/>
              <a:cs typeface="Cambria" panose="02040503050406030204" charset="0"/>
            </a:endParaRPr>
          </a:p>
        </p:txBody>
      </p:sp>
      <p:sp>
        <p:nvSpPr>
          <p:cNvPr id="6" name="Oval 5"/>
          <p:cNvSpPr/>
          <p:nvPr/>
        </p:nvSpPr>
        <p:spPr>
          <a:xfrm>
            <a:off x="3494405" y="1409065"/>
            <a:ext cx="1587500" cy="1616710"/>
          </a:xfrm>
          <a:prstGeom prst="ellipse">
            <a:avLst/>
          </a:prstGeom>
          <a:solidFill>
            <a:srgbClr val="FCAD36"/>
          </a:solidFill>
          <a:ln>
            <a:solidFill>
              <a:srgbClr val="FF6C0D"/>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1" name="Oval 10"/>
          <p:cNvSpPr/>
          <p:nvPr/>
        </p:nvSpPr>
        <p:spPr>
          <a:xfrm>
            <a:off x="6809740" y="3622675"/>
            <a:ext cx="1587500" cy="1616710"/>
          </a:xfrm>
          <a:prstGeom prst="ellipse">
            <a:avLst/>
          </a:prstGeom>
          <a:solidFill>
            <a:srgbClr val="FCAD36"/>
          </a:solidFill>
          <a:ln>
            <a:solidFill>
              <a:srgbClr val="FF6C0D"/>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sld>
</file>

<file path=ppt/tags/tag1.xml><?xml version="1.0" encoding="utf-8"?>
<p:tagLst xmlns:p="http://schemas.openxmlformats.org/presentationml/2006/main">
  <p:tag name="TABLE_ENDDRAG_ORIGIN_RECT" val="831*421"/>
  <p:tag name="TABLE_ENDDRAG_RECT" val="71*85*831*421"/>
</p:tagLst>
</file>

<file path=ppt/tags/tag2.xml><?xml version="1.0" encoding="utf-8"?>
<p:tagLst xmlns:p="http://schemas.openxmlformats.org/presentationml/2006/main">
  <p:tag name="TABLE_ENDDRAG_ORIGIN_RECT" val="831*421"/>
  <p:tag name="TABLE_ENDDRAG_RECT" val="71*85*831*421"/>
</p:tagLst>
</file>

<file path=ppt/tags/tag3.xml><?xml version="1.0" encoding="utf-8"?>
<p:tagLst xmlns:p="http://schemas.openxmlformats.org/presentationml/2006/main">
  <p:tag name="KSO_WM_DIAGRAM_VIRTUALLY_FRAME" val="{&quot;height&quot;:355.15,&quot;left&quot;:312.45,&quot;top&quot;:116.5,&quot;width&quot;:525}"/>
</p:tagLst>
</file>

<file path=ppt/tags/tag4.xml><?xml version="1.0" encoding="utf-8"?>
<p:tagLst xmlns:p="http://schemas.openxmlformats.org/presentationml/2006/main">
  <p:tag name="KSO_WM_DIAGRAM_VIRTUALLY_FRAME" val="{&quot;height&quot;:355.15,&quot;left&quot;:312.45,&quot;top&quot;:116.5,&quot;width&quot;:525}"/>
</p:tagLst>
</file>

<file path=ppt/tags/tag5.xml><?xml version="1.0" encoding="utf-8"?>
<p:tagLst xmlns:p="http://schemas.openxmlformats.org/presentationml/2006/main">
  <p:tag name="KSO_WM_DIAGRAM_VIRTUALLY_FRAME" val="{&quot;height&quot;:355.15,&quot;left&quot;:312.45,&quot;top&quot;:116.5,&quot;width&quot;:525}"/>
</p:tagLst>
</file>

<file path=ppt/tags/tag6.xml><?xml version="1.0" encoding="utf-8"?>
<p:tagLst xmlns:p="http://schemas.openxmlformats.org/presentationml/2006/main">
  <p:tag name="KSO_WM_DIAGRAM_VIRTUALLY_FRAME" val="{&quot;height&quot;:355.15,&quot;left&quot;:312.45,&quot;top&quot;:116.5,&quot;width&quot;:525}"/>
</p:tagLst>
</file>

<file path=ppt/tags/tag7.xml><?xml version="1.0" encoding="utf-8"?>
<p:tagLst xmlns:p="http://schemas.openxmlformats.org/presentationml/2006/main">
  <p:tag name="KSO_WM_DIAGRAM_VIRTUALLY_FRAME" val="{&quot;height&quot;:355.15,&quot;left&quot;:312.45,&quot;top&quot;:116.5,&quot;width&quot;:525}"/>
</p:tagLst>
</file>

<file path=ppt/tags/tag8.xml><?xml version="1.0" encoding="utf-8"?>
<p:tagLst xmlns:p="http://schemas.openxmlformats.org/presentationml/2006/main">
  <p:tag name="KSO_WM_DIAGRAM_VIRTUALLY_FRAME" val="{&quot;height&quot;:355.15,&quot;left&quot;:312.45,&quot;top&quot;:116.5,&quot;width&quot;:525}"/>
</p:tagLst>
</file>

<file path=ppt/tags/tag9.xml><?xml version="1.0" encoding="utf-8"?>
<p:tagLst xmlns:p="http://schemas.openxmlformats.org/presentationml/2006/main">
  <p:tag name="TABLE_ENDDRAG_ORIGIN_RECT" val="830*286"/>
  <p:tag name="TABLE_ENDDRAG_RECT" val="62*73*830*286"/>
</p:tagLst>
</file>

<file path=ppt/tags/tag10.xml><?xml version="1.0" encoding="utf-8"?>
<p:tagLst xmlns:p="http://schemas.openxmlformats.org/presentationml/2006/main">
  <p:tag name="TABLE_ENDDRAG_ORIGIN_RECT" val="869*410"/>
  <p:tag name="TABLE_ENDDRAG_RECT" val="37*105*869*410"/>
</p:tagLst>
</file>

<file path=ppt/tags/tag11.xml><?xml version="1.0" encoding="utf-8"?>
<p:tagLst xmlns:p="http://schemas.openxmlformats.org/presentationml/2006/main">
  <p:tag name="TABLE_ENDDRAG_ORIGIN_RECT" val="869*410"/>
  <p:tag name="TABLE_ENDDRAG_RECT" val="37*105*869*410"/>
</p:tagLst>
</file>

<file path=ppt/theme/theme1.xml><?xml version="1.0" encoding="utf-8"?>
<a:theme xmlns:a="http://schemas.openxmlformats.org/drawingml/2006/main" name="Default Design">
  <a:themeElements>
    <a:clrScheme name="">
      <a:dk1>
        <a:srgbClr val="000000"/>
      </a:dk1>
      <a:lt1>
        <a:srgbClr val="FFFFFF"/>
      </a:lt1>
      <a:dk2>
        <a:srgbClr val="000000"/>
      </a:dk2>
      <a:lt2>
        <a:srgbClr val="808080"/>
      </a:lt2>
      <a:accent1>
        <a:srgbClr val="7DB6EF"/>
      </a:accent1>
      <a:accent2>
        <a:srgbClr val="C0504D"/>
      </a:accent2>
      <a:accent3>
        <a:srgbClr val="FFFFFF"/>
      </a:accent3>
      <a:accent4>
        <a:srgbClr val="000000"/>
      </a:accent4>
      <a:accent5>
        <a:srgbClr val="C0D7F5"/>
      </a:accent5>
      <a:accent6>
        <a:srgbClr val="AC4744"/>
      </a:accent6>
      <a:hlink>
        <a:srgbClr val="0066CC"/>
      </a:hlink>
      <a:folHlink>
        <a:srgbClr val="800080"/>
      </a:folHlink>
    </a:clrScheme>
    <a:fontScheme name="">
      <a:majorFont>
        <a:latin typeface="Arial"/>
        <a:ea typeface="Arial"/>
        <a:cs typeface=""/>
      </a:majorFont>
      <a:minorFont>
        <a:latin typeface="Arial"/>
        <a:ea typeface="Arial"/>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4"/>
        </a:accent5>
        <a:accent6>
          <a:srgbClr val="E5895B"/>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7B7E5"/>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
        <a:dk1>
          <a:srgbClr val="000000"/>
        </a:dk1>
        <a:lt1>
          <a:srgbClr val="DEF6F1"/>
        </a:lt1>
        <a:dk2>
          <a:srgbClr val="000000"/>
        </a:dk2>
        <a:lt2>
          <a:srgbClr val="969696"/>
        </a:lt2>
        <a:accent1>
          <a:srgbClr val="FFFFFF"/>
        </a:accent1>
        <a:accent2>
          <a:srgbClr val="8DC6FF"/>
        </a:accent2>
        <a:accent3>
          <a:srgbClr val="EBFAF7"/>
        </a:accent3>
        <a:accent4>
          <a:srgbClr val="000000"/>
        </a:accent4>
        <a:accent5>
          <a:srgbClr val="FFFFFF"/>
        </a:accent5>
        <a:accent6>
          <a:srgbClr val="7EB1E5"/>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7B7"/>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
        <a:dk1>
          <a:srgbClr val="FFFFFF"/>
        </a:dk1>
        <a:lt1>
          <a:srgbClr val="008080"/>
        </a:lt1>
        <a:dk2>
          <a:srgbClr val="FFFF99"/>
        </a:dk2>
        <a:lt2>
          <a:srgbClr val="005A58"/>
        </a:lt2>
        <a:accent1>
          <a:srgbClr val="006462"/>
        </a:accent1>
        <a:accent2>
          <a:srgbClr val="6D6FC7"/>
        </a:accent2>
        <a:accent3>
          <a:srgbClr val="AAC1C1"/>
        </a:accent3>
        <a:accent4>
          <a:srgbClr val="DCDCDC"/>
        </a:accent4>
        <a:accent5>
          <a:srgbClr val="AAB8B8"/>
        </a:accent5>
        <a:accent6>
          <a:srgbClr val="6163B2"/>
        </a:accent6>
        <a:hlink>
          <a:srgbClr val="00FFFF"/>
        </a:hlink>
        <a:folHlink>
          <a:srgbClr val="00FF00"/>
        </a:folHlink>
      </a:clrScheme>
      <a:clrMap bg1="lt1" tx1="dk1" bg2="lt2" tx2="dk2" accent1="accent1" accent2="accent2" accent3="accent3" accent4="accent4" accent5="accent5" accent6="accent6" hlink="hlink" folHlink="folHlink"/>
    </a:extraClrScheme>
    <a:extraClrScheme>
      <a:clrScheme name="">
        <a:dk1>
          <a:srgbClr val="FFFFFF"/>
        </a:dk1>
        <a:lt1>
          <a:srgbClr val="800000"/>
        </a:lt1>
        <a:dk2>
          <a:srgbClr val="DFD293"/>
        </a:dk2>
        <a:lt2>
          <a:srgbClr val="5C1F00"/>
        </a:lt2>
        <a:accent1>
          <a:srgbClr val="CC3300"/>
        </a:accent1>
        <a:accent2>
          <a:srgbClr val="BE7960"/>
        </a:accent2>
        <a:accent3>
          <a:srgbClr val="C1AAAA"/>
        </a:accent3>
        <a:accent4>
          <a:srgbClr val="DCDCDC"/>
        </a:accent4>
        <a:accent5>
          <a:srgbClr val="E2ADAA"/>
        </a:accent5>
        <a:accent6>
          <a:srgbClr val="AA6C55"/>
        </a:accent6>
        <a:hlink>
          <a:srgbClr val="FFFF99"/>
        </a:hlink>
        <a:folHlink>
          <a:srgbClr val="D3A219"/>
        </a:folHlink>
      </a:clrScheme>
      <a:clrMap bg1="lt1" tx1="dk1" bg2="lt2" tx2="dk2" accent1="accent1" accent2="accent2" accent3="accent3" accent4="accent4" accent5="accent5" accent6="accent6" hlink="hlink" folHlink="folHlink"/>
    </a:extraClrScheme>
    <a:extraClrScheme>
      <a:clrScheme name="">
        <a:dk1>
          <a:srgbClr val="FFFFFF"/>
        </a:dk1>
        <a:lt1>
          <a:srgbClr val="000099"/>
        </a:lt1>
        <a:dk2>
          <a:srgbClr val="CCFFFF"/>
        </a:dk2>
        <a:lt2>
          <a:srgbClr val="003366"/>
        </a:lt2>
        <a:accent1>
          <a:srgbClr val="3366CC"/>
        </a:accent1>
        <a:accent2>
          <a:srgbClr val="00B000"/>
        </a:accent2>
        <a:accent3>
          <a:srgbClr val="AAAACA"/>
        </a:accent3>
        <a:accent4>
          <a:srgbClr val="DCDCDC"/>
        </a:accent4>
        <a:accent5>
          <a:srgbClr val="ADB9E2"/>
        </a:accent5>
        <a:accent6>
          <a:srgbClr val="009D00"/>
        </a:accent6>
        <a:hlink>
          <a:srgbClr val="66CCFF"/>
        </a:hlink>
        <a:folHlink>
          <a:srgbClr val="FFE701"/>
        </a:folHlink>
      </a:clrScheme>
      <a:clrMap bg1="lt1" tx1="dk1" bg2="lt2" tx2="dk2" accent1="accent1" accent2="accent2" accent3="accent3" accent4="accent4" accent5="accent5" accent6="accent6" hlink="hlink" folHlink="folHlink"/>
    </a:extraClrScheme>
    <a:extraClrScheme>
      <a:clrScheme name="">
        <a:dk1>
          <a:srgbClr val="FFFFFF"/>
        </a:dk1>
        <a:lt1>
          <a:srgbClr val="000000"/>
        </a:lt1>
        <a:dk2>
          <a:srgbClr val="E3EBF1"/>
        </a:dk2>
        <a:lt2>
          <a:srgbClr val="336699"/>
        </a:lt2>
        <a:accent1>
          <a:srgbClr val="003399"/>
        </a:accent1>
        <a:accent2>
          <a:srgbClr val="468A4B"/>
        </a:accent2>
        <a:accent3>
          <a:srgbClr val="AAAAAA"/>
        </a:accent3>
        <a:accent4>
          <a:srgbClr val="DCDCDC"/>
        </a:accent4>
        <a:accent5>
          <a:srgbClr val="AAADCA"/>
        </a:accent5>
        <a:accent6>
          <a:srgbClr val="3E7B43"/>
        </a:accent6>
        <a:hlink>
          <a:srgbClr val="66CCFF"/>
        </a:hlink>
        <a:folHlink>
          <a:srgbClr val="F0E500"/>
        </a:folHlink>
      </a:clrScheme>
      <a:clrMap bg1="lt1" tx1="dk1" bg2="lt2" tx2="dk2" accent1="accent1" accent2="accent2" accent3="accent3" accent4="accent4" accent5="accent5" accent6="accent6" hlink="hlink" folHlink="folHlink"/>
    </a:extraClrScheme>
    <a:extraClrScheme>
      <a:clrScheme name="">
        <a:dk1>
          <a:srgbClr val="FFFFFF"/>
        </a:dk1>
        <a:lt1>
          <a:srgbClr val="686B5D"/>
        </a:lt1>
        <a:dk2>
          <a:srgbClr val="D1D1CB"/>
        </a:dk2>
        <a:lt2>
          <a:srgbClr val="777777"/>
        </a:lt2>
        <a:accent1>
          <a:srgbClr val="909082"/>
        </a:accent1>
        <a:accent2>
          <a:srgbClr val="809EA8"/>
        </a:accent2>
        <a:accent3>
          <a:srgbClr val="B9BAB6"/>
        </a:accent3>
        <a:accent4>
          <a:srgbClr val="DCDCDC"/>
        </a:accent4>
        <a:accent5>
          <a:srgbClr val="C7C7C1"/>
        </a:accent5>
        <a:accent6>
          <a:srgbClr val="728D96"/>
        </a:accent6>
        <a:hlink>
          <a:srgbClr val="FFCC66"/>
        </a:hlink>
        <a:folHlink>
          <a:srgbClr val="E9DCB9"/>
        </a:folHlink>
      </a:clrScheme>
      <a:clrMap bg1="lt1" tx1="dk1" bg2="lt2" tx2="dk2" accent1="accent1" accent2="accent2" accent3="accent3" accent4="accent4" accent5="accent5" accent6="accent6" hlink="hlink" folHlink="folHlink"/>
    </a:extraClrScheme>
    <a:extraClrScheme>
      <a:clrScheme name="">
        <a:dk1>
          <a:srgbClr val="FFFFFF"/>
        </a:dk1>
        <a:lt1>
          <a:srgbClr val="666699"/>
        </a:lt1>
        <a:dk2>
          <a:srgbClr val="FFFFFF"/>
        </a:dk2>
        <a:lt2>
          <a:srgbClr val="3E3E5C"/>
        </a:lt2>
        <a:accent1>
          <a:srgbClr val="60597B"/>
        </a:accent1>
        <a:accent2>
          <a:srgbClr val="6666FF"/>
        </a:accent2>
        <a:accent3>
          <a:srgbClr val="B9B9CA"/>
        </a:accent3>
        <a:accent4>
          <a:srgbClr val="DCDCDC"/>
        </a:accent4>
        <a:accent5>
          <a:srgbClr val="B7B5BF"/>
        </a:accent5>
        <a:accent6>
          <a:srgbClr val="5B5BE5"/>
        </a:accent6>
        <a:hlink>
          <a:srgbClr val="99CCFF"/>
        </a:hlink>
        <a:folHlink>
          <a:srgbClr val="FFFF99"/>
        </a:folHlink>
      </a:clrScheme>
      <a:clrMap bg1="lt1" tx1="dk1" bg2="lt2" tx2="dk2" accent1="accent1" accent2="accent2" accent3="accent3" accent4="accent4" accent5="accent5" accent6="accent6" hlink="hlink" folHlink="folHlink"/>
    </a:extraClrScheme>
    <a:extraClrScheme>
      <a:clrScheme name="">
        <a:dk1>
          <a:srgbClr val="FFFFFF"/>
        </a:dk1>
        <a:lt1>
          <a:srgbClr val="523E26"/>
        </a:lt1>
        <a:dk2>
          <a:srgbClr val="DFC08D"/>
        </a:dk2>
        <a:lt2>
          <a:srgbClr val="2D2015"/>
        </a:lt2>
        <a:accent1>
          <a:srgbClr val="8C7B70"/>
        </a:accent1>
        <a:accent2>
          <a:srgbClr val="8F5F2F"/>
        </a:accent2>
        <a:accent3>
          <a:srgbClr val="B3AFAB"/>
        </a:accent3>
        <a:accent4>
          <a:srgbClr val="DCDCDC"/>
        </a:accent4>
        <a:accent5>
          <a:srgbClr val="C5BFBC"/>
        </a:accent5>
        <a:accent6>
          <a:srgbClr val="805529"/>
        </a:accent6>
        <a:hlink>
          <a:srgbClr val="CCB400"/>
        </a:hlink>
        <a:folHlink>
          <a:srgbClr val="8C9EA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7DB6EF"/>
        </a:accent1>
        <a:accent2>
          <a:srgbClr val="C0504D"/>
        </a:accent2>
        <a:accent3>
          <a:srgbClr val="FFFFFF"/>
        </a:accent3>
        <a:accent4>
          <a:srgbClr val="000000"/>
        </a:accent4>
        <a:accent5>
          <a:srgbClr val="C0D7F5"/>
        </a:accent5>
        <a:accent6>
          <a:srgbClr val="AC4744"/>
        </a:accent6>
        <a:hlink>
          <a:srgbClr val="0066CC"/>
        </a:hlink>
        <a:folHlink>
          <a:srgbClr val="80008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item1.xml><?xml version="1.0" encoding="utf-8"?>
<s:customData xmlns="http://www.wps.cn/officeDocument/2013/wpsCustomData" xmlns:s="http://www.wps.cn/officeDocument/2013/wpsCustomData">
  <extobjs>
    <extobj name="2384804F-3998-4D57-9195-F3826E402611-1">
      <extobjdata type="2384804F-3998-4D57-9195-F3826E402611" data="ewoJIkltZ1NldHRpbmdKc29uIiA6ICJ7XCJoZWlnaHRcIjoxMy4zOTI4NTcxNDI4NTcxNDIsXCJ3aWR0aFwiOjE3Ljg1NzE0Mjg1NzE0Mjg1NH0iLAoJIkxhdGV4IiA6ICJcXHBpXioiLAoJIkxhdGV4SW1nQmFzZTY0IiA6ICJQSE4yWnlCNGJXeHVjejBpYUhSMGNEb3ZMM2QzZHk1M015NXZjbWN2TWpBd01DOXpkbWNpSUhkcFpIUm9QU0l5TGpJM04yVjRJaUJvWldsbmFIUTlJakV1TnpBelpYZ2lJSEp2YkdVOUltbHRaeUlnWm05amRYTmhZbXhsUFNKbVlXeHpaU0lnZG1sbGQwSnZlRDBpTUNBdE56UXhMamdnTVRBd05pNDJJRGMxTWk0NElpQjRiV3h1Y3pwNGJHbHVhejBpYUhSMGNEb3ZMM2QzZHk1M015NXZjbWN2TVRrNU9TOTRiR2x1YXlJZ1lYSnBZUzFvYVdSa1pXNDlJblJ5ZFdVaUlITjBlV3hsUFNKMlpYSjBhV05oYkMxaGJHbG5iam9nTFRBdU1ESTFaWGc3SUcxaGVDMTNhV1IwYURvZ09UZ2xPeUkrUEdSbFpuTStQSEJoZEdnZ2FXUTlJazFLV0MweUxWUkZXQzFKTFRGRU56QkNJaUJrUFNKTk1UTXlJQzB4TVZFNU9DQXRNVEVnT1RnZ01qSldNek5NTVRFeElEWXhVVEU0TmlBeU1Ua2dNakl3SURNek5Fd3lNamdnTXpVNFNERTVObEV4TlRnZ016VTRJREUwTWlBek5UVlVNVEF6SURNek5sRTVNaUF6TWprZ09ERWdNekU0VkRZeUlESTVOMVExTXlBeU9EVlJOVEVnTWpnMElETTRJREk0TkZFeE9TQXlPRFFnTVRrZ01qazBVVEU1SURNd01DQXpPQ0F6TWpsVU9UTWdNemt4VkRFMk5DQTBNamxSTVRjeElEUXpNU0F6T0RrZ05ETXhVVFUwT1NBME16RWdOVFV6SURRek1GRTFOek1nTkRJeklEVTNNeUEwTURKUk5UY3pJRE0zTVNBMU5ERWdNell3VVRVek5TQXpOVGdnTkRjeUlETTFPRWcwTURoTU5EQTFJRE0wTVZFek9UTWdNalk1SURNNU15QXlNakpSTXpreklERTNNQ0EwTURJZ01USTVWRFF5TVNBMk5WUTBNekVnTXpkUk5ETXhJREl3SURReE55QTFWRE00TVNBdE1UQlJNemN3SUMweE1DQXpOak1nTFRkVU16UTNJREUzVkRNek1TQTNOMUV6TXpBZ09EWWdNek13SURFeU1WRXpNekFnTVRjd0lETXpPU0F5TWpaVU16VTNJRE14T0ZRek5qY2dNelU0U0RJMk9Vd3lOamdnTXpVMFVUSTJPQ0F6TlRFZ01qUTVJREkzTlZReU1EWWdNVEUwVkRFM05TQXhOMUV4TmpRZ0xURXhJREV6TWlBdE1URmFJaTgrUEhCaGRHZ2dhV1E5SWsxS1dDMHlMVlJGV0MxT0xUSXlNVGNpSUdROUlrMHlNamtnTWpnMlVUSXhOaUEwTWpBZ01qRTJJRFF6TmxFeU1UWWdORFUwSURJME1DQTBOalJSTWpReElEUTJOQ0F5TkRVZ05EWTBWREkxTVNBME5qVlJNall6SURRMk5DQXlOek1nTkRVMlZESTRNeUEwTXpaUk1qZ3pJRFF4T1NBeU56Y2dNelUyVkRJM01DQXlPRFpNTXpJNElETXlPRkV6T0RRZ016WTVJRE00T1NBek56SlVNems1SURNM05WRTBNVElnTXpjMUlEUXlNeUF6TmpWVU5ETTFJRE16T0ZFME16VWdNekkxSURReU5TQXpNVFZSTkRJd0lETXhNaUF6TlRjZ01qZ3lWREk0T1NBeU5UQk1NelUxSURJeE9VdzBNalVnTVRnMFVUUXpOQ0F4TnpVZ05ETTBJREUyTVZFME16UWdNVFEySURReU5TQXhNelpVTkRBeElERXlOVkV6T1RNZ01USTFJRE00TXlBeE16RlVNekk0SURFM01Vd3lOekFnTWpFelVUSTRNeUEzT1NBeU9ETWdOak5STWpneklEVXpJREkzTmlBME5GUXlOVEFnTXpWUk1qTXhJRE0xSURJeU5DQTBORlF5TVRZZ05qTlJNakUySURnd0lESXlNaUF4TkROVU1qSTVJREl4TTB3eE56RWdNVGN4VVRFeE5TQXhNekFnTVRFd0lERXlOMUV4TURZZ01USTBJREV3TUNBeE1qUlJPRGNnTVRJMElEYzJJREV6TkZRMk5DQXhOakZSTmpRZ01UWTJJRFkwSURFMk9WUTJOeUF4TnpWVU56SWdNVGd4VkRneElERTRPRlE1TkNBeE9UVlVNVEV6SURJd05GUXhNemdnTWpFMVZERTNNQ0F5TXpCVU1qRXdJREkxTUV3M05DQXpNVFZSTmpVZ016STBJRFkxSURNek9GRTJOU0F6TlRNZ056UWdNell6VkRrNElETTNORkV4TURZZ016YzBJREV4TmlBek5qaFVNVGN4SURNeU9Fd3lNamtnTWpnMldpSXZQand2WkdWbWN6NDhaeUJ6ZEhKdmEyVTlJbU4xY25KbGJuUkRiMnh2Y2lJZ1ptbHNiRDBpWTNWeWNtVnVkRU52Ykc5eUlpQnpkSEp2YTJVdGQybGtkR2c5SWpBaUlIUnlZVzV6Wm05eWJUMGljMk5oYkdVb01Td3RNU2tpUGp4bklHUmhkR0V0Ylcxc0xXNXZaR1U5SW0xaGRHZ2lQanhuSUdSaGRHRXRiVzFzTFc1dlpHVTlJbTF6ZFhBaVBqeG5JR1JoZEdFdGJXMXNMVzV2WkdVOUltMXBJajQ4ZFhObElHUmhkR0V0WXowaU1VUTNNRUlpSUhoc2FXNXJPbWh5WldZOUlpTk5TbGd0TWkxVVJWZ3RTUzB4UkRjd1FpSXZQand2Wno0OFp5QmtZWFJoTFcxdGJDMXViMlJsUFNKdGJ5SWdkSEpoYm5ObWIzSnRQU0owY21GdWMyeGhkR1VvTmpBekxEUXhNeWtnYzJOaGJHVW9NQzQzTURjcElqNDhkWE5sSUdSaGRHRXRZejBpTWpJeE55SWdlR3hwYm1zNmFISmxaajBpSTAxS1dDMHlMVlJGV0MxT0xUSXlNVGNpTHo0OEwyYytQQzluUGp3dlp6NDhMMmMrUEM5emRtYysiLAoJIlJlYWxWaWV3U2l6ZUpzb24iIDogIntcImhlaWdodFwiOjI2NyxcIndpZHRoXCI6MzU3fSIKfQo="/>
    </extobj>
    <extobj name="2384804F-3998-4D57-9195-F3826E402611-2">
      <extobjdata type="2384804F-3998-4D57-9195-F3826E402611" data="ewoJIkltZ1NldHRpbmdKc29uIiA6ICJ7XCJoZWlnaHRcIjoxNy44NTcxNDI4NTcxNDI4NTQsXCJ3aWR0aFwiOjU4LjkyODU3MTQyODU3MTQyfSIsCgkiTGF0ZXgiIDogIlxuKFZee1xccGl9KHMpKSIsCgkiTGF0ZXhJbWdCYXNlNjQiIDogIlBITjJaeUI0Yld4dWN6MGlhSFIwY0RvdkwzZDNkeTUzTXk1dmNtY3ZNakF3TUM5emRtY2lJSGRwWkhSb1BTSTNMalUxTldWNElpQm9aV2xuYUhROUlqSXVNall5WlhnaUlISnZiR1U5SW1sdFp5SWdabTlqZFhOaFlteGxQU0ptWVd4elpTSWdkbWxsZDBKdmVEMGlNQ0F0TnpVd0lETXpNemt1TkNBeE1EQXdJaUI0Yld4dWN6cDRiR2x1YXowaWFIUjBjRG92TDNkM2R5NTNNeTV2Y21jdk1UazVPUzk0YkdsdWF5SWdZWEpwWVMxb2FXUmtaVzQ5SW5SeWRXVWlJSE4wZVd4bFBTSjJaWEowYVdOaGJDMWhiR2xuYmpvZ0xUQXVOVFkyWlhnN0lHMWhlQzEzYVdSMGFEb2dPVGdsT3lJK1BHUmxabk0rUEhCaGRHZ2dhV1E5SWsxS1dDMDJMVlJGV0MxT0xUSTRJaUJrUFNKTk9UUWdNalV3VVRrMElETXhPU0F4TURRZ016Z3hWREV5TnlBME9EaFVNVFkwSURVM05sUXlNRElnTmpRelZESTBOQ0EyT1RWVU1qYzNJRGN5T1ZRek1ESWdOelV3U0RNeE5VZ3pNVGxSTXpNeklEYzFNQ0F6TXpNZ056UXhVVE16TXlBM016Z2dNekUySURjeU1GUXlOelVnTmpZM1ZESXlOaUExT0RGVU1UZzBJRFEwTTFReE5qY2dNalV3VkRFNE5DQTFPRlF5TWpVZ0xUZ3hWREkzTkNBdE1UWTNWRE14TmlBdE1qSXdWRE16TXlBdE1qUXhVVE16TXlBdE1qVXdJRE14T0NBdE1qVXdTRE14TlVnek1ESk1NamMwSUMweU1qWlJNVGd3SUMweE5ERWdNVE0zSUMweE5GUTVOQ0F5TlRCYUlpOCtQSEJoZEdnZ2FXUTlJazFLV0MwMkxWUkZXQzFKTFRGRU5EUTVJaUJrUFNKTk5USWdOalE0VVRVeUlEWTNNQ0EyTlNBMk9ETklOelpSTVRFNElEWTRNQ0F4T0RFZ05qZ3dVVEk1T1NBMk9EQWdNekl3SURZNE0wZ3pNekJSTXpNMklEWTNOeUF6TXpZZ05qYzBWRE16TkNBMk5UWlJNekk1SURZME1TQXpNalVnTmpNM1NETXdORkV5T0RJZ05qTTFJREkzTkNBMk16VlJNalExSURZek1DQXlORElnTmpJd1VUSTBNaUEyTVRnZ01qY3hJRE0yT1ZRek1ERWdNVEU0VERNM05DQXlNelZSTkRRM0lETTFNaUExTWpBZ05EY3hWRFU1TlNBMU9UUlJOVGs1SURZd01TQTFPVGtnTmpBNVVUVTVPU0EyTXpNZ05UVTFJRFl6TjFFMU16Y2dOak0zSURVek55QTJORGhSTlRNM0lEWTBPU0ExTXprZ05qWXhVVFUwTWlBMk56VWdOVFExSURZM09WUTFOVGdnTmpnelVUVTJNQ0EyT0RNZ05UY3dJRFk0TTFRMk1EUWdOamd5VkRZMk9DQTJPREZSTnpNM0lEWTRNU0EzTlRVZ05qZ3pTRGMyTWxFM05qa2dOamMySURjMk9TQTJOekpSTnpZNUlEWTFOU0EzTmpBZ05qUXdVVGMxTnlBMk16Y2dOelF6SURZek4xRTNNekFnTmpNMklEY3hPU0EyTXpWVU5qazRJRFl6TUZRMk9ESWdOakl6VkRZM01DQTJNVFZVTmpZd0lEWXdPRlEyTlRJZ05UazVWRFkwTlNBMU9USk1ORFV5SURJNE1sRXlOeklnTFRrZ01qWTJJQzB4TmxFeU5qTWdMVEU0SURJMU9TQXRNakZNTWpReElDMHlNa2d5TXpSUk1qRTJJQzB5TWlBeU1UWWdMVEUxVVRJeE15QXRPU0F4TnpjZ016QTFVVEV6T1NBMk1qTWdNVE00SURZeU5sRXhNek1nTmpNM0lEYzJJRFl6TjBnMU9WRTFNaUEyTkRJZ05USWdOalE0V2lJdlBqeHdZWFJvSUdsa1BTSk5TbGd0TmkxVVJWZ3RTUzB4UkRjd1FpSWdaRDBpVFRFek1pQXRNVEZST1RnZ0xURXhJRGs0SURJeVZqTXpUREV4TVNBMk1WRXhPRFlnTWpFNUlESXlNQ0F6TXpSTU1qSTRJRE0xT0VneE9UWlJNVFU0SURNMU9DQXhORElnTXpVMVZERXdNeUF6TXpaUk9USWdNekk1SURneElETXhPRlEyTWlBeU9UZFVOVE1nTWpnMVVUVXhJREk0TkNBek9DQXlPRFJSTVRrZ01qZzBJREU1SURJNU5GRXhPU0F6TURBZ016Z2dNekk1VkRreklETTVNVlF4TmpRZ05ESTVVVEUzTVNBME16RWdNemc1SURRek1WRTFORGtnTkRNeElEVTFNeUEwTXpCUk5UY3pJRFF5TXlBMU56TWdOREF5VVRVM015QXpOekVnTlRReElETTJNRkUxTXpVZ016VTRJRFEzTWlBek5UaElOREE0VERRd05TQXpOREZSTXpreklESTJPU0F6T1RNZ01qSXlVVE01TXlBeE56QWdOREF5SURFeU9WUTBNakVnTmpWVU5ETXhJRE0zVVRRek1TQXlNQ0EwTVRjZ05WUXpPREVnTFRFd1VUTTNNQ0F0TVRBZ016WXpJQzAzVkRNME55QXhOMVF6TXpFZ056ZFJNek13SURnMklETXpNQ0F4TWpGUk16TXdJREUzTUNBek16a2dNakkyVkRNMU55QXpNVGhVTXpZM0lETTFPRWd5TmpsTU1qWTRJRE0xTkZFeU5qZ2dNelV4SURJME9TQXlOelZVTWpBMklERXhORlF4TnpVZ01UZFJNVFkwSUMweE1TQXhNeklnTFRFeFdpSXZQanh3WVhSb0lHbGtQU0pOU2xndE5pMVVSVmd0U1MweFJEUTJNQ0lnWkQwaVRURXpNU0F5T0RsUk1UTXhJRE15TVNBeE5EY2dNelUwVkRJd015QTBNVFZVTXpBd0lEUTBNbEV6TmpJZ05EUXlJRE01TUNBME1UVlVOREU1SURNMU5WRTBNVGtnTXpJeklEUXdNaUF6TURoVU16WTBJREk1TWxFek5URWdNamt5SURNME1DQXpNREJVTXpJNElETXlObEV6TWpnZ016UXlJRE16TnlBek5UUlVNelUwSURNM01sUXpOamNnTXpjNFVUTTJPQ0F6TnpnZ016WTRJRE0zT1ZFek5qZ2dNemd5SURNMk1TQXpPRGhVTXpNMklETTVPVlF5T1RjZ05EQTFVVEkwT1NBME1EVWdNakkzSURNM09WUXlNRFFnTXpJMlVUSXdOQ0F6TURFZ01qSXpJREk1TVZReU56Z2dNamMwVkRNek1DQXlOVGxSTXprMklESXpNQ0F6T1RZZ01UWXpVVE01TmlBeE16VWdNemcxSURFd04xUXpOVElnTlRGVU1qZzVJRGRVTVRrMUlDMHhNRkV4TVRnZ0xURXdJRGcySURFNVZEVXpJRGczVVRVeklERXlOaUEzTkNBeE5ETlVNVEU0SURFMk1GRXhNek1nTVRZd0lERTBOaUF4TlRGVU1UWXdJREV5TUZFeE5qQWdPVFFnTVRReUlEYzJWREV4TVNBMU9GRXhNRGtnTlRjZ01UQTRJRFUzVkRFd055QTFOVkV4TURnZ05USWdNVEUxSURRM1ZERTBOaUF6TkZReU1ERWdNamRSTWpNM0lESTNJREkyTXlBek9GUXpNREVnTmpaVU16RTRJRGszVkRNeU15QXhNakpSTXpJeklERTFNQ0F6TURJZ01UWTBWREkxTkNBeE9ERlVNVGsxSURFNU5sUXhORGdnTWpNeFVURXpNU0F5TlRZZ01UTXhJREk0T1ZvaUx6NDhjR0YwYUNCcFpEMGlUVXBZTFRZdFZFVllMVTR0TWpraUlHUTlJazAyTUNBM05EbE1OalFnTnpVd1VUWTVJRGMxTUNBM05DQTNOVEJJT0RaTU1URTBJRGN5TmxFeU1EZ2dOalF4SURJMU1TQTFNVFJVTWprMElESTFNRkV5T1RRZ01UZ3lJREk0TkNBeE1UbFVNall4SURFeVZESXlOQ0F0TnpaVU1UZzJJQzB4TkROVU1UUTFJQzB4T1RSVU1URXpJQzB5TWpkVU9UQWdMVEkwTmxFNE55QXRNalE1SURnMklDMHlOVEJJTnpSUk5qWWdMVEkxTUNBMk15QXRNalV3VkRVNElDMHlORGRVTlRVZ0xUSXpPRkUxTmlBdE1qTTNJRFkySUMweU1qVlJNakl4SUMwMk5DQXlNakVnTWpVd1ZEWTJJRGN5TlZFMU5pQTNNemNnTlRVZ056TTRVVFUxSURjME5pQTJNQ0EzTkRsYUlpOCtQQzlrWldaelBqeG5JSE4wY205clpUMGlZM1Z5Y21WdWRFTnZiRzl5SWlCbWFXeHNQU0pqZFhKeVpXNTBRMjlzYjNJaUlITjBjbTlyWlMxM2FXUjBhRDBpTUNJZ2RISmhibk5tYjNKdFBTSnpZMkZzWlNneExDMHhLU0krUEdjZ1pHRjBZUzF0Yld3dGJtOWtaVDBpYldGMGFDSStQR2NnWkdGMFlTMXRiV3d0Ym05a1pUMGliVzhpUGp4MWMyVWdaR0YwWVMxalBTSXlPQ0lnZUd4cGJtczZhSEpsWmowaUkwMUtXQzAyTFZSRldDMU9MVEk0SWk4K1BDOW5QanhuSUdSaGRHRXRiVzFzTFc1dlpHVTlJbTF6ZFhBaUlIUnlZVzV6Wm05eWJUMGlkSEpoYm5Oc1lYUmxLRE00T1N3d0tTSStQR2NnWkdGMFlTMXRiV3d0Ym05a1pUMGliV2tpUGp4MWMyVWdaR0YwWVMxalBTSXhSRFEwT1NJZ2VHeHBibXM2YUhKbFpqMGlJMDFLV0MwMkxWUkZXQzFKTFRGRU5EUTVJaTgrUEM5blBqeG5JR1JoZEdFdGJXMXNMVzV2WkdVOUlsUmxXRUYwYjIwaUlIUnlZVzV6Wm05eWJUMGlkSEpoYm5Oc1lYUmxLRGcyTVM0ekxEUXhNeWtnYzJOaGJHVW9NQzQzTURjcElpQmtZWFJoTFcxcWVDMTBaWGhqYkdGemN6MGlUMUpFSWo0OFp5QmtZWFJoTFcxdGJDMXViMlJsUFNKdGFTSStQSFZ6WlNCa1lYUmhMV005SWpGRU56QkNJaUI0YkdsdWF6cG9jbVZtUFNJalRVcFlMVFl0VkVWWUxVa3RNVVEzTUVJaUx6NDhMMmMrUEM5blBqd3ZaejQ4WnlCa1lYUmhMVzF0YkMxdWIyUmxQU0p0YnlJZ2RISmhibk5tYjNKdFBTSjBjbUZ1YzJ4aGRHVW9NVGN3TXk0MExEQXBJajQ4ZFhObElHUmhkR0V0WXowaU1qZ2lJSGhzYVc1ck9taHlaV1k5SWlOTlNsZ3ROaTFVUlZndFRpMHlPQ0l2UGp3dlp6NDhaeUJrWVhSaExXMXRiQzF1YjJSbFBTSnRhU0lnZEhKaGJuTm1iM0p0UFNKMGNtRnVjMnhoZEdVb01qQTVNaTQwTERBcElqNDhkWE5sSUdSaGRHRXRZejBpTVVRME5qQWlJSGhzYVc1ck9taHlaV1k5SWlOTlNsZ3ROaTFVUlZndFNTMHhSRFEyTUNJdlBqd3ZaejQ4WnlCa1lYUmhMVzF0YkMxdWIyUmxQU0p0YnlJZ2RISmhibk5tYjNKdFBTSjBjbUZ1YzJ4aGRHVW9NalUyTVM0MExEQXBJajQ4ZFhObElHUmhkR0V0WXowaU1qa2lJSGhzYVc1ck9taHlaV1k5SWlOTlNsZ3ROaTFVUlZndFRpMHlPU0l2UGp3dlp6NDhaeUJrWVhSaExXMXRiQzF1YjJSbFBTSnRieUlnZEhKaGJuTm1iM0p0UFNKMGNtRnVjMnhoZEdVb01qazFNQzQwTERBcElqNDhkWE5sSUdSaGRHRXRZejBpTWpraUlIaHNhVzVyT21oeVpXWTlJaU5OU2xndE5pMVVSVmd0VGkweU9TSXZQand2Wno0OEwyYytQQzluUGp3dmMzWm5QZz09IiwKCSJSZWFsVmlld1NpemVKc29uIiA6ICJ7XCJoZWlnaHRcIjozNTcuMTQyODY4MDQxOTkyMixcIndpZHRoXCI6MTE3OC41NzEzOTU4NzQwMjM0fSIKfQo="/>
    </extobj>
    <extobj name="2384804F-3998-4D57-9195-F3826E402611-3">
      <extobjdata type="2384804F-3998-4D57-9195-F3826E402611" data="ewoJIkltZ1NldHRpbmdKc29uIiA6ICJ7XCJoZWlnaHRcIjoxNy44NTcxNDI4NTcxNDI4NTQsXCJ3aWR0aFwiOjc0Ljk5OTk5OTk5OTk5OTk5fSIsCgkiTGF0ZXgiIDogIihRXntcXHBpfShzLCBhKSkiLAoJIkxhdGV4SW1nQmFzZTY0IiA6ICJQSE4yWnlCNGJXeHVjejBpYUhSMGNEb3ZMM2QzZHk1M015NXZjbWN2TWpBd01DOXpkbWNpSUhkcFpIUm9QU0k1TGpZM05HVjRJaUJvWldsbmFIUTlJakl1TWpZeVpYZ2lJSEp2YkdVOUltbHRaeUlnWm05amRYTmhZbXhsUFNKbVlXeHpaU0lnZG1sbGQwSnZlRDBpTUNBdE56VXdJRFF5TnpVdU55QXhNREF3SWlCNGJXeHVjenA0YkdsdWF6MGlhSFIwY0RvdkwzZDNkeTUzTXk1dmNtY3ZNVGs1T1M5NGJHbHVheUlnWVhKcFlTMW9hV1JrWlc0OUluUnlkV1VpSUhOMGVXeGxQU0oyWlhKMGFXTmhiQzFoYkdsbmJqb2dMVEF1TlRZMlpYZzdJRzFoZUMxM2FXUjBhRG9nT1RnbE95SStQR1JsWm5NK1BIQmhkR2dnYVdROUlrMUtXQzAzTFZSRldDMU9MVEk0SWlCa1BTSk5PVFFnTWpVd1VUazBJRE14T1NBeE1EUWdNemd4VkRFeU55QTBPRGhVTVRZMElEVTNObFF5TURJZ05qUXpWREkwTkNBMk9UVlVNamMzSURjeU9WUXpNRElnTnpVd1NETXhOVWd6TVRsUk16TXpJRGMxTUNBek16TWdOelF4VVRNek15QTNNemdnTXpFMklEY3lNRlF5TnpVZ05qWTNWREl5TmlBMU9ERlVNVGcwSURRME0xUXhOamNnTWpVd1ZERTROQ0ExT0ZReU1qVWdMVGd4VkRJM05DQXRNVFkzVkRNeE5pQXRNakl3VkRNek15QXRNalF4VVRNek15QXRNalV3SURNeE9DQXRNalV3U0RNeE5VZ3pNREpNTWpjMElDMHlNalpSTVRnd0lDMHhOREVnTVRNM0lDMHhORlE1TkNBeU5UQmFJaTgrUEhCaGRHZ2dhV1E5SWsxS1dDMDNMVlJGV0MxSkxURkVORFEwSWlCa1BTSk5Nems1SUMwNE1GRXpPVGtnTFRRM0lEUXdNQ0F0TXpCVU5EQXlJQzB4TVZZdE4wd3pPRGNnTFRFeFVUTTBNU0F0TWpJZ016QXpJQzB5TWxFeU1EZ2dMVEl5SURFek9DQXpOVlExTVNBeU1ERlJOVEFnTWpBNUlEVXdJREkwTkZFMU1DQXpORFlnT1RnZ05ETTRWREl5TnlBMk1ERlJNelV4SURjd05DQTBOellnTnpBMFVUVXhOQ0EzTURRZ05USTBJRGN3TTFFMk1qRWdOamc1SURZNE1DQTJNVGRVTnpRd0lEUXpOVkUzTkRBZ01qVTFJRFU1TWlBeE1EZFJOVEk1SURRM0lEUTJNU0F4Tmt3ME5EUWdPRll6VVRRME5DQXlJRFEwT1NBdE1qUlVORGN3SUMwMk5sUTFNVFlnTFRneVVUVTFNU0F0T0RJZ05UZ3pJQzAyTUZRMk1qVWdMVE5STmpNeElERXhJRFl6T0NBeE1WRTJORGNnTVRFZ05qUTVJREpSTmpRNUlDMDJJRFl6T1NBdE16UlVOakV4SUMweE1EQlVOVFUzSUMweE5qVlVORGd4SUMweE9UUlJNems1SUMweE9UUWdNems1SUMwNE4xWXRPREJhVFRZek5pQTBOamhSTmpNMklEVXlNeUEyTWpFZ05UWTBWRFU0TUNBMk1qVlVOVE13SURZMU5WUTBOemNnTmpZMVVUUXlPU0EyTmpVZ016YzVJRFkwTUZFeU56Y2dOVGt4SURJeE5TQTBOalJVTVRVeklESXhObEV4TlRNZ01URXdJREl3TnlBMU9WRXlNekVnTXpnZ01qTTJJRE00VmpRMlVUSXpOaUE0TmlBeU5qa2dNVEl3VkRNME55QXhOVFZSTXpjeUlERTFOU0F6T1RBZ01UUTBWRFF4TnlBeE1UUlVOREk1SURneVZEUXpOU0ExTlV3ME5EZ2dOalJSTlRFeUlERXdPQ0ExTlRjZ01UZzFWRFl4T1NBek16UlVOak0ySURRMk9GcE5NekUwSURFNFVUTTJNaUF4T0NBME1EUWdNemxNTkRBeklEUTVVVE01T1NBeE1EUWdNelkySURFeE5WRXpOVFFnTVRFM0lETTBOeUF4TVRkUk16UTBJREV4TnlBek5ERWdNVEUzVkRNek55QXhNVGhSTXpFM0lERXhPQ0F5T1RZZ09UaFVNamMwSURVeVVUSTNOQ0F4T0NBek1UUWdNVGhhSWk4K1BIQmhkR2dnYVdROUlrMUtXQzAzTFZSRldDMUpMVEZFTnpCQ0lpQmtQU0pOTVRNeUlDMHhNVkU1T0NBdE1URWdPVGdnTWpKV016Tk1NVEV4SURZeFVURTROaUF5TVRrZ01qSXdJRE16TkV3eU1qZ2dNelU0U0RFNU5sRXhOVGdnTXpVNElERTBNaUF6TlRWVU1UQXpJRE16TmxFNU1pQXpNamtnT0RFZ016RTRWRFl5SURJNU4xUTFNeUF5T0RWUk5URWdNamcwSURNNElESTRORkV4T1NBeU9EUWdNVGtnTWprMFVURTVJRE13TUNBek9DQXpNamxVT1RNZ016a3hWREUyTkNBME1qbFJNVGN4SURRek1TQXpPRGtnTkRNeFVUVTBPU0EwTXpFZ05UVXpJRFF6TUZFMU56TWdOREl6SURVM015QTBNREpSTlRjeklETTNNU0ExTkRFZ016WXdVVFV6TlNBek5UZ2dORGN5SURNMU9FZzBNRGhNTkRBMUlETTBNVkV6T1RNZ01qWTVJRE01TXlBeU1qSlJNemt6SURFM01DQTBNRElnTVRJNVZEUXlNU0EyTlZRME16RWdNemRSTkRNeElESXdJRFF4TnlBMVZETTRNU0F0TVRCUk16Y3dJQzB4TUNBek5qTWdMVGRVTXpRM0lERTNWRE16TVNBM04xRXpNekFnT0RZZ016TXdJREV5TVZFek16QWdNVGN3SURNek9TQXlNalpVTXpVM0lETXhPRlF6TmpjZ016VTRTREkyT1V3eU5qZ2dNelUwVVRJMk9DQXpOVEVnTWpRNUlESTNOVlF5TURZZ01URTBWREUzTlNBeE4xRXhOalFnTFRFeElERXpNaUF0TVRGYUlpOCtQSEJoZEdnZ2FXUTlJazFLV0MwM0xWUkZXQzFKTFRGRU5EWXdJaUJrUFNKTk1UTXhJREk0T1ZFeE16RWdNekl4SURFME55QXpOVFJVTWpBeklEUXhOVlF6TURBZ05EUXlVVE0yTWlBME5ESWdNemt3SURReE5WUTBNVGtnTXpVMVVUUXhPU0F6TWpNZ05EQXlJRE13T0ZRek5qUWdNamt5VVRNMU1TQXlPVElnTXpRd0lETXdNRlF6TWpnZ016STJVVE15T0NBek5ESWdNek0zSURNMU5GUXpOVFFnTXpjeVZETTJOeUF6TnpoUk16WTRJRE0zT0NBek5qZ2dNemM1VVRNMk9DQXpPRElnTXpZeElETTRPRlF6TXpZZ016azVWREk1TnlBME1EVlJNalE1SURRd05TQXlNamNnTXpjNVZESXdOQ0F6TWpaUk1qQTBJRE13TVNBeU1qTWdNamt4VkRJM09DQXlOelJVTXpNd0lESTFPVkV6T1RZZ01qTXdJRE01TmlBeE5qTlJNemsySURFek5TQXpPRFVnTVRBM1ZETTFNaUExTVZReU9Ea2dOMVF4T1RVZ0xURXdVVEV4T0NBdE1UQWdPRFlnTVRsVU5UTWdPRGRSTlRNZ01USTJJRGMwSURFME0xUXhNVGdnTVRZd1VURXpNeUF4TmpBZ01UUTJJREUxTVZReE5qQWdNVEl3VVRFMk1DQTVOQ0F4TkRJZ056WlVNVEV4SURVNFVURXdPU0ExTnlBeE1EZ2dOVGRVTVRBM0lEVTFVVEV3T0NBMU1pQXhNVFVnTkRkVU1UUTJJRE0wVkRJd01TQXlOMUV5TXpjZ01qY2dNall6SURNNFZETXdNU0EyTmxRek1UZ2dPVGRVTXpJeklERXlNbEV6TWpNZ01UVXdJRE13TWlBeE5qUlVNalUwSURFNE1WUXhPVFVnTVRrMlZERTBPQ0F5TXpGUk1UTXhJREkxTmlBeE16RWdNamc1V2lJdlBqeHdZWFJvSUdsa1BTSk5TbGd0TnkxVVJWZ3RUaTB5UXlJZ1pEMGlUVGM0SURNMVZEYzRJRFl3VkRrMElERXdNMVF4TXpjZ01USXhVVEUyTlNBeE1qRWdNVGczSURrMlZESXhNQ0E0VVRJeE1DQXRNamNnTWpBeElDMDJNRlF4T0RBZ0xURXhOMVF4TlRRZ0xURTFPRlF4TXpBZ0xURTROVlF4TVRjZ0xURTVORkV4TVRNZ0xURTVOQ0F4TURRZ0xURTROVlE1TlNBdE1UY3lVVGsxSUMweE5qZ2dNVEEySUMweE5UWlVNVE14SUMweE1qWlVNVFUzSUMwM05sUXhOek1nTFROV09Vd3hOeklnT0ZFeE56QWdOeUF4TmpjZ05sUXhOakVnTTFReE5USWdNVlF4TkRBZ01GRXhNVE1nTUNBNU5pQXhOMW9pTHo0OGNHRjBhQ0JwWkQwaVRVcFlMVGN0VkVWWUxVa3RNVVEwTkVVaUlHUTlJazB6TXlBeE5UZFJNek1nTWpVNElERXdPU0F6TkRsVU1qZ3dJRFEwTVZFek16RWdORFF4SURNM01DQXpPVEpSTXpnMklEUXlNaUEwTVRZZ05ESXlVVFF5T1NBME1qSWdORE01SURReE5GUTBORGtnTXprMFVUUTBPU0F6T0RFZ05ERXlJREl6TkZRek56UWdOamhSTXpjMElEUXpJRE00TVNBek5WUTBNRElnTWpaUk5ERXhJREkzSURReU1pQXpOVkUwTkRNZ05UVWdORFl6SURFek1WRTBOamtnTVRVeElEUTNNeUF4TlRKUk5EYzFJREUxTXlBME9ETWdNVFV6U0RRNE4xRTFNRFlnTVRVeklEVXdOaUF4TkRSUk5UQTJJREV6T0NBMU1ERWdNVEUzVkRRNE1TQTJNMVEwTkRrZ01UTlJORE0ySURBZ05ERTNJQzA0VVRRd09TQXRNVEFnTXpreklDMHhNRkV6TlRrZ0xURXdJRE16TmlBMVZETXdOaUF6Tmt3ek1EQWdOVEZSTWprNUlEVXlJREk1TmlBMU1GRXlPVFFnTkRnZ01qa3lJRFEyVVRJek15QXRNVEFnTVRjeUlDMHhNRkV4TVRjZ0xURXdJRGMxSURNd1ZETXpJREUxTjFwTk16VXhJRE15T0ZFek5URWdNek0wSURNME5pQXpOVEJVTXpJeklETTROVlF5TnpjZ05EQTFVVEkwTWlBME1EVWdNakV3SURNM05GUXhOakFnTWprelVURXpNU0F5TVRRZ01URTVJREV5T1ZFeE1Ua2dNVEkySURFeE9TQXhNVGhVTVRFNElERXdObEV4TVRnZ05qRWdNVE0ySURRMFZERTNPU0F5TmxFeU1UY2dNallnTWpVMElEVTVWREk1T0NBeE1UQlJNekF3SURFeE5DQXpNalVnTWpFM1ZETTFNU0F6TWpoYUlpOCtQSEJoZEdnZ2FXUTlJazFLV0MwM0xWUkZXQzFPTFRJNUlpQmtQU0pOTmpBZ056UTVURFkwSURjMU1GRTJPU0EzTlRBZ056UWdOelV3U0RnMlRERXhOQ0EzTWpaUk1qQTRJRFkwTVNBeU5URWdOVEUwVkRJNU5DQXlOVEJSTWprMElERTRNaUF5T0RRZ01URTVWREkyTVNBeE1sUXlNalFnTFRjMlZERTROaUF0TVRRelZERTBOU0F0TVRrMFZERXhNeUF0TWpJM1ZEa3dJQzB5TkRaUk9EY2dMVEkwT1NBNE5pQXRNalV3U0RjMFVUWTJJQzB5TlRBZ05qTWdMVEkxTUZRMU9DQXRNalEzVkRVMUlDMHlNemhSTlRZZ0xUSXpOeUEyTmlBdE1qSTFVVEl5TVNBdE5qUWdNakl4SURJMU1GUTJOaUEzTWpWUk5UWWdOek0zSURVMUlEY3pPRkUxTlNBM05EWWdOakFnTnpRNVdpSXZQand2WkdWbWN6NDhaeUJ6ZEhKdmEyVTlJbU4xY25KbGJuUkRiMnh2Y2lJZ1ptbHNiRDBpWTNWeWNtVnVkRU52Ykc5eUlpQnpkSEp2YTJVdGQybGtkR2c5SWpBaUlIUnlZVzV6Wm05eWJUMGljMk5oYkdVb01Td3RNU2tpUGp4bklHUmhkR0V0Ylcxc0xXNXZaR1U5SW0xaGRHZ2lQanhuSUdSaGRHRXRiVzFzTFc1dlpHVTlJbTF2SWo0OGRYTmxJR1JoZEdFdFl6MGlNamdpSUhoc2FXNXJPbWh5WldZOUlpTk5TbGd0TnkxVVJWZ3RUaTB5T0NJdlBqd3ZaejQ4WnlCa1lYUmhMVzF0YkMxdWIyUmxQU0p0YzNWd0lpQjBjbUZ1YzJadmNtMDlJblJ5WVc1emJHRjBaU2d6T0Rrc01Da2lQanhuSUdSaGRHRXRiVzFzTFc1dlpHVTlJbTFwSWo0OGRYTmxJR1JoZEdFdFl6MGlNVVEwTkRRaUlIaHNhVzVyT21oeVpXWTlJaU5OU2xndE55MVVSVmd0U1MweFJEUTBOQ0l2UGp3dlp6NDhaeUJrWVhSaExXMXRiQzF1YjJSbFBTSlVaVmhCZEc5dElpQjBjbUZ1YzJadmNtMDlJblJ5WVc1emJHRjBaU2c0TWpRc05ERXpLU0J6WTJGc1pTZ3dMamN3TnlraUlHUmhkR0V0YldwNExYUmxlR05zWVhOelBTSlBVa1FpUGp4bklHUmhkR0V0Ylcxc0xXNXZaR1U5SW0xcElqNDhkWE5sSUdSaGRHRXRZejBpTVVRM01FSWlJSGhzYVc1ck9taHlaV1k5SWlOTlNsZ3ROeTFVUlZndFNTMHhSRGN3UWlJdlBqd3ZaejQ4TDJjK1BDOW5QanhuSUdSaGRHRXRiVzFzTFc1dlpHVTlJbTF2SWlCMGNtRnVjMlp2Y20wOUluUnlZVzV6YkdGMFpTZ3hOalkyTGpFc01Da2lQangxYzJVZ1pHRjBZUzFqUFNJeU9DSWdlR3hwYm1zNmFISmxaajBpSTAxS1dDMDNMVlJGV0MxT0xUSTRJaTgrUEM5blBqeG5JR1JoZEdFdGJXMXNMVzV2WkdVOUltMXBJaUIwY21GdWMyWnZjbTA5SW5SeVlXNXpiR0YwWlNneU1EVTFMakVzTUNraVBqeDFjMlVnWkdGMFlTMWpQU0l4UkRRMk1DSWdlR3hwYm1zNmFISmxaajBpSTAxS1dDMDNMVlJGV0MxSkxURkVORFl3SWk4K1BDOW5QanhuSUdSaGRHRXRiVzFzTFc1dlpHVTlJbTF2SWlCMGNtRnVjMlp2Y20wOUluUnlZVzV6YkdGMFpTZ3lOVEkwTGpFc01Da2lQangxYzJVZ1pHRjBZUzFqUFNJeVF5SWdlR3hwYm1zNmFISmxaajBpSTAxS1dDMDNMVlJGV0MxT0xUSkRJaTgrUEM5blBqeG5JR1JoZEdFdGJXMXNMVzV2WkdVOUltMXBJaUIwY21GdWMyWnZjbTA5SW5SeVlXNXpiR0YwWlNneU9UWTRMamNzTUNraVBqeDFjMlVnWkdGMFlTMWpQU0l4UkRRMFJTSWdlR3hwYm1zNmFISmxaajBpSTAxS1dDMDNMVlJGV0MxSkxURkVORFJGSWk4K1BDOW5QanhuSUdSaGRHRXRiVzFzTFc1dlpHVTlJbTF2SWlCMGNtRnVjMlp2Y20wOUluUnlZVzV6YkdGMFpTZ3pORGszTGpjc01Da2lQangxYzJVZ1pHRjBZUzFqUFNJeU9TSWdlR3hwYm1zNmFISmxaajBpSTAxS1dDMDNMVlJGV0MxT0xUSTVJaTgrUEM5blBqeG5JR1JoZEdFdGJXMXNMVzV2WkdVOUltMXZJaUIwY21GdWMyWnZjbTA5SW5SeVlXNXpiR0YwWlNnek9EZzJMamNzTUNraVBqeDFjMlVnWkdGMFlTMWpQU0l5T1NJZ2VHeHBibXM2YUhKbFpqMGlJMDFLV0MwM0xWUkZXQzFPTFRJNUlpOCtQQzluUGp3dlp6NDhMMmMrUEM5emRtYysiLAoJIlJlYWxWaWV3U2l6ZUpzb24iIDogIntcImhlaWdodFwiOjM1MSxcIndpZHRoXCI6MTUwMH0iCn0K"/>
    </extobj>
    <extobj name="2384804F-3998-4D57-9195-F3826E402611-4">
      <extobjdata type="2384804F-3998-4D57-9195-F3826E402611" data="ewoJIkltZ1NldHRpbmdKc29uIiA6ICJ7XCJoZWlnaHRcIjo4OC4zOTI4NTcxNDI4NTcxNCxcIndpZHRoXCI6NDU4LjkyODU3MTQyODU3MTR9IiwKCSJMYXRleCIgOiAiJSBCZWxsbWFuIEV4cGVjdGF0aW9uIEVxdWF0aW9uc1xuXFxiZWdpbnthbGlnbn1cblZeXFxwaShzKSAmPSBcXHN1bV9hIFxccGkoYSBcXG1pZCBzKSBcXHN1bV97cyd9IFAocycgXFxtaWQgcywgYSkgXFxCaWdbIFIocywgYSwgcycpICsgXFxnYW1tYSBWXlxccGkocycpIFxcQmlnXSBcXFxcXG5RXlxccGkocywgYSkgJj0gXFxzdW1fe3MnfSBQKHMnIFxcbWlkIHMsIGEpIFxcQmlnWyBSKHMsIGEsIHMnKSArIFxcZ2FtbWEgXFxzdW1fe2EnfSBcXHBpKGEnIFxcbWlkIHMnKSBRXlxccGkocycsIGEnKSBcXEJpZ11cblxcZW5ke2FsaWdufVxuIiwKCSJMYXRleEltZ0Jhc2U2NCIgOiAiUEhOMlp5QjRiV3h1Y3owaWFIUjBjRG92TDNkM2R5NTNNeTV2Y21jdk1qQXdNQzl6ZG1jaUlIZHBaSFJvUFNJMk1pNHdOemhsZUNJZ2FHVnBaMmgwUFNJeE1TNHpORGhsZUNJZ2NtOXNaVDBpYVcxbklpQm1iMk4xYzJGaWJHVTlJbVpoYkhObElpQjJhV1YzUW05NFBTSXdJQzB5TnpVM0xqa2dNamMwTXpndU15QTFNREUxTGpnaUlIaHRiRzV6T25oc2FXNXJQU0pvZEhSd09pOHZkM2QzTG5jekxtOXlaeTh4T1RrNUwzaHNhVzVySWlCaGNtbGhMV2hwWkdSbGJqMGlkSEoxWlNJZ2MzUjViR1U5SW5abGNuUnBZMkZzTFdGc2FXZHVPaUF0TlM0eE1EaGxlRHNnYldGNExYZHBaSFJvT2lBNU9DVTdJajQ4WkdWbWN6NDhjR0YwYUNCcFpEMGlUVXBZTFRFNExWUkZXQzFKTFRGRU5EUTVJaUJrUFNKTk5USWdOalE0VVRVeUlEWTNNQ0EyTlNBMk9ETklOelpSTVRFNElEWTRNQ0F4T0RFZ05qZ3dVVEk1T1NBMk9EQWdNekl3SURZNE0wZ3pNekJSTXpNMklEWTNOeUF6TXpZZ05qYzBWRE16TkNBMk5UWlJNekk1SURZME1TQXpNalVnTmpNM1NETXdORkV5T0RJZ05qTTFJREkzTkNBMk16VlJNalExSURZek1DQXlORElnTmpJd1VUSTBNaUEyTVRnZ01qY3hJRE0yT1ZRek1ERWdNVEU0VERNM05DQXlNelZSTkRRM0lETTFNaUExTWpBZ05EY3hWRFU1TlNBMU9UUlJOVGs1SURZd01TQTFPVGtnTmpBNVVUVTVPU0EyTXpNZ05UVTFJRFl6TjFFMU16Y2dOak0zSURVek55QTJORGhSTlRNM0lEWTBPU0ExTXprZ05qWXhVVFUwTWlBMk56VWdOVFExSURZM09WUTFOVGdnTmpnelVUVTJNQ0EyT0RNZ05UY3dJRFk0TTFRMk1EUWdOamd5VkRZMk9DQTJPREZSTnpNM0lEWTRNU0EzTlRVZ05qZ3pTRGMyTWxFM05qa2dOamMySURjMk9TQTJOekpSTnpZNUlEWTFOU0EzTmpBZ05qUXdVVGMxTnlBMk16Y2dOelF6SURZek4xRTNNekFnTmpNMklEY3hPU0EyTXpWVU5qazRJRFl6TUZRMk9ESWdOakl6VkRZM01DQTJNVFZVTmpZd0lEWXdPRlEyTlRJZ05UazVWRFkwTlNBMU9USk1ORFV5SURJNE1sRXlOeklnTFRrZ01qWTJJQzB4TmxFeU5qTWdMVEU0SURJMU9TQXRNakZNTWpReElDMHlNa2d5TXpSUk1qRTJJQzB5TWlBeU1UWWdMVEUxVVRJeE15QXRPU0F4TnpjZ016QTFVVEV6T1NBMk1qTWdNVE00SURZeU5sRXhNek1nTmpNM0lEYzJJRFl6TjBnMU9WRTFNaUEyTkRJZ05USWdOalE0V2lJdlBqeHdZWFJvSUdsa1BTSk5TbGd0TVRndFZFVllMVWt0TVVRM01FSWlJR1E5SWsweE16SWdMVEV4VVRrNElDMHhNU0E1T0NBeU1sWXpNMHd4TVRFZ05qRlJNVGcySURJeE9TQXlNakFnTXpNMFRESXlPQ0F6TlRoSU1UazJVVEUxT0NBek5UZ2dNVFF5SURNMU5WUXhNRE1nTXpNMlVUa3lJRE15T1NBNE1TQXpNVGhVTmpJZ01qazNWRFV6SURJNE5WRTFNU0F5T0RRZ016Z2dNamcwVVRFNUlESTROQ0F4T1NBeU9UUlJNVGtnTXpBd0lETTRJRE15T1ZRNU15QXpPVEZVTVRZMElEUXlPVkV4TnpFZ05ETXhJRE00T1NBME16RlJOVFE1SURRek1TQTFOVE1nTkRNd1VUVTNNeUEwTWpNZ05UY3pJRFF3TWxFMU56TWdNemN4SURVME1TQXpOakJSTlRNMUlETTFPQ0EwTnpJZ016VTRTRFF3T0V3ME1EVWdNelF4VVRNNU15QXlOamtnTXpreklESXlNbEV6T1RNZ01UY3dJRFF3TWlBeE1qbFVOREl4SURZMVZEUXpNU0F6TjFFME16RWdNakFnTkRFM0lEVlVNemd4SUMweE1GRXpOekFnTFRFd0lETTJNeUF0TjFRek5EY2dNVGRVTXpNeElEYzNVVE16TUNBNE5pQXpNekFnTVRJeFVUTXpNQ0F4TnpBZ016TTVJREl5TmxRek5UY2dNekU0VkRNMk55QXpOVGhJTWpZNVRESTJPQ0F6TlRSUk1qWTRJRE0xTVNBeU5Ea2dNamMxVkRJd05pQXhNVFJVTVRjMUlERTNVVEUyTkNBdE1URWdNVE15SUMweE1Wb2lMejQ4Y0dGMGFDQnBaRDBpVFVwWUxURTRMVlJGV0MxT0xUSTRJaUJrUFNKTk9UUWdNalV3VVRrMElETXhPU0F4TURRZ016Z3hWREV5TnlBME9EaFVNVFkwSURVM05sUXlNRElnTmpRelZESTBOQ0EyT1RWVU1qYzNJRGN5T1ZRek1ESWdOelV3U0RNeE5VZ3pNVGxSTXpNeklEYzFNQ0F6TXpNZ056UXhVVE16TXlBM016Z2dNekUySURjeU1GUXlOelVnTmpZM1ZESXlOaUExT0RGVU1UZzBJRFEwTTFReE5qY2dNalV3VkRFNE5DQTFPRlF5TWpVZ0xUZ3hWREkzTkNBdE1UWTNWRE14TmlBdE1qSXdWRE16TXlBdE1qUXhVVE16TXlBdE1qVXdJRE14T0NBdE1qVXdTRE14TlVnek1ESk1NamMwSUMweU1qWlJNVGd3SUMweE5ERWdNVE0zSUMweE5GUTVOQ0F5TlRCYUlpOCtQSEJoZEdnZ2FXUTlJazFLV0MweE9DMVVSVmd0U1MweFJEUTJNQ0lnWkQwaVRURXpNU0F5T0RsUk1UTXhJRE15TVNBeE5EY2dNelUwVkRJd015QTBNVFZVTXpBd0lEUTBNbEV6TmpJZ05EUXlJRE01TUNBME1UVlVOREU1SURNMU5WRTBNVGtnTXpJeklEUXdNaUF6TURoVU16WTBJREk1TWxFek5URWdNamt5SURNME1DQXpNREJVTXpJNElETXlObEV6TWpnZ016UXlJRE16TnlBek5UUlVNelUwSURNM01sUXpOamNnTXpjNFVUTTJPQ0F6TnpnZ016WTRJRE0zT1ZFek5qZ2dNemd5SURNMk1TQXpPRGhVTXpNMklETTVPVlF5T1RjZ05EQTFVVEkwT1NBME1EVWdNakkzSURNM09WUXlNRFFnTXpJMlVUSXdOQ0F6TURFZ01qSXpJREk1TVZReU56Z2dNamMwVkRNek1DQXlOVGxSTXprMklESXpNQ0F6T1RZZ01UWXpVVE01TmlBeE16VWdNemcxSURFd04xUXpOVElnTlRGVU1qZzVJRGRVTVRrMUlDMHhNRkV4TVRnZ0xURXdJRGcySURFNVZEVXpJRGczVVRVeklERXlOaUEzTkNBeE5ETlVNVEU0SURFMk1GRXhNek1nTVRZd0lERTBOaUF4TlRGVU1UWXdJREV5TUZFeE5qQWdPVFFnTVRReUlEYzJWREV4TVNBMU9GRXhNRGtnTlRjZ01UQTRJRFUzVkRFd055QTFOVkV4TURnZ05USWdNVEUxSURRM1ZERTBOaUF6TkZReU1ERWdNamRSTWpNM0lESTNJREkyTXlBek9GUXpNREVnTmpaVU16RTRJRGszVkRNeU15QXhNakpSTXpJeklERTFNQ0F6TURJZ01UWTBWREkxTkNBeE9ERlVNVGsxSURFNU5sUXhORGdnTWpNeFVURXpNU0F5TlRZZ01UTXhJREk0T1ZvaUx6NDhjR0YwYUNCcFpEMGlUVXBZTFRFNExWUkZXQzFPTFRJNUlpQmtQU0pOTmpBZ056UTVURFkwSURjMU1GRTJPU0EzTlRBZ056UWdOelV3U0RnMlRERXhOQ0EzTWpaUk1qQTRJRFkwTVNBeU5URWdOVEUwVkRJNU5DQXlOVEJSTWprMElERTRNaUF5T0RRZ01URTVWREkyTVNBeE1sUXlNalFnTFRjMlZERTROaUF0TVRRelZERTBOU0F0TVRrMFZERXhNeUF0TWpJM1ZEa3dJQzB5TkRaUk9EY2dMVEkwT1NBNE5pQXRNalV3U0RjMFVUWTJJQzB5TlRBZ05qTWdMVEkxTUZRMU9DQXRNalEzVkRVMUlDMHlNemhSTlRZZ0xUSXpOeUEyTmlBdE1qSTFVVEl5TVNBdE5qUWdNakl4SURJMU1GUTJOaUEzTWpWUk5UWWdOek0zSURVMUlEY3pPRkUxTlNBM05EWWdOakFnTnpRNVdpSXZQanh3WVhSb0lHbGtQU0pOU2xndE1UZ3RWRVZZTFU0dE0wUWlJR1E5SWswMU5pQXpORGRSTlRZZ016WXdJRGN3SURNMk4wZzNNRGRSTnpJeUlETTFPU0EzTWpJZ016UTNVVGN5TWlBek16WWdOekE0SURNeU9Fd3pPVEFnTXpJM1NEY3lVVFUySURNek1pQTFOaUF6TkRkYVRUVTJJREUxTTFFMU5pQXhOamdnTnpJZ01UY3pTRGN3T0ZFM01qSWdNVFl6SURjeU1pQXhOVE5STnpJeUlERTBNQ0EzTURjZ01UTXpTRGN3VVRVMklERTBNQ0ExTmlBeE5UTmFJaTgrUEhCaGRHZ2dhV1E5SWsxS1dDMHhPQzFVUlZndFRFOHRNakl4TVNJZ1pEMGlUVFl3SURrME9GRTJNeUE1TlRBZ05qWTFJRGsxTUVneE1qWTNUREV6TWpVZ09ERTFVVEV6T0RRZ05qYzNJREV6T0RnZ05qWTVTREV6TkRoTU1UTTBNU0EyT0ROUk1UTXlNQ0EzTWpRZ01USTROU0EzTmpGUk1USXpOU0E0TURrZ01URTNOQ0E0TXpoVU1UQXpNeUE0T0RGVU9EZ3lJRGc1T0ZRMk9Ua2dPVEF5U0RVM05FZzFORE5JTWpVeFRESTFPU0E0T1RGUk56SXlJREkxT0NBM01qUWdNalV5VVRjeU5TQXlOVEFnTnpJMElESTBObEUzTWpFZ01qUXpJRFEyTUNBdE5UWk1NVGsySUMwek5UWlJNVGsySUMwek5UY2dOREEzSUMwek5UZFJORFU1SUMwek5UY2dOVFE0SUMwek5UZFVOamMySUMwek5UaFJPREV5SUMwek5UZ2dPRGsySUMwek5UTlVNVEEyTXlBdE16TXlWREV5TURRZ0xUSTRNMVF4TXpBM0lDMHhPVFpSTVRNeU9DQXRNVGN3SURFek5EZ2dMVEV5TkVneE16ZzRVVEV6T0RnZ0xURXlOU0F4TXpneElDMHhORFZVTVRNMU5pQXRNakV3VkRFek1qVWdMVEk1TkV3eE1qWTNJQzAwTkRsTU5qWTJJQzAwTlRCUk5qUWdMVFExTUNBMk1TQXRORFE0VVRVMUlDMDBORFlnTlRVZ0xUUXpPVkUxTlNBdE5ETTNJRFUzSUMwME16Tk1OVGt3SURFM04xRTFPVEFnTVRjNElEVTFOeUF5TWpKVU5EVXlJRE0yTmxRek1qSWdOVFEwVERVMklEa3dPVXcxTlNBNU1qUlJOVFVnT1RRMUlEWXdJRGswT0ZvaUx6NDhjR0YwYUNCcFpEMGlUVXBZTFRFNExWUkZXQzFKTFRGRU5EUkZJaUJrUFNKTk16TWdNVFUzVVRNeklESTFPQ0F4TURrZ016UTVWREk0TUNBME5ERlJNek14SURRME1TQXpOekFnTXpreVVUTTROaUEwTWpJZ05ERTJJRFF5TWxFME1qa2dOREl5SURRek9TQTBNVFJVTkRRNUlETTVORkUwTkRrZ016Z3hJRFF4TWlBeU16UlVNemMwSURZNFVUTTNOQ0EwTXlBek9ERWdNelZVTkRBeUlESTJVVFF4TVNBeU55QTBNaklnTXpWUk5EUXpJRFUxSURRMk15QXhNekZSTkRZNUlERTFNU0EwTnpNZ01UVXlVVFEzTlNBeE5UTWdORGd6SURFMU0wZzBPRGRSTlRBMklERTFNeUExTURZZ01UUTBVVFV3TmlBeE16Z2dOVEF4SURFeE4xUTBPREVnTmpOVU5EUTVJREV6VVRRek5pQXdJRFF4TnlBdE9GRTBNRGtnTFRFd0lETTVNeUF0TVRCUk16VTVJQzB4TUNBek16WWdOVlF6TURZZ016Wk1NekF3SURVeFVUSTVPU0ExTWlBeU9UWWdOVEJSTWprMElEUTRJREk1TWlBME5sRXlNek1nTFRFd0lERTNNaUF0TVRCUk1URTNJQzB4TUNBM05TQXpNRlF6TXlBeE5UZGFUVE0xTVNBek1qaFJNelV4SURNek5DQXpORFlnTXpVd1ZETXlNeUF6T0RWVU1qYzNJRFF3TlZFeU5ESWdOREExSURJeE1DQXpOelJVTVRZd0lESTVNMUV4TXpFZ01qRTBJREV4T1NBeE1qbFJNVEU1SURFeU5pQXhNVGtnTVRFNFZERXhPQ0F4TURaUk1URTRJRFl4SURFek5pQTBORlF4TnprZ01qWlJNakUzSURJMklESTFOQ0ExT1ZReU9UZ2dNVEV3VVRNd01DQXhNVFFnTXpJMUlESXhOMVF6TlRFZ016STRXaUl2UGp4d1lYUm9JR2xrUFNKTlNsZ3RNVGd0VkVWWUxVNHRNakl5TXlJZ1pEMGlUVEV6T1NBdE1qUTVTREV6TjFFeE1qVWdMVEkwT1NBeE1Ua2dMVEl6TlZZeU5URk1NVEl3SURjek4xRXhNekFnTnpVd0lERXpPU0EzTlRCUk1UVXlJRGMxTUNBeE5Ua2dOek0xVmkweU16VlJNVFV4SUMweU5Ea2dNVFF4SUMweU5EbElNVE01V2lJdlBqeHdZWFJvSUdsa1BTSk5TbGd0TVRndFZFVllMVll0TWpBek1pSWdaRDBpVFRjNUlEUXpVVGN6SURReklEVXlJRFE1VkRNd0lEWXhVVE13SURZNElEZzFJREk1TTFReE5EWWdOVEk0VVRFMk1TQTFOakFnTVRrNElEVTJNRkV5TVRnZ05UWXdJREkwTUNBMU5EVlVNall5SURVd01WRXlOaklnTkRrMklESTJNQ0EwT0RaUk1qVTVJRFEzT1NBeE56TWdNall6VkRnMElEUTFWRGM1SURReldpSXZQanh3WVhSb0lHbGtQU0pOU2xndE1UZ3RWRVZZTFVrdE1VUTBORE1pSUdROUlrMHlPRGNnTmpJNFVUSTROeUEyTXpVZ01qTXdJRFl6TjFFeU1EWWdOak0zSURFNU9TQTJNemhVTVRreUlEWTBPRkV4T1RJZ05qUTVJREU1TkNBMk5UbFJNakF3SURZM09TQXlNRE1nTmpneFZETTVOeUEyT0ROUk5UZzNJRFk0TWlBMk1EQWdOamd3VVRZMk5DQTJOamtnTnpBM0lEWXpNVlEzTlRFZ05UTXdVVGMxTVNBME5UTWdOamcxSURNNE9WRTJNVFlnTXpJeElEVXdOeUF6TUROUk5UQXdJRE13TWlBME1ESWdNekF4U0RNd04wd3lOemNnTVRneVVUSTBOeUEyTmlBeU5EY2dOVGxSTWpRM0lEVTFJREkwT0NBMU5GUXlOVFVnTlRCVU1qY3lJRFE0VkRNd05TQTBOa2d6TXpaUk16UXlJRE0zSURNME1pQXpOVkV6TkRJZ01Ua2dNek0xSURWUk16TXdJREFnTXpFNUlEQlJNekUySURBZ01qZ3lJREZVTVRneUlESlJNVEl3SURJZ09EY2dNbFExTVNBeFVUTXpJREVnTXpNZ01URlJNek1nTVRNZ016WWdNalZSTkRBZ05ERWdORFFnTkROVU5qY2dORFpST1RRZ05EWWdNVEkzSURRNVVURTBNU0ExTWlBeE5EWWdOakZSTVRRNUlEWTFJREl4T0NBek16bFVNamczSURZeU9GcE5OalExSURVMU5GRTJORFVnTlRZM0lEWTBNeUExTnpWVU5qTTBJRFU1TjFRMk1Ea2dOakU1VkRVMk1DQTJNelZSTlRVeklEWXpOaUEwT0RBZ05qTTNVVFEyTXlBMk16Y2dORFExSURZek4xUTBNVFlnTmpNMlZEUXdOQ0EyTXpaUk16a3hJRFl6TlNBek9EWWdOakkzVVRNNE5DQTJNakVnTXpZM0lEVTFNRlF6TXpJZ05ERXlWRE14TkNBek5EUlJNekUwSURNME1pQXpPVFVnTXpReVNEUXdOMGcwTXpCUk5UUXlJRE0wTWlBMU9UQWdNemt5VVRZeE55QTBNVGtnTmpNeElEUTNNVlEyTkRVZ05UVTBXaUl2UGp4d1lYUm9JR2xrUFNKTlNsZ3RNVGd0VkVWWUxVNHRNa01pSUdROUlrMDNPQ0F6TlZRM09DQTJNRlE1TkNBeE1ETlVNVE0zSURFeU1WRXhOalVnTVRJeElERTROeUE1TmxReU1UQWdPRkV5TVRBZ0xUSTNJREl3TVNBdE5qQlVNVGd3SUMweE1UZFVNVFUwSUMweE5UaFVNVE13SUMweE9EVlVNVEUzSUMweE9UUlJNVEV6SUMweE9UUWdNVEEwSUMweE9EVlVPVFVnTFRFM01sRTVOU0F0TVRZNElERXdOaUF0TVRVMlZERXpNU0F0TVRJMlZERTFOeUF0TnpaVU1UY3pJQzB6VmpsTU1UY3lJRGhSTVRjd0lEY2dNVFkzSURaVU1UWXhJRE5VTVRVeUlERlVNVFF3SURCUk1URXpJREFnT1RZZ01UZGFJaTgrUEhCaGRHZ2dhV1E5SWsxS1dDMHhPQzFVUlZndFRFOHROVUlpSUdROUlrMHlNalFnTFRZME9WWXhNVFV3U0RRMU5WWXhNRGs1U0RJM05WWXROVGs0U0RRMU5WWXROalE1U0RJeU5Gb2lMejQ4Y0dGMGFDQnBaRDBpVFVwWUxURTRMVlJGV0MxSkxURkVORFExSWlCa1BTSk5Nak13SURZek4xRXlNRE1nTmpNM0lERTVPQ0EyTXpoVU1Ua3pJRFkwT1ZFeE9UTWdOamMySURJd05DQTJPREpSTWpBMklEWTRNeUF6TnpnZ05qZ3pVVFUxTUNBMk9ESWdOVFkwSURZNE1GRTJNakFnTmpjeUlEWTFPQ0EyTlRKVU56RXlJRFl3TmxRM016TWdOVFl6VkRjek9TQTFNamxSTnpNNUlEUTROQ0EzTVRBZ05EUTFWRFkwTXlBek9EVlVOVGMySURNMU1WUTFNemdnTXpNNFREVTBOU0F6TXpOUk5qRXlJREk1TlNBMk1USWdNakl6VVRZeE1pQXlNVElnTmpBM0lERTJNbFEyTURJZ09EQldOekZSTmpBeUlEVXpJRFl3TXlBME0xUTJNVFFnTWpWVU5qUXdJREUyVVRZMk9DQXhOaUEyT0RZZ016aFVOekV5SURnMVVUY3hOeUE1T1NBM01qQWdNVEF5VkRjek5TQXhNRFZSTnpVMUlERXdOU0EzTlRVZ09UTlJOelUxSURjMUlEY3pNU0F6TmxFMk9UTWdMVEl4SURZME1TQXRNakZJTmpNeVVUVTNNU0F0TWpFZ05UTXhJRFJVTkRnM0lEZ3lVVFE0TnlBeE1Ea2dOVEF5SURFMk5sUTFNVGNnTWpNNVVUVXhOeUF5T1RBZ05EYzBJRE14TTFFME5Ua2dNekl3SURRME9TQXpNakZVTXpjNElETXlNMGd6TURsTU1qYzNJREU1TTFFeU5EUWdOakVnTWpRMElEVTVVVEkwTkNBMU5TQXlORFVnTlRSVU1qVXlJRFV3VkRJMk9TQTBPRlF6TURJZ05EWklNek16VVRNek9TQXpPQ0F6TXprZ016ZFVNek0ySURFNVVUTXpNaUEySURNeU5pQXdTRE14TVZFeU56VWdNaUF4T0RBZ01sRXhORFlnTWlBeE1UY2dNbFEzTVNBeVZEVXdJREZSTXpNZ01TQXpNeUF4TUZFek15QXhNaUF6TmlBeU5GRTBNU0EwTXlBME5pQTBOVkUxTUNBME5pQTJNU0EwTmtnMk4xRTVOQ0EwTmlBeE1qY2dORGxSTVRReElEVXlJREUwTmlBMk1WRXhORGtnTmpVZ01qRTRJRE16T1ZReU9EY2dOakk0VVRJNE55QTJNelVnTWpNd0lEWXpOMXBOTmpNd0lEVTFORkUyTXpBZ05UZzJJRFl3T1NBMk1EaFVOVEl6SURZek5sRTFNakVnTmpNMklEVXdNQ0EyTXpaVU5EWXlJRFl6TjBnME5EQlJNemt6SURZek55QXpPRFlnTmpJM1VUTTROU0EyTWpRZ016VXlJRFE1TkZRek1Ua2dNell4VVRNeE9TQXpOakFnTXpnNElETTJNRkUwTmpZZ016WXhJRFE1TWlBek5qZFJOVFUySURNM055QTFPVElnTkRJMlVUWXdPQ0EwTkRrZ05qRTVJRFE0TmxRMk16QWdOVFUwV2lJdlBqeHdZWFJvSUdsa1BTSk5TbGd0TVRndFZFVllMVTR0TWtJaUlHUTlJazAxTmlBeU16ZFVOVFlnTWpVd1ZEY3dJREkzTUVnek5qbFdOREl3VERNM01DQTFOekJSTXpnd0lEVTRNeUF6T0RrZ05UZ3pVVFF3TWlBMU9ETWdOREE1SURVMk9GWXlOekJJTnpBM1VUY3lNaUF5TmpJZ056SXlJREkxTUZRM01EY2dNak13U0RRd09WWXROamhSTkRBeElDMDRNaUF6T1RFZ0xUZ3lTRE00T1Vnek9EZFJNemMxSUMwNE1pQXpOamtnTFRZNFZqSXpNRWczTUZFMU5pQXlNemNnTlRZZ01qVXdXaUl2UGp4d1lYUm9JR2xrUFNKTlNsZ3RNVGd0VkVWWUxVa3RNVVEyUmtVaUlHUTlJazB6TVNBeU5EbFJNVEVnTWpRNUlERXhJREkxT0ZFeE1TQXlOelVnTWpZZ016QTBWRFkySURNMk5WUXhNamtnTkRFNFZESXdOaUEwTkRGUk1qTXpJRFEwTVNBeU16a2dORFF3VVRJNE55QTBNamtnTXpFNElETTRObFF6TnpFZ01qVTFVVE00TlNBeE9UVWdNemcxSURFM01GRXpPRFVnTVRZMklETTROaUF4TmpaTU16azRJREU1TTFFME1UZ2dNalEwSURRME15QXpNREJVTkRnMklETTVNVlExTURnZ05ETXdVVFV4TUNBME16RWdOVEkwSURRek1VZzFNemRSTlRReklEUXlOU0ExTkRNZ05ESXlVVFUwTXlBME1UZ2dOVEl5SURNM09GUTBOak1nTWpVeFZETTVNU0EzTVZFek9EVWdOVFVnTXpjNElEWlVNelUzSUMweE1EQlJNelF4SUMweE5qVWdNek13SUMweE9UQlVNekF6SUMweU1UWlJNamcySUMweU1UWWdNamcySUMweE9EaFJNamcySUMweE16Z2dNelF3SURNeVRETTBOaUExTVV3ek5EY2dOamxSTXpRNElEYzVJRE0wT0NBeE1EQlJNelE0SURJMU55QXlPVEVnTXpFM1VUSTFNU0F6TlRVZ01UazJJRE0xTlZFeE5EZ2dNelUxSURFd09DQXpNamxVTlRFZ01qWXdVVFE1SURJMU1TQTBOeUF5TlRGUk5EVWdNalE1SURNeElESTBPVm9pTHo0OGNHRjBhQ0JwWkQwaVRVcFlMVEU0TFZSRldDMU1UeTAxUkNJZ1pEMGlUVEUySURFd09UbFdNVEUxTUVneU5EZFdMVFkwT1VneE5sWXROVGs0U0RFNU5sWXhNRGs1U0RFMldpSXZQanh3WVhSb0lHbGtQU0pOU2xndE1UZ3RWRVZZTFVrdE1VUTBORFFpSUdROUlrMHpPVGtnTFRnd1VUTTVPU0F0TkRjZ05EQXdJQzB6TUZRME1ESWdMVEV4VmkwM1RETTROeUF0TVRGUk16UXhJQzB5TWlBek1ETWdMVEl5VVRJd09DQXRNaklnTVRNNElETTFWRFV4SURJd01WRTFNQ0F5TURrZ05UQWdNalEwVVRVd0lETTBOaUE1T0NBME16aFVNakkzSURZd01WRXpOVEVnTnpBMElEUTNOaUEzTURSUk5URTBJRGN3TkNBMU1qUWdOekF6VVRZeU1TQTJPRGtnTmpnd0lEWXhOMVEzTkRBZ05ETTFVVGMwTUNBeU5UVWdOVGt5SURFd04xRTFNamtnTkRjZ05EWXhJREUyVERRME5DQTRWak5STkRRMElESWdORFE1SUMweU5GUTBOekFnTFRZMlZEVXhOaUF0T0RKUk5UVXhJQzA0TWlBMU9ETWdMVFl3VkRZeU5TQXRNMUUyTXpFZ01URWdOak00SURFeFVUWTBOeUF4TVNBMk5Ea2dNbEUyTkRrZ0xUWWdOak01SUMwek5GUTJNVEVnTFRFd01GUTFOVGNnTFRFMk5WUTBPREVnTFRFNU5GRXpPVGtnTFRFNU5DQXpPVGtnTFRnM1ZpMDRNRnBOTmpNMklEUTJPRkUyTXpZZ05USXpJRFl5TVNBMU5qUlVOVGd3SURZeU5WUTFNekFnTmpVMVZEUTNOeUEyTmpWUk5ESTVJRFkyTlNBek56a2dOalF3VVRJM055QTFPVEVnTWpFMUlEUTJORlF4TlRNZ01qRTJVVEUxTXlBeE1UQWdNakEzSURVNVVUSXpNU0F6T0NBeU16WWdNemhXTkRaUk1qTTJJRGcySURJMk9TQXhNakJVTXpRM0lERTFOVkV6TnpJZ01UVTFJRE01TUNBeE5EUlVOREUzSURFeE5GUTBNamtnT0RKVU5ETTFJRFUxVERRME9DQTJORkUxTVRJZ01UQTRJRFUxTnlBeE9EVlVOakU1SURNek5GUTJNellnTkRZNFdrMHpNVFFnTVRoUk16WXlJREU0SURRd05DQXpPVXcwTURNZ05EbFJNems1SURFd05DQXpOallnTVRFMVVUTTFOQ0F4TVRjZ016UTNJREV4TjFFek5EUWdNVEUzSURNME1TQXhNVGRVTXpNM0lERXhPRkV6TVRjZ01URTRJREk1TmlBNU9GUXlOelFnTlRKUk1qYzBJREU0SURNeE5DQXhPRm9pTHo0OEwyUmxabk0rUEdjZ2MzUnliMnRsUFNKamRYSnlaVzUwUTI5c2IzSWlJR1pwYkd3OUltTjFjbkpsYm5SRGIyeHZjaUlnYzNSeWIydGxMWGRwWkhSb1BTSXdJaUIwY21GdWMyWnZjbTA5SW5OallXeGxLREVzTFRFcElqNDhaeUJrWVhSaExXMXRiQzF1YjJSbFBTSnRZWFJvSWo0OFp5QmtZWFJoTFcxdGJDMXViMlJsUFNKdGRHRmliR1VpUGp4bklHUmhkR0V0Ylcxc0xXNXZaR1U5SW0xMGNpSWdkSEpoYm5ObWIzSnRQU0owY21GdWMyeGhkR1VvTUN3eE5qQTRMalFwSWo0OFp5QmtZWFJoTFcxdGJDMXViMlJsUFNKdGRHUWlJSFJ5WVc1elptOXliVDBpZEhKaGJuTnNZWFJsS0Rrek5pNDBMREFwSWo0OFp5QmtZWFJoTFcxdGJDMXViMlJsUFNKdGMzVndJajQ4WnlCa1lYUmhMVzF0YkMxdWIyUmxQU0p0YVNJK1BIVnpaU0JrWVhSaExXTTlJakZFTkRRNUlpQjRiR2x1YXpwb2NtVm1QU0lqVFVwWUxURTRMVlJGV0MxSkxURkVORFE1SWk4K1BDOW5QanhuSUdSaGRHRXRiVzFzTFc1dlpHVTlJbTFwSWlCMGNtRnVjMlp2Y20wOUluUnlZVzV6YkdGMFpTZzROakV1TXl3ME1UTXBJSE5qWVd4bEtEQXVOekEzS1NJK1BIVnpaU0JrWVhSaExXTTlJakZFTnpCQ0lpQjRiR2x1YXpwb2NtVm1QU0lqVFVwWUxURTRMVlJGV0MxSkxURkVOekJDSWk4K1BDOW5Qand2Wno0OFp5QmtZWFJoTFcxdGJDMXViMlJsUFNKdGJ5SWdkSEpoYm5ObWIzSnRQU0owY21GdWMyeGhkR1VvTVRNeE5DNDBMREFwSWo0OGRYTmxJR1JoZEdFdFl6MGlNamdpSUhoc2FXNXJPbWh5WldZOUlpTk5TbGd0TVRndFZFVllMVTR0TWpnaUx6NDhMMmMrUEdjZ1pHRjBZUzF0Yld3dGJtOWtaVDBpYldraUlIUnlZVzV6Wm05eWJUMGlkSEpoYm5Oc1lYUmxLREUzTURNdU5Dd3dLU0krUEhWelpTQmtZWFJoTFdNOUlqRkVORFl3SWlCNGJHbHVhenBvY21WbVBTSWpUVXBZTFRFNExWUkZXQzFKTFRGRU5EWXdJaTgrUEM5blBqeG5JR1JoZEdFdGJXMXNMVzV2WkdVOUltMXZJaUIwY21GdWMyWnZjbTA5SW5SeVlXNXpiR0YwWlNneU1UY3lMalFzTUNraVBqeDFjMlVnWkdGMFlTMWpQU0l5T1NJZ2VHeHBibXM2YUhKbFpqMGlJMDFLV0MweE9DMVVSVmd0VGkweU9TSXZQand2Wno0OEwyYytQR2NnWkdGMFlTMXRiV3d0Ym05a1pUMGliWFJrSWlCMGNtRnVjMlp2Y20wOUluUnlZVzV6YkdGMFpTZ3pORGszTGpjc01Da2lQanhuSUdSaGRHRXRiVzFzTFc1dlpHVTlJbTFwSWk4K1BHY2daR0YwWVMxdGJXd3RibTlrWlQwaWJXOGlJSFJ5WVc1elptOXliVDBpZEhKaGJuTnNZWFJsS0RJM055NDRMREFwSWo0OGRYTmxJR1JoZEdFdFl6MGlNMFFpSUhoc2FXNXJPbWh5WldZOUlpTk5TbGd0TVRndFZFVllMVTR0TTBRaUx6NDhMMmMrUEdjZ1pHRjBZUzF0Yld3dGJtOWtaVDBpYlhWdVpHVnlJaUIwY21GdWMyWnZjbTA5SW5SeVlXNXpiR0YwWlNneE16TXpMallzTUNraVBqeG5JR1JoZEdFdGJXMXNMVzV2WkdVOUltMXZJajQ4ZFhObElHUmhkR0V0WXowaU1qSXhNU0lnZUd4cGJtczZhSEpsWmowaUkwMUtXQzB4T0MxVVJWZ3RURTh0TWpJeE1TSXZQand2Wno0OFp5QmtZWFJoTFcxdGJDMXViMlJsUFNKdGFTSWdkSEpoYm5ObWIzSnRQU0owY21GdWMyeGhkR1VvTlRNMUxDMHhNRFV3S1NCelkyRnNaU2d3TGpjd055a2lQangxYzJVZ1pHRjBZUzFqUFNJeFJEUTBSU0lnZUd4cGJtczZhSEpsWmowaUkwMUtXQzB4T0MxVVJWZ3RTUzB4UkRRMFJTSXZQand2Wno0OEwyYytQR2NnWkdGMFlTMXRiV3d0Ym05a1pUMGliV2tpSUhSeVlXNXpabTl5YlQwaWRISmhibk5zWVhSbEtESTVORFF1TWl3d0tTSStQSFZ6WlNCa1lYUmhMV005SWpGRU56QkNJaUI0YkdsdWF6cG9jbVZtUFNJalRVcFlMVEU0TFZSRldDMUpMVEZFTnpCQ0lpOCtQQzluUGp4bklHUmhkR0V0Ylcxc0xXNXZaR1U5SW0xdklpQjBjbUZ1YzJadmNtMDlJblJ5WVc1emJHRjBaU2d6TlRFMExqSXNNQ2tpUGp4MWMyVWdaR0YwWVMxalBTSXlPQ0lnZUd4cGJtczZhSEpsWmowaUkwMUtXQzB4T0MxVVJWZ3RUaTB5T0NJdlBqd3ZaejQ4WnlCa1lYUmhMVzF0YkMxdWIyUmxQU0p0YVNJZ2RISmhibk5tYjNKdFBTSjBjbUZ1YzJ4aGRHVW9Nemt3TXk0eUxEQXBJajQ4ZFhObElHUmhkR0V0WXowaU1VUTBORVVpSUhoc2FXNXJPbWh5WldZOUlpTk5TbGd0TVRndFZFVllMVWt0TVVRME5FVWlMejQ4TDJjK1BHY2daR0YwWVMxdGJXd3RibTlrWlQwaWJXOGlJSFJ5WVc1elptOXliVDBpZEhKaGJuTnNZWFJsS0RRM01UQXNNQ2tpUGp4MWMyVWdaR0YwWVMxalBTSXlNakl6SWlCNGJHbHVhenBvY21WbVBTSWpUVXBZTFRFNExWUkZXQzFPTFRJeU1qTWlMejQ4TDJjK1BHY2daR0YwWVMxdGJXd3RibTlrWlQwaWJXa2lJSFJ5WVc1elptOXliVDBpZEhKaGJuTnNZWFJsS0RVeU5qVXVPQ3d3S1NJK1BIVnpaU0JrWVhSaExXTTlJakZFTkRZd0lpQjRiR2x1YXpwb2NtVm1QU0lqVFVwWUxURTRMVlJGV0MxSkxURkVORFl3SWk4K1BDOW5QanhuSUdSaGRHRXRiVzFzTFc1dlpHVTlJbTF2SWlCMGNtRnVjMlp2Y20wOUluUnlZVzV6YkdGMFpTZzFOek0wTGpnc01Da2lQangxYzJVZ1pHRjBZUzFqUFNJeU9TSWdlR3hwYm1zNmFISmxaajBpSTAxS1dDMHhPQzFVUlZndFRpMHlPU0l2UGp3dlp6NDhaeUJrWVhSaExXMXRiQzF1YjJSbFBTSnRkVzVrWlhJaUlIUnlZVzV6Wm05eWJUMGlkSEpoYm5Oc1lYUmxLRFl5T1RBdU5Dd3dLU0krUEdjZ1pHRjBZUzF0Yld3dGJtOWtaVDBpYlc4aVBqeDFjMlVnWkdGMFlTMWpQU0l5TWpFeElpQjRiR2x1YXpwb2NtVm1QU0lqVFVwWUxURTRMVlJGV0MxTVR5MHlNakV4SWk4K1BDOW5QanhuSUdSaGRHRXRiVzFzTFc1dlpHVTlJbFJsV0VGMGIyMGlJSFJ5WVc1elptOXliVDBpZEhKaGJuTnNZWFJsS0RRMU9DNHhMQzB4TVRBeExqUXBJSE5qWVd4bEtEQXVOekEzS1NJZ1pHRjBZUzF0YW5ndGRHVjRZMnhoYzNNOUlrOVNSQ0krUEdjZ1pHRjBZUzF0Yld3dGJtOWtaVDBpYlhOMWNDSStQR2NnWkdGMFlTMXRiV3d0Ym05a1pUMGliV2tpUGp4MWMyVWdaR0YwWVMxalBTSXhSRFEyTUNJZ2VHeHBibXM2YUhKbFpqMGlJMDFLV0MweE9DMVVSVmd0U1MweFJEUTJNQ0l2UGp3dlp6NDhaeUJrWVhSaExXMXRiQzF1YjJSbFBTSnRieUlnZEhKaGJuTm1iM0p0UFNKMGNtRnVjMnhoZEdVb05UQXlMREk0T1NrZ2MyTmhiR1VvTUM0M01EY3BJajQ4ZFhObElHUmhkR0V0WXowaU1qQXpNaUlnZUd4cGJtczZhSEpsWmowaUkwMUtXQzB4T0MxVVJWZ3RWaTB5TURNeUlpOCtQQzluUGp3dlp6NDhMMmMrUEM5blBqeG5JR1JoZEdFdGJXMXNMVzV2WkdVOUltMXBJaUIwY21GdWMyWnZjbTA5SW5SeVlXNXpiR0YwWlNnM09UQXhMakVzTUNraVBqeDFjMlVnWkdGMFlTMWpQU0l4UkRRME15SWdlR3hwYm1zNmFISmxaajBpSTAxS1dDMHhPQzFVUlZndFNTMHhSRFEwTXlJdlBqd3ZaejQ4WnlCa1lYUmhMVzF0YkMxdWIyUmxQU0p0YnlJZ2RISmhibk5tYjNKdFBTSjBjbUZ1YzJ4aGRHVW9PRFkxTWk0eExEQXBJajQ4ZFhObElHUmhkR0V0WXowaU1qZ2lJSGhzYVc1ck9taHlaV1k5SWlOTlNsZ3RNVGd0VkVWWUxVNHRNamdpTHo0OEwyYytQR2NnWkdGMFlTMXRiV3d0Ym05a1pUMGliWE4xY0NJZ2RISmhibk5tYjNKdFBTSjBjbUZ1YzJ4aGRHVW9PVEEwTVM0eExEQXBJajQ4WnlCa1lYUmhMVzF0YkMxdWIyUmxQU0p0YVNJK1BIVnpaU0JrWVhSaExXTTlJakZFTkRZd0lpQjRiR2x1YXpwb2NtVm1QU0lqVFVwWUxURTRMVlJGV0MxSkxURkVORFl3SWk4K1BDOW5QanhuSUdSaGRHRXRiVzFzTFc1dlpHVTlJbTF2SWlCMGNtRnVjMlp2Y20wOUluUnlZVzV6YkdGMFpTZzFNRElzTkRFektTQnpZMkZzWlNnd0xqY3dOeWtpUGp4MWMyVWdaR0YwWVMxalBTSXlNRE15SWlCNGJHbHVhenBvY21WbVBTSWpUVXBZTFRFNExWUkZXQzFXTFRJd016SWlMejQ4TDJjK1BDOW5QanhuSUdSaGRHRXRiVzFzTFc1dlpHVTlJbTF2SWlCMGNtRnVjMlp2Y20wOUluUnlZVzV6YkdGMFpTZ3hNREEyTlM0ekxEQXBJajQ4ZFhObElHUmhkR0V0WXowaU1qSXlNeUlnZUd4cGJtczZhSEpsWmowaUkwMUtXQzB4T0MxVVJWZ3RUaTB5TWpJeklpOCtQQzluUGp4bklHUmhkR0V0Ylcxc0xXNXZaR1U5SW0xcElpQjBjbUZ1YzJadmNtMDlJblJ5WVc1emJHRjBaU2d4TURZeU1TNHhMREFwSWo0OGRYTmxJR1JoZEdFdFl6MGlNVVEwTmpBaUlIaHNhVzVyT21oeVpXWTlJaU5OU2xndE1UZ3RWRVZZTFVrdE1VUTBOakFpTHo0OEwyYytQR2NnWkdGMFlTMXRiV3d0Ym05a1pUMGliVzhpSUhSeVlXNXpabTl5YlQwaWRISmhibk5zWVhSbEtERXhNRGt3TGpFc01Da2lQangxYzJVZ1pHRjBZUzFqUFNJeVF5SWdlR3hwYm1zNmFISmxaajBpSTAxS1dDMHhPQzFVUlZndFRpMHlReUl2UGp3dlp6NDhaeUJrWVhSaExXMXRiQzF1YjJSbFBTSnRhU0lnZEhKaGJuTm1iM0p0UFNKMGNtRnVjMnhoZEdVb01URTFNelF1T0N3d0tTSStQSFZ6WlNCa1lYUmhMV005SWpGRU5EUkZJaUI0YkdsdWF6cG9jbVZtUFNJalRVcFlMVEU0TFZSRldDMUpMVEZFTkRSRklpOCtQQzluUGp4bklHUmhkR0V0Ylcxc0xXNXZaR1U5SW0xdklpQjBjbUZ1YzJadmNtMDlJblJ5WVc1emJHRjBaU2d4TWpBMk15NDRMREFwSWo0OGRYTmxJR1JoZEdFdFl6MGlNamtpSUhoc2FXNXJPbWh5WldZOUlpTk5TbGd0TVRndFZFVllMVTR0TWpraUx6NDhMMmMrUEdjZ1pHRjBZUzF0Yld3dGJtOWtaVDBpVkdWWVFYUnZiU0lnWkdGMFlTMXRhbmd0ZEdWNFkyeGhjM005SWs5U1JDSWdkSEpoYm5ObWIzSnRQU0owY21GdWMyeGhkR1VvTVRJME5USXVPQ3d3S1NJK1BHY2daR0YwWVMxdGJXd3RibTlrWlQwaWJXOGlJSFJ5WVc1elptOXliVDBpZEhKaGJuTnNZWFJsS0RBZ0xUQXVOU2tpUGp4MWMyVWdaR0YwWVMxalBTSTFRaUlnZUd4cGJtczZhSEpsWmowaUkwMUtXQzB4T0MxVVJWZ3RURTh0TlVJaUx6NDhMMmMrUEM5blBqeG5JR1JoZEdFdGJXMXNMVzV2WkdVOUltMXBJaUIwY21GdWMyWnZjbTA5SW5SeVlXNXpiR0YwWlNneE1qa3lOQzQ0TERBcElqNDhkWE5sSUdSaGRHRXRZejBpTVVRME5EVWlJSGhzYVc1ck9taHlaV1k5SWlOTlNsZ3RNVGd0VkVWWUxVa3RNVVEwTkRVaUx6NDhMMmMrUEdjZ1pHRjBZUzF0Yld3dGJtOWtaVDBpYlc4aUlIUnlZVzV6Wm05eWJUMGlkSEpoYm5Oc1lYUmxLREV6TmpnekxqZ3NNQ2tpUGp4MWMyVWdaR0YwWVMxalBTSXlPQ0lnZUd4cGJtczZhSEpsWmowaUkwMUtXQzB4T0MxVVJWZ3RUaTB5T0NJdlBqd3ZaejQ4WnlCa1lYUmhMVzF0YkMxdWIyUmxQU0p0YVNJZ2RISmhibk5tYjNKdFBTSjBjbUZ1YzJ4aGRHVW9NVFF3TnpJdU9Dd3dLU0krUEhWelpTQmtZWFJoTFdNOUlqRkVORFl3SWlCNGJHbHVhenBvY21WbVBTSWpUVXBZTFRFNExWUkZXQzFKTFRGRU5EWXdJaTgrUEM5blBqeG5JR1JoZEdFdGJXMXNMVzV2WkdVOUltMXZJaUIwY21GdWMyWnZjbTA5SW5SeVlXNXpiR0YwWlNneE5EVTBNUzQ0TERBcElqNDhkWE5sSUdSaGRHRXRZejBpTWtNaUlIaHNhVzVyT21oeVpXWTlJaU5OU2xndE1UZ3RWRVZZTFU0dE1rTWlMejQ4TDJjK1BHY2daR0YwWVMxdGJXd3RibTlrWlQwaWJXa2lJSFJ5WVc1elptOXliVDBpZEhKaGJuTnNZWFJsS0RFME9UZzJMalVzTUNraVBqeDFjMlVnWkdGMFlTMWpQU0l4UkRRMFJTSWdlR3hwYm1zNmFISmxaajBpSTAxS1dDMHhPQzFVUlZndFNTMHhSRFEwUlNJdlBqd3ZaejQ4WnlCa1lYUmhMVzF0YkMxdWIyUmxQU0p0YnlJZ2RISmhibk5tYjNKdFBTSjBjbUZ1YzJ4aGRHVW9NVFUxTVRVdU5Td3dLU0krUEhWelpTQmtZWFJoTFdNOUlqSkRJaUI0YkdsdWF6cG9jbVZtUFNJalRVcFlMVEU0TFZSRldDMU9MVEpESWk4K1BDOW5QanhuSUdSaGRHRXRiVzFzTFc1dlpHVTlJbTF6ZFhBaUlIUnlZVzV6Wm05eWJUMGlkSEpoYm5Oc1lYUmxLREUxT1RZd0xqRXNNQ2tpUGp4bklHUmhkR0V0Ylcxc0xXNXZaR1U5SW0xcElqNDhkWE5sSUdSaGRHRXRZejBpTVVRME5qQWlJSGhzYVc1ck9taHlaV1k5SWlOTlNsZ3RNVGd0VkVWWUxVa3RNVVEwTmpBaUx6NDhMMmMrUEdjZ1pHRjBZUzF0Yld3dGJtOWtaVDBpYlc4aUlIUnlZVzV6Wm05eWJUMGlkSEpoYm5Oc1lYUmxLRFV3TWl3ME1UTXBJSE5qWVd4bEtEQXVOekEzS1NJK1BIVnpaU0JrWVhSaExXTTlJakl3TXpJaUlIaHNhVzVyT21oeVpXWTlJaU5OU2xndE1UZ3RWRVZZTFZZdE1qQXpNaUl2UGp3dlp6NDhMMmMrUEdjZ1pHRjBZUzF0Yld3dGJtOWtaVDBpYlc4aUlIUnlZVzV6Wm05eWJUMGlkSEpoYm5Oc1lYUmxLREUyTnpBMkxqWXNNQ2tpUGp4MWMyVWdaR0YwWVMxalBTSXlPU0lnZUd4cGJtczZhSEpsWmowaUkwMUtXQzB4T0MxVVJWZ3RUaTB5T1NJdlBqd3ZaejQ4WnlCa1lYUmhMVzF0YkMxdWIyUmxQU0p0YnlJZ2RISmhibk5tYjNKdFBTSjBjbUZ1YzJ4aGRHVW9NVGN6TVRjdU9Dd3dLU0krUEhWelpTQmtZWFJoTFdNOUlqSkNJaUI0YkdsdWF6cG9jbVZtUFNJalRVcFlMVEU0TFZSRldDMU9MVEpDSWk4K1BDOW5QanhuSUdSaGRHRXRiVzFzTFc1dlpHVTlJbTFwSWlCMGNtRnVjMlp2Y20wOUluUnlZVzV6YkdGMFpTZ3hPRE14T0N3d0tTSStQSFZ6WlNCa1lYUmhMV005SWpGRU5rWkZJaUI0YkdsdWF6cG9jbVZtUFNJalRVcFlMVEU0TFZSRldDMUpMVEZFTmtaRklpOCtQQzluUGp4bklHUmhkR0V0Ylcxc0xXNXZaR1U5SW0xemRYQWlJSFJ5WVc1elptOXliVDBpZEhKaGJuTnNZWFJsS0RFNE9EWXhMREFwSWo0OFp5QmtZWFJoTFcxdGJDMXViMlJsUFNKdGFTSStQSFZ6WlNCa1lYUmhMV005SWpGRU5EUTVJaUI0YkdsdWF6cG9jbVZtUFNJalRVcFlMVEU0TFZSRldDMUpMVEZFTkRRNUlpOCtQQzluUGp4bklHUmhkR0V0Ylcxc0xXNXZaR1U5SW0xcElpQjBjbUZ1YzJadmNtMDlJblJ5WVc1emJHRjBaU2c0TmpFdU15dzBNVE1wSUhOallXeGxLREF1TnpBM0tTSStQSFZ6WlNCa1lYUmhMV005SWpGRU56QkNJaUI0YkdsdWF6cG9jbVZtUFNJalRVcFlMVEU0TFZSRldDMUpMVEZFTnpCQ0lpOCtQQzluUGp3dlp6NDhaeUJrWVhSaExXMXRiQzF1YjJSbFBTSnRieUlnZEhKaGJuTm1iM0p0UFNKMGNtRnVjMnhoZEdVb01qQXhOelV1TkN3d0tTSStQSFZ6WlNCa1lYUmhMV005SWpJNElpQjRiR2x1YXpwb2NtVm1QU0lqVFVwWUxURTRMVlJGV0MxT0xUSTRJaTgrUEM5blBqeG5JR1JoZEdFdGJXMXNMVzV2WkdVOUltMXpkWEFpSUhSeVlXNXpabTl5YlQwaWRISmhibk5zWVhSbEtESXdOVFkwTGpRc01Da2lQanhuSUdSaGRHRXRiVzFzTFc1dlpHVTlJbTFwSWo0OGRYTmxJR1JoZEdFdFl6MGlNVVEwTmpBaUlIaHNhVzVyT21oeVpXWTlJaU5OU2xndE1UZ3RWRVZZTFVrdE1VUTBOakFpTHo0OEwyYytQR2NnWkdGMFlTMXRiV3d0Ym05a1pUMGliVzhpSUhSeVlXNXpabTl5YlQwaWRISmhibk5zWVhSbEtEVXdNaXcwTVRNcElITmpZV3hsS0RBdU56QTNLU0krUEhWelpTQmtZWFJoTFdNOUlqSXdNeklpSUhoc2FXNXJPbWh5WldZOUlpTk5TbGd0TVRndFZFVllMVll0TWpBek1pSXZQand2Wno0OEwyYytQR2NnWkdGMFlTMXRiV3d0Ym05a1pUMGliVzhpSUhSeVlXNXpabTl5YlQwaWRISmhibk5zWVhSbEtESXhNekV3TGpnc01Da2lQangxYzJVZ1pHRjBZUzFqUFNJeU9TSWdlR3hwYm1zNmFISmxaajBpSTAxS1dDMHhPQzFVUlZndFRpMHlPU0l2UGp3dlp6NDhaeUJrWVhSaExXMXRiQzF1YjJSbFBTSlVaVmhCZEc5dElpQmtZWFJoTFcxcWVDMTBaWGhqYkdGemN6MGlUMUpFSWlCMGNtRnVjMlp2Y20wOUluUnlZVzV6YkdGMFpTZ3lNVFk1T1M0NExEQXBJajQ4WnlCa1lYUmhMVzF0YkMxdWIyUmxQU0p0YnlJZ2RISmhibk5tYjNKdFBTSjBjbUZ1YzJ4aGRHVW9NQ0F0TUM0MUtTSStQSFZ6WlNCa1lYUmhMV005SWpWRUlpQjRiR2x1YXpwb2NtVm1QU0lqVFVwWUxURTRMVlJGV0MxTVR5MDFSQ0l2UGp3dlp6NDhMMmMrUEM5blBqd3ZaejQ4WnlCa1lYUmhMVzF0YkMxdWIyUmxQU0p0ZEhJaUlIUnlZVzV6Wm05eWJUMGlkSEpoYm5Oc1lYUmxLREFzTFRFd05Ea3VOU2tpUGp4bklHUmhkR0V0Ylcxc0xXNXZaR1U5SW0xMFpDSStQR2NnWkdGMFlTMXRiV3d0Ym05a1pUMGliWE4xY0NJK1BHY2daR0YwWVMxdGJXd3RibTlrWlQwaWJXa2lQangxYzJVZ1pHRjBZUzFqUFNJeFJEUTBOQ0lnZUd4cGJtczZhSEpsWmowaUkwMUtXQzB4T0MxVVJWZ3RTUzB4UkRRME5DSXZQand2Wno0OFp5QmtZWFJoTFcxdGJDMXViMlJsUFNKdGFTSWdkSEpoYm5ObWIzSnRQU0owY21GdWMyeGhkR1VvT0RJMExEUXhNeWtnYzJOaGJHVW9NQzQzTURjcElqNDhkWE5sSUdSaGRHRXRZejBpTVVRM01FSWlJSGhzYVc1ck9taHlaV1k5SWlOTlNsZ3RNVGd0VkVWWUxVa3RNVVEzTUVJaUx6NDhMMmMrUEM5blBqeG5JR1JoZEdFdGJXMXNMVzV2WkdVOUltMXZJaUIwY21GdWMyWnZjbTA5SW5SeVlXNXpiR0YwWlNneE1qYzNMakVzTUNraVBqeDFjMlVnWkdGMFlTMWpQU0l5T0NJZ2VHeHBibXM2YUhKbFpqMGlJMDFLV0MweE9DMVVSVmd0VGkweU9DSXZQand2Wno0OFp5QmtZWFJoTFcxdGJDMXViMlJsUFNKdGFTSWdkSEpoYm5ObWIzSnRQU0owY21GdWMyeGhkR1VvTVRZMk5pNHhMREFwSWo0OGRYTmxJR1JoZEdFdFl6MGlNVVEwTmpBaUlIaHNhVzVyT21oeVpXWTlJaU5OU2xndE1UZ3RWRVZZTFVrdE1VUTBOakFpTHo0OEwyYytQR2NnWkdGMFlTMXRiV3d0Ym05a1pUMGliVzhpSUhSeVlXNXpabTl5YlQwaWRISmhibk5zWVhSbEtESXhNelV1TVN3d0tTSStQSFZ6WlNCa1lYUmhMV005SWpKRElpQjRiR2x1YXpwb2NtVm1QU0lqVFVwWUxURTRMVlJGV0MxT0xUSkRJaTgrUEM5blBqeG5JR1JoZEdFdGJXMXNMVzV2WkdVOUltMXBJaUIwY21GdWMyWnZjbTA5SW5SeVlXNXpiR0YwWlNneU5UYzVMamNzTUNraVBqeDFjMlVnWkdGMFlTMWpQU0l4UkRRMFJTSWdlR3hwYm1zNmFISmxaajBpSTAxS1dDMHhPQzFVUlZndFNTMHhSRFEwUlNJdlBqd3ZaejQ4WnlCa1lYUmhMVzF0YkMxdWIyUmxQU0p0YnlJZ2RISmhibk5tYjNKdFBTSjBjbUZ1YzJ4aGRHVW9NekV3T0M0M0xEQXBJajQ4ZFhObElHUmhkR0V0WXowaU1qa2lJSGhzYVc1ck9taHlaV1k5SWlOTlNsZ3RNVGd0VkVWWUxVNHRNamtpTHo0OEwyYytQQzluUGp4bklHUmhkR0V0Ylcxc0xXNXZaR1U5SW0xMFpDSWdkSEpoYm5ObWIzSnRQU0owY21GdWMyeGhkR1VvTXpRNU55NDNMREFwSWo0OFp5QmtZWFJoTFcxdGJDMXViMlJsUFNKdGFTSXZQanhuSUdSaGRHRXRiVzFzTFc1dlpHVTlJbTF2SWlCMGNtRnVjMlp2Y20wOUluUnlZVzV6YkdGMFpTZ3lOemN1T0N3d0tTSStQSFZ6WlNCa1lYUmhMV005SWpORUlpQjRiR2x1YXpwb2NtVm1QU0lqVFVwWUxURTRMVlJGV0MxT0xUTkVJaTgrUEM5blBqeG5JR1JoZEdFdGJXMXNMVzV2WkdVOUltMTFibVJsY2lJZ2RISmhibk5tYjNKdFBTSjBjbUZ1YzJ4aGRHVW9NVE16TXk0MkxEQXBJajQ4WnlCa1lYUmhMVzF0YkMxdWIyUmxQU0p0YnlJK1BIVnpaU0JrWVhSaExXTTlJakl5TVRFaUlIaHNhVzVyT21oeVpXWTlJaU5OU2xndE1UZ3RWRVZZTFV4UExUSXlNVEVpTHo0OEwyYytQR2NnWkdGMFlTMXRiV3d0Ym05a1pUMGlWR1ZZUVhSdmJTSWdkSEpoYm5ObWIzSnRQU0owY21GdWMyeGhkR1VvTkRVNExqRXNMVEV4TURFdU5Da2djMk5oYkdVb01DNDNNRGNwSWlCa1lYUmhMVzFxZUMxMFpYaGpiR0Z6Y3owaVQxSkVJajQ4WnlCa1lYUmhMVzF0YkMxdWIyUmxQU0p0YzNWd0lqNDhaeUJrWVhSaExXMXRiQzF1YjJSbFBTSnRhU0krUEhWelpTQmtZWFJoTFdNOUlqRkVORFl3SWlCNGJHbHVhenBvY21WbVBTSWpUVXBZTFRFNExWUkZXQzFKTFRGRU5EWXdJaTgrUEM5blBqeG5JR1JoZEdFdGJXMXNMVzV2WkdVOUltMXZJaUIwY21GdWMyWnZjbTA5SW5SeVlXNXpiR0YwWlNnMU1ESXNNamc1S1NCelkyRnNaU2d3TGpjd055a2lQangxYzJVZ1pHRjBZUzFqUFNJeU1ETXlJaUI0YkdsdWF6cG9jbVZtUFNJalRVcFlMVEU0TFZSRldDMVdMVEl3TXpJaUx6NDhMMmMrUEM5blBqd3ZaejQ4TDJjK1BHY2daR0YwWVMxdGJXd3RibTlrWlQwaWJXa2lJSFJ5WVc1elptOXliVDBpZEhKaGJuTnNZWFJsS0RJNU5EUXVNaXd3S1NJK1BIVnpaU0JrWVhSaExXTTlJakZFTkRReklpQjRiR2x1YXpwb2NtVm1QU0lqVFVwWUxURTRMVlJGV0MxSkxURkVORFF6SWk4K1BDOW5QanhuSUdSaGRHRXRiVzFzTFc1dlpHVTlJbTF2SWlCMGNtRnVjMlp2Y20wOUluUnlZVzV6YkdGMFpTZ3pOamsxTGpJc01Da2lQangxYzJVZ1pHRjBZUzFqUFNJeU9DSWdlR3hwYm1zNmFISmxaajBpSTAxS1dDMHhPQzFVUlZndFRpMHlPQ0l2UGp3dlp6NDhaeUJrWVhSaExXMXRiQzF1YjJSbFBTSnRjM1Z3SWlCMGNtRnVjMlp2Y20wOUluUnlZVzV6YkdGMFpTZzBNRGcwTGpJc01Da2lQanhuSUdSaGRHRXRiVzFzTFc1dlpHVTlJbTFwSWo0OGRYTmxJR1JoZEdFdFl6MGlNVVEwTmpBaUlIaHNhVzVyT21oeVpXWTlJaU5OU2xndE1UZ3RWRVZZTFVrdE1VUTBOakFpTHo0OEwyYytQR2NnWkdGMFlTMXRiV3d0Ym05a1pUMGliVzhpSUhSeVlXNXpabTl5YlQwaWRISmhibk5zWVhSbEtEVXdNaXcwTVRNcElITmpZV3hsS0RBdU56QTNLU0krUEhWelpTQmtZWFJoTFdNOUlqSXdNeklpSUhoc2FXNXJPbWh5WldZOUlpTk5TbGd0TVRndFZFVllMVll0TWpBek1pSXZQand2Wno0OEwyYytQR2NnWkdGMFlTMXRiV3d0Ym05a1pUMGliVzhpSUhSeVlXNXpabTl5YlQwaWRISmhibk5zWVhSbEtEVXhNRGd1TlN3d0tTSStQSFZ6WlNCa1lYUmhMV005SWpJeU1qTWlJSGhzYVc1ck9taHlaV1k5SWlOTlNsZ3RNVGd0VkVWWUxVNHRNakl5TXlJdlBqd3ZaejQ4WnlCa1lYUmhMVzF0YkMxdWIyUmxQU0p0YVNJZ2RISmhibk5tYjNKdFBTSjBjbUZ1YzJ4aGRHVW9OVFkyTkM0eUxEQXBJajQ4ZFhObElHUmhkR0V0WXowaU1VUTBOakFpSUhoc2FXNXJPbWh5WldZOUlpTk5TbGd0TVRndFZFVllMVWt0TVVRME5qQWlMejQ4TDJjK1BHY2daR0YwWVMxdGJXd3RibTlrWlQwaWJXOGlJSFJ5WVc1elptOXliVDBpZEhKaGJuTnNZWFJsS0RZeE16TXVNaXd3S1NJK1BIVnpaU0JrWVhSaExXTTlJakpESWlCNGJHbHVhenBvY21WbVBTSWpUVXBZTFRFNExWUkZXQzFPTFRKRElpOCtQQzluUGp4bklHUmhkR0V0Ylcxc0xXNXZaR1U5SW0xcElpQjBjbUZ1YzJadmNtMDlJblJ5WVc1emJHRjBaU2cyTlRjM0xqa3NNQ2tpUGp4MWMyVWdaR0YwWVMxalBTSXhSRFEwUlNJZ2VHeHBibXM2YUhKbFpqMGlJMDFLV0MweE9DMVVSVmd0U1MweFJEUTBSU0l2UGp3dlp6NDhaeUJrWVhSaExXMXRiQzF1YjJSbFBTSnRieUlnZEhKaGJuTm1iM0p0UFNKMGNtRnVjMnhoZEdVb056RXdOaTQ1TERBcElqNDhkWE5sSUdSaGRHRXRZejBpTWpraUlIaHNhVzVyT21oeVpXWTlJaU5OU2xndE1UZ3RWRVZZTFU0dE1qa2lMejQ4TDJjK1BHY2daR0YwWVMxdGJXd3RibTlrWlQwaVZHVllRWFJ2YlNJZ1pHRjBZUzF0YW5ndGRHVjRZMnhoYzNNOUlrOVNSQ0lnZEhKaGJuTm1iM0p0UFNKMGNtRnVjMnhoZEdVb056UTVOUzQ1TERBcElqNDhaeUJrWVhSaExXMXRiQzF1YjJSbFBTSnRieUlnZEhKaGJuTm1iM0p0UFNKMGNtRnVjMnhoZEdVb01DQXRNQzQxS1NJK1BIVnpaU0JrWVhSaExXTTlJalZDSWlCNGJHbHVhenBvY21WbVBTSWpUVXBZTFRFNExWUkZXQzFNVHkwMVFpSXZQand2Wno0OEwyYytQR2NnWkdGMFlTMXRiV3d0Ym05a1pUMGliV2tpSUhSeVlXNXpabTl5YlQwaWRISmhibk5zWVhSbEtEYzVOamN1T1N3d0tTSStQSFZ6WlNCa1lYUmhMV005SWpGRU5EUTFJaUI0YkdsdWF6cG9jbVZtUFNJalRVcFlMVEU0TFZSRldDMUpMVEZFTkRRMUlpOCtQQzluUGp4bklHUmhkR0V0Ylcxc0xXNXZaR1U5SW0xdklpQjBjbUZ1YzJadmNtMDlJblJ5WVc1emJHRjBaU2c0TnpJMkxqa3NNQ2tpUGp4MWMyVWdaR0YwWVMxalBTSXlPQ0lnZUd4cGJtczZhSEpsWmowaUkwMUtXQzB4T0MxVVJWZ3RUaTB5T0NJdlBqd3ZaejQ4WnlCa1lYUmhMVzF0YkMxdWIyUmxQU0p0YVNJZ2RISmhibk5tYjNKdFBTSjBjbUZ1YzJ4aGRHVW9PVEV4TlM0NUxEQXBJajQ4ZFhObElHUmhkR0V0WXowaU1VUTBOakFpSUhoc2FXNXJPbWh5WldZOUlpTk5TbGd0TVRndFZFVllMVWt0TVVRME5qQWlMejQ4TDJjK1BHY2daR0YwWVMxdGJXd3RibTlrWlQwaWJXOGlJSFJ5WVc1elptOXliVDBpZEhKaGJuTnNZWFJsS0RrMU9EUXVPU3d3S1NJK1BIVnpaU0JrWVhSaExXTTlJakpESWlCNGJHbHVhenBvY21WbVBTSWpUVXBZTFRFNExWUkZXQzFPTFRKRElpOCtQQzluUGp4bklHUmhkR0V0Ylcxc0xXNXZaR1U5SW0xcElpQjBjbUZ1YzJadmNtMDlJblJ5WVc1emJHRjBaU2d4TURBeU9TNDJMREFwSWo0OGRYTmxJR1JoZEdFdFl6MGlNVVEwTkVVaUlIaHNhVzVyT21oeVpXWTlJaU5OU2xndE1UZ3RWRVZZTFVrdE1VUTBORVVpTHo0OEwyYytQR2NnWkdGMFlTMXRiV3d0Ym05a1pUMGliVzhpSUhSeVlXNXpabTl5YlQwaWRISmhibk5zWVhSbEtERXdOVFU0TGpZc01Da2lQangxYzJVZ1pHRjBZUzFqUFNJeVF5SWdlR3hwYm1zNmFISmxaajBpSTAxS1dDMHhPQzFVUlZndFRpMHlReUl2UGp3dlp6NDhaeUJrWVhSaExXMXRiQzF1YjJSbFBTSnRjM1Z3SWlCMGNtRnVjMlp2Y20wOUluUnlZVzV6YkdGMFpTZ3hNVEF3TXk0eUxEQXBJajQ4WnlCa1lYUmhMVzF0YkMxdWIyUmxQU0p0YVNJK1BIVnpaU0JrWVhSaExXTTlJakZFTkRZd0lpQjRiR2x1YXpwb2NtVm1QU0lqVFVwWUxURTRMVlJGV0MxSkxURkVORFl3SWk4K1BDOW5QanhuSUdSaGRHRXRiVzFzTFc1dlpHVTlJbTF2SWlCMGNtRnVjMlp2Y20wOUluUnlZVzV6YkdGMFpTZzFNRElzTkRFektTQnpZMkZzWlNnd0xqY3dOeWtpUGp4MWMyVWdaR0YwWVMxalBTSXlNRE15SWlCNGJHbHVhenBvY21WbVBTSWpUVXBZTFRFNExWUkZXQzFXTFRJd016SWlMejQ4TDJjK1BDOW5QanhuSUdSaGRHRXRiVzFzTFc1dlpHVTlJbTF2SWlCMGNtRnVjMlp2Y20wOUluUnlZVzV6YkdGMFpTZ3hNVGMwT1M0M0xEQXBJajQ4ZFhObElHUmhkR0V0WXowaU1qa2lJSGhzYVc1ck9taHlaV1k5SWlOTlNsZ3RNVGd0VkVWWUxVNHRNamtpTHo0OEwyYytQR2NnWkdGMFlTMXRiV3d0Ym05a1pUMGliVzhpSUhSeVlXNXpabTl5YlQwaWRISmhibk5zWVhSbEtERXlNell3TGprc01Da2lQangxYzJVZ1pHRjBZUzFqUFNJeVFpSWdlR3hwYm1zNmFISmxaajBpSTAxS1dDMHhPQzFVUlZndFRpMHlRaUl2UGp3dlp6NDhaeUJrWVhSaExXMXRiQzF1YjJSbFBTSnRhU0lnZEhKaGJuTm1iM0p0UFNKMGNtRnVjMnhoZEdVb01UTXpOakV1TVN3d0tTSStQSFZ6WlNCa1lYUmhMV005SWpGRU5rWkZJaUI0YkdsdWF6cG9jbVZtUFNJalRVcFlMVEU0TFZSRldDMUpMVEZFTmtaRklpOCtQQzluUGp4bklHUmhkR0V0Ylcxc0xXNXZaR1U5SW0xMWJtUmxjaUlnZEhKaGJuTm1iM0p0UFNKMGNtRnVjMnhoZEdVb01UUXdOekF1T0N3d0tTSStQR2NnWkdGMFlTMXRiV3d0Ym05a1pUMGliVzhpUGp4MWMyVWdaR0YwWVMxalBTSXlNakV4SWlCNGJHbHVhenBvY21WbVBTSWpUVXBZTFRFNExWUkZXQzFNVHkweU1qRXhJaTgrUEM5blBqeG5JR1JoZEdFdGJXMXNMVzV2WkdVOUlsUmxXRUYwYjIwaUlIUnlZVzV6Wm05eWJUMGlkSEpoYm5Oc1lYUmxLRFF6Tmk0NUxDMHhNVEF4TGpRcElITmpZV3hsS0RBdU56QTNLU0lnWkdGMFlTMXRhbmd0ZEdWNFkyeGhjM005SWs5U1JDSStQR2NnWkdGMFlTMXRiV3d0Ym05a1pUMGliWE4xY0NJK1BHY2daR0YwWVMxdGJXd3RibTlrWlQwaWJXa2lQangxYzJVZ1pHRjBZUzFqUFNJeFJEUTBSU0lnZUd4cGJtczZhSEpsWmowaUkwMUtXQzB4T0MxVVJWZ3RTUzB4UkRRMFJTSXZQand2Wno0OFp5QmtZWFJoTFcxdGJDMXViMlJsUFNKdGJ5SWdkSEpoYm5ObWIzSnRQU0owY21GdWMyeGhkR1VvTlRZeUxESTRPU2tnYzJOaGJHVW9NQzQzTURjcElqNDhkWE5sSUdSaGRHRXRZejBpTWpBek1pSWdlR3hwYm1zNmFISmxaajBpSTAxS1dDMHhPQzFVUlZndFZpMHlNRE15SWk4K1BDOW5Qand2Wno0OEwyYytQQzluUGp4bklHUmhkR0V0Ylcxc0xXNXZaR1U5SW0xcElpQjBjbUZ1YzJadmNtMDlJblJ5WVc1emJHRjBaU2d4TlRZNE1TNDFMREFwSWo0OGRYTmxJR1JoZEdFdFl6MGlNVVEzTUVJaUlIaHNhVzVyT21oeVpXWTlJaU5OU2xndE1UZ3RWRVZZTFVrdE1VUTNNRUlpTHo0OEwyYytQR2NnWkdGMFlTMXRiV3d0Ym05a1pUMGliVzhpSUhSeVlXNXpabTl5YlQwaWRISmhibk5zWVhSbEtERTJNalV4TGpVc01Da2lQangxYzJVZ1pHRjBZUzFqUFNJeU9DSWdlR3hwYm1zNmFISmxaajBpSTAxS1dDMHhPQzFVUlZndFRpMHlPQ0l2UGp3dlp6NDhaeUJrWVhSaExXMXRiQzF1YjJSbFBTSnRjM1Z3SWlCMGNtRnVjMlp2Y20wOUluUnlZVzV6YkdGMFpTZ3hOalkwTUM0MUxEQXBJajQ4WnlCa1lYUmhMVzF0YkMxdWIyUmxQU0p0YVNJK1BIVnpaU0JrWVhSaExXTTlJakZFTkRSRklpQjRiR2x1YXpwb2NtVm1QU0lqVFVwWUxURTRMVlJGV0MxSkxURkVORFJGSWk4K1BDOW5QanhuSUdSaGRHRXRiVzFzTFc1dlpHVTlJbTF2SWlCMGNtRnVjMlp2Y20wOUluUnlZVzV6YkdGMFpTZzFOaklzTkRFektTQnpZMkZzWlNnd0xqY3dOeWtpUGp4MWMyVWdaR0YwWVMxalBTSXlNRE15SWlCNGJHbHVhenBvY21WbVBTSWpUVXBZTFRFNExWUkZXQzFXTFRJd016SWlMejQ4TDJjK1BDOW5QanhuSUdSaGRHRXRiVzFzTFc1dlpHVTlJbTF2SWlCMGNtRnVjMlp2Y20wOUluUnlZVzV6YkdGMFpTZ3hOemN5TkM0M0xEQXBJajQ4ZFhObElHUmhkR0V0WXowaU1qSXlNeUlnZUd4cGJtczZhSEpsWmowaUkwMUtXQzB4T0MxVVJWZ3RUaTB5TWpJeklpOCtQQzluUGp4bklHUmhkR0V0Ylcxc0xXNXZaR1U5SW0xemRYQWlJSFJ5WVc1elptOXliVDBpZEhKaGJuTnNZWFJsS0RFNE1qZ3dMalVzTUNraVBqeG5JR1JoZEdFdGJXMXNMVzV2WkdVOUltMXBJajQ4ZFhObElHUmhkR0V0WXowaU1VUTBOakFpSUhoc2FXNXJPbWh5WldZOUlpTk5TbGd0TVRndFZFVllMVWt0TVVRME5qQWlMejQ4TDJjK1BHY2daR0YwWVMxdGJXd3RibTlrWlQwaWJXOGlJSFJ5WVc1elptOXliVDBpZEhKaGJuTnNZWFJsS0RVd01pdzBNVE1wSUhOallXeGxLREF1TnpBM0tTSStQSFZ6WlNCa1lYUmhMV005SWpJd016SWlJSGhzYVc1ck9taHlaV1k5SWlOTlNsZ3RNVGd0VkVWWUxWWXRNakF6TWlJdlBqd3ZaejQ4TDJjK1BHY2daR0YwWVMxdGJXd3RibTlrWlQwaWJXOGlJSFJ5WVc1elptOXliVDBpZEhKaGJuTnNZWFJsS0RFNU1ESTJMamtzTUNraVBqeDFjMlVnWkdGMFlTMWpQU0l5T1NJZ2VHeHBibXM2YUhKbFpqMGlJMDFLV0MweE9DMVVSVmd0VGkweU9TSXZQand2Wno0OFp5QmtZWFJoTFcxdGJDMXViMlJsUFNKdGMzVndJaUIwY21GdWMyWnZjbTA5SW5SeVlXNXpiR0YwWlNneE9UUXhOUzQ1TERBcElqNDhaeUJrWVhSaExXMXRiQzF1YjJSbFBTSnRhU0krUEhWelpTQmtZWFJoTFdNOUlqRkVORFEwSWlCNGJHbHVhenBvY21WbVBTSWpUVXBZTFRFNExWUkZXQzFKTFRGRU5EUTBJaTgrUEM5blBqeG5JR1JoZEdFdGJXMXNMVzV2WkdVOUltMXBJaUIwY21GdWMyWnZjbTA5SW5SeVlXNXpiR0YwWlNnNE1qUXNOREV6S1NCelkyRnNaU2d3TGpjd055a2lQangxYzJVZ1pHRjBZUzFqUFNJeFJEY3dRaUlnZUd4cGJtczZhSEpsWmowaUkwMUtXQzB4T0MxVVJWZ3RTUzB4UkRjd1FpSXZQand2Wno0OEwyYytQR2NnWkdGMFlTMXRiV3d0Ym05a1pUMGliVzhpSUhSeVlXNXpabTl5YlQwaWRISmhibk5zWVhSbEtESXdOamt6TERBcElqNDhkWE5sSUdSaGRHRXRZejBpTWpnaUlIaHNhVzVyT21oeVpXWTlJaU5OU2xndE1UZ3RWRVZZTFU0dE1qZ2lMejQ4TDJjK1BHY2daR0YwWVMxdGJXd3RibTlrWlQwaWJYTjFjQ0lnZEhKaGJuTm1iM0p0UFNKMGNtRnVjMnhoZEdVb01qRXdPRElzTUNraVBqeG5JR1JoZEdFdGJXMXNMVzV2WkdVOUltMXBJajQ4ZFhObElHUmhkR0V0WXowaU1VUTBOakFpSUhoc2FXNXJPbWh5WldZOUlpTk5TbGd0TVRndFZFVllMVWt0TVVRME5qQWlMejQ4TDJjK1BHY2daR0YwWVMxdGJXd3RibTlrWlQwaWJXOGlJSFJ5WVc1elptOXliVDBpZEhKaGJuTnNZWFJsS0RVd01pdzBNVE1wSUhOallXeGxLREF1TnpBM0tTSStQSFZ6WlNCa1lYUmhMV005SWpJd016SWlJSGhzYVc1ck9taHlaV1k5SWlOTlNsZ3RNVGd0VkVWWUxWWXRNakF6TWlJdlBqd3ZaejQ4TDJjK1BHY2daR0YwWVMxdGJXd3RibTlrWlQwaWJXOGlJSFJ5WVc1elptOXliVDBpZEhKaGJuTnNZWFJsS0RJeE9ESTRMalFzTUNraVBqeDFjMlVnWkdGMFlTMWpQU0l5UXlJZ2VHeHBibXM2YUhKbFpqMGlJMDFLV0MweE9DMVVSVmd0VGkweVF5SXZQand2Wno0OFp5QmtZWFJoTFcxdGJDMXViMlJsUFNKdGMzVndJaUIwY21GdWMyWnZjbTA5SW5SeVlXNXpiR0YwWlNneU1qSTNNeTR4TERBcElqNDhaeUJrWVhSaExXMXRiQzF1YjJSbFBTSnRhU0krUEhWelpTQmtZWFJoTFdNOUlqRkVORFJGSWlCNGJHbHVhenBvY21WbVBTSWpUVXBZTFRFNExWUkZXQzFKTFRGRU5EUkZJaTgrUEM5blBqeG5JR1JoZEdFdGJXMXNMVzV2WkdVOUltMXZJaUIwY21GdWMyWnZjbTA5SW5SeVlXNXpiR0YwWlNnMU5qSXNOREV6S1NCelkyRnNaU2d3TGpjd055a2lQangxYzJVZ1pHRjBZUzFqUFNJeU1ETXlJaUI0YkdsdWF6cG9jbVZtUFNJalRVcFlMVEU0TFZSRldDMVdMVEl3TXpJaUx6NDhMMmMrUEM5blBqeG5JR1JoZEdFdGJXMXNMVzV2WkdVOUltMXZJaUIwY21GdWMyWnZjbTA5SW5SeVlXNXpiR0YwWlNneU16QTNPUzQyTERBcElqNDhkWE5sSUdSaGRHRXRZejBpTWpraUlIaHNhVzVyT21oeVpXWTlJaU5OU2xndE1UZ3RWRVZZTFU0dE1qa2lMejQ4TDJjK1BHY2daR0YwWVMxdGJXd3RibTlrWlQwaVZHVllRWFJ2YlNJZ1pHRjBZUzF0YW5ndGRHVjRZMnhoYzNNOUlrOVNSQ0lnZEhKaGJuTm1iM0p0UFNKMGNtRnVjMnhoZEdVb01qTTBOamd1Tml3d0tTSStQR2NnWkdGMFlTMXRiV3d0Ym05a1pUMGliVzhpSUhSeVlXNXpabTl5YlQwaWRISmhibk5zWVhSbEtEQWdMVEF1TlNraVBqeDFjMlVnWkdGMFlTMWpQU0kxUkNJZ2VHeHBibXM2YUhKbFpqMGlJMDFLV0MweE9DMVVSVmd0VEU4dE5VUWlMejQ4TDJjK1BDOW5Qand2Wno0OEwyYytQQzluUGp3dlp6NDhMMmMrUEM5emRtYysiLAoJIlJlYWxWaWV3U2l6ZUpzb24iIDogIntcImhlaWdodFwiOjE2NzcsXCJ3aWR0aFwiOjkxNzl9Igp9Cg=="/>
    </extobj>
    <extobj name="2384804F-3998-4D57-9195-F3826E402611-5">
      <extobjdata type="2384804F-3998-4D57-9195-F3826E402611" data="ewoJIkltZ1NldHRpbmdKc29uIiA6ICJ7XCJoZWlnaHRcIjozMy45Mjg1NzE0Mjg1NzE0MixcIndpZHRoXCI6Mzk4LjIxNDI4NTcxNDI4NTY3fSIsCgkiTGF0ZXgiIDogIlEocyxhKSBcXGxlZnRhcnJvdyBRKHMsYSkgKyBcXGFscGhhIFxcQmlnWyByICsgXFxnYW1tYSBcXG1heF97YSd9IFEocycsYScpIC0gUShzLGEpIFxcQmlnXVxuIiwKCSJMYXRleEltZ0Jhc2U2NCIgOiAiUEhOMlp5QjRiV3h1Y3owaWFIUjBjRG92TDNkM2R5NTNNeTV2Y21jdk1qQXdNQzl6ZG1jaUlIZHBaSFJvUFNJMU1TNHhNalJsZUNJZ2FHVnBaMmgwUFNJMExqTTBNV1Y0SWlCeWIyeGxQU0pwYldjaUlHWnZZM1Z6WVdKc1pUMGlabUZzYzJVaUlIWnBaWGRDYjNnOUlqQWdMVEV4TkRrdU5TQXlNalU1Tmk0NElERTVNVGd1T1NJZ2VHMXNibk02ZUd4cGJtczlJbWgwZEhBNkx5OTNkM2N1ZHpNdWIzSm5MekU1T1RrdmVHeHBibXNpSUdGeWFXRXRhR2xrWkdWdVBTSjBjblZsSWlCemRIbHNaVDBpZG1WeWRHbGpZV3d0WVd4cFoyNDZJQzB4TGpjME1XVjRPeUJ0WVhndGQybGtkR2c2SURrNEpUc2lQanhrWldaelBqeHdZWFJvSUdsa1BTSk5TbGd0TWkxVVJWZ3RTUzB4UkRRME5DSWdaRDBpVFRNNU9TQXRPREJSTXprNUlDMDBOeUEwTURBZ0xUTXdWRFF3TWlBdE1URldMVGRNTXpnM0lDMHhNVkV6TkRFZ0xUSXlJRE13TXlBdE1qSlJNakE0SUMweU1pQXhNemdnTXpWVU5URWdNakF4VVRVd0lESXdPU0ExTUNBeU5EUlJOVEFnTXpRMklEazRJRFF6T0ZReU1qY2dOakF4VVRNMU1TQTNNRFFnTkRjMklEY3dORkUxTVRRZ056QTBJRFV5TkNBM01ETlJOakl4SURZNE9TQTJPREFnTmpFM1ZEYzBNQ0EwTXpWUk56UXdJREkxTlNBMU9USWdNVEEzVVRVeU9TQTBOeUEwTmpFZ01UWk1ORFEwSURoV00xRTBORFFnTWlBME5Ea2dMVEkwVkRRM01DQXROalpVTlRFMklDMDRNbEUxTlRFZ0xUZ3lJRFU0TXlBdE5qQlVOakkxSUMwelVUWXpNU0F4TVNBMk16Z2dNVEZSTmpRM0lERXhJRFkwT1NBeVVUWTBPU0F0TmlBMk16a2dMVE0wVkRZeE1TQXRNVEF3VkRVMU55QXRNVFkxVkRRNE1TQXRNVGswVVRNNU9TQXRNVGswSURNNU9TQXRPRGRXTFRnd1drMDJNellnTkRZNFVUWXpOaUExTWpNZ05qSXhJRFUyTkZRMU9EQWdOakkxVkRVek1DQTJOVFZVTkRjM0lEWTJOVkUwTWprZ05qWTFJRE0zT1NBMk5EQlJNamMzSURVNU1TQXlNVFVnTkRZMFZERTFNeUF5TVRaUk1UVXpJREV4TUNBeU1EY2dOVGxSTWpNeElETTRJREl6TmlBek9GWTBObEV5TXpZZ09EWWdNalk1SURFeU1GUXpORGNnTVRVMVVUTTNNaUF4TlRVZ016a3dJREUwTkZRME1UY2dNVEUwVkRReU9TQTRNbFEwTXpVZ05UVk1ORFE0SURZMFVUVXhNaUF4TURnZ05UVTNJREU0TlZRMk1Ua2dNek0wVkRZek5pQTBOamhhVFRNeE5DQXhPRkV6TmpJZ01UZ2dOREEwSURNNVREUXdNeUEwT1ZFek9Ua2dNVEEwSURNMk5pQXhNVFZSTXpVMElERXhOeUF6TkRjZ01URTNVVE0wTkNBeE1UY2dNelF4SURFeE4xUXpNemNnTVRFNFVUTXhOeUF4TVRnZ01qazJJRGs0VkRJM05DQTFNbEV5TnpRZ01UZ2dNekUwSURFNFdpSXZQanh3WVhSb0lHbGtQU0pOU2xndE1pMVVSVmd0VGkweU9DSWdaRDBpVFRrMElESTFNRkU1TkNBek1Ua2dNVEEwSURNNE1WUXhNamNnTkRnNFZERTJOQ0ExTnpaVU1qQXlJRFkwTTFReU5EUWdOamsxVkRJM055QTNNamxVTXpBeUlEYzFNRWd6TVRWSU16RTVVVE16TXlBM05UQWdNek16SURjME1WRXpNek1nTnpNNElETXhOaUEzTWpCVU1qYzFJRFkyTjFReU1qWWdOVGd4VkRFNE5DQTBORE5VTVRZM0lESTFNRlF4T0RRZ05UaFVNakkxSUMwNE1WUXlOelFnTFRFMk4xUXpNVFlnTFRJeU1GUXpNek1nTFRJME1WRXpNek1nTFRJMU1DQXpNVGdnTFRJMU1FZ3pNVFZJTXpBeVRESTNOQ0F0TWpJMlVURTRNQ0F0TVRReElERXpOeUF0TVRSVU9UUWdNalV3V2lJdlBqeHdZWFJvSUdsa1BTSk5TbGd0TWkxVVJWZ3RTUzB4UkRRMk1DSWdaRDBpVFRFek1TQXlPRGxSTVRNeElETXlNU0F4TkRjZ016VTBWREl3TXlBME1UVlVNekF3SURRME1sRXpOaklnTkRReUlETTVNQ0EwTVRWVU5ERTVJRE0xTlZFME1Ua2dNekl6SURRd01pQXpNRGhVTXpZMElESTVNbEV6TlRFZ01qa3lJRE0wTUNBek1EQlVNekk0SURNeU5sRXpNamdnTXpReUlETXpOeUF6TlRSVU16VTBJRE0zTWxRek5qY2dNemM0VVRNMk9DQXpOemdnTXpZNElETTNPVkV6TmpnZ016Z3lJRE0yTVNBek9EaFVNek0ySURNNU9WUXlPVGNnTkRBMVVUSTBPU0EwTURVZ01qSTNJRE0zT1ZReU1EUWdNekkyVVRJd05DQXpNREVnTWpJeklESTVNVlF5TnpnZ01qYzBWRE16TUNBeU5UbFJNemsySURJek1DQXpPVFlnTVRZelVUTTVOaUF4TXpVZ016ZzFJREV3TjFRek5USWdOVEZVTWpnNUlEZFVNVGsxSUMweE1GRXhNVGdnTFRFd0lEZzJJREU1VkRVeklEZzNVVFV6SURFeU5pQTNOQ0F4TkROVU1URTRJREUyTUZFeE16TWdNVFl3SURFME5pQXhOVEZVTVRZd0lERXlNRkV4TmpBZ09UUWdNVFF5SURjMlZERXhNU0ExT0ZFeE1Ea2dOVGNnTVRBNElEVTNWREV3TnlBMU5WRXhNRGdnTlRJZ01URTFJRFEzVkRFME5pQXpORlF5TURFZ01qZFJNak0zSURJM0lESTJNeUF6T0ZRek1ERWdOalpVTXpFNElEazNWRE15TXlBeE1qSlJNekl6SURFMU1DQXpNRElnTVRZMFZESTFOQ0F4T0RGVU1UazFJREU1TmxReE5EZ2dNak14VVRFek1TQXlOVFlnTVRNeElESTRPVm9pTHo0OGNHRjBhQ0JwWkQwaVRVcFlMVEl0VkVWWUxVNHRNa01pSUdROUlrMDNPQ0F6TlZRM09DQTJNRlE1TkNBeE1ETlVNVE0zSURFeU1WRXhOalVnTVRJeElERTROeUE1TmxReU1UQWdPRkV5TVRBZ0xUSTNJREl3TVNBdE5qQlVNVGd3SUMweE1UZFVNVFUwSUMweE5UaFVNVE13SUMweE9EVlVNVEUzSUMweE9UUlJNVEV6SUMweE9UUWdNVEEwSUMweE9EVlVPVFVnTFRFM01sRTVOU0F0TVRZNElERXdOaUF0TVRVMlZERXpNU0F0TVRJMlZERTFOeUF0TnpaVU1UY3pJQzB6VmpsTU1UY3lJRGhSTVRjd0lEY2dNVFkzSURaVU1UWXhJRE5VTVRVeUlERlVNVFF3SURCUk1URXpJREFnT1RZZ01UZGFJaTgrUEhCaGRHZ2dhV1E5SWsxS1dDMHlMVlJGV0MxSkxURkVORFJGSWlCa1BTSk5Nek1nTVRVM1VUTXpJREkxT0NBeE1Ea2dNelE1VkRJNE1DQTBOREZSTXpNeElEUTBNU0F6TnpBZ016a3lVVE00TmlBME1qSWdOREUySURReU1sRTBNamtnTkRJeUlEUXpPU0EwTVRSVU5EUTVJRE01TkZFME5Ea2dNemd4SURReE1pQXlNelJVTXpjMElEWTRVVE0zTkNBME15QXpPREVnTXpWVU5EQXlJREkyVVRReE1TQXlOeUEwTWpJZ016VlJORFF6SURVMUlEUTJNeUF4TXpGUk5EWTVJREUxTVNBME56TWdNVFV5VVRRM05TQXhOVE1nTkRneklERTFNMGcwT0RkUk5UQTJJREUxTXlBMU1EWWdNVFEwVVRVd05pQXhNemdnTlRBeElERXhOMVEwT0RFZ05qTlVORFE1SURFelVUUXpOaUF3SURReE55QXRPRkUwTURrZ0xURXdJRE01TXlBdE1UQlJNelU1SUMweE1DQXpNellnTlZRek1EWWdNelpNTXpBd0lEVXhVVEk1T1NBMU1pQXlPVFlnTlRCUk1qazBJRFE0SURJNU1pQTBObEV5TXpNZ0xURXdJREUzTWlBdE1UQlJNVEUzSUMweE1DQTNOU0F6TUZRek15QXhOVGRhVFRNMU1TQXpNamhSTXpVeElETXpOQ0F6TkRZZ016VXdWRE15TXlBek9EVlVNamMzSURRd05WRXlORElnTkRBMUlESXhNQ0F6TnpSVU1UWXdJREk1TTFFeE16RWdNakUwSURFeE9TQXhNamxSTVRFNUlERXlOaUF4TVRrZ01URTRWREV4T0NBeE1EWlJNVEU0SURZeElERXpOaUEwTkZReE56a2dNalpSTWpFM0lESTJJREkxTkNBMU9WUXlPVGdnTVRFd1VUTXdNQ0F4TVRRZ016STFJREl4TjFRek5URWdNekk0V2lJdlBqeHdZWFJvSUdsa1BTSk5TbGd0TWkxVVJWZ3RUaTB5T1NJZ1pEMGlUVFl3SURjME9VdzJOQ0EzTlRCUk5qa2dOelV3SURjMElEYzFNRWc0Tmt3eE1UUWdOekkyVVRJd09DQTJOREVnTWpVeElEVXhORlF5T1RRZ01qVXdVVEk1TkNBeE9ESWdNamcwSURFeE9WUXlOakVnTVRKVU1qSTBJQzAzTmxReE9EWWdMVEUwTTFReE5EVWdMVEU1TkZReE1UTWdMVEl5TjFRNU1DQXRNalEyVVRnM0lDMHlORGtnT0RZZ0xUSTFNRWczTkZFMk5pQXRNalV3SURZeklDMHlOVEJVTlRnZ0xUSTBOMVExTlNBdE1qTTRVVFUySUMweU16Y2dOallnTFRJeU5WRXlNakVnTFRZMElESXlNU0F5TlRCVU5qWWdOekkxVVRVMklEY3pOeUExTlNBM016aFJOVFVnTnpRMklEWXdJRGMwT1ZvaUx6NDhjR0YwYUNCcFpEMGlUVXBZTFRJdFZFVllMVTR0TWpFNU1DSWdaRDBpVFRrME5DQXlOakZVT1RRMElESTFNRlE1TWprZ01qTXdTREUyTlZFeE5qY2dNakk0SURFNE1pQXlNVFpVTWpFeElERTRPVlF5TkRRZ01UVXlWREkzTnlBNU5sUXpNRE1nTWpWUk16QTRJRGNnTXpBNElEQlJNekE0SUMweE1TQXlPRGdnTFRFeFVUSTRNU0F0TVRFZ01qYzRJQzB4TVZReU56SWdMVGRVTWpZM0lESlVNall6SURJeFVUSTBOU0E1TkNBeE9UVWdNVFV4VkRjeklESXpObEUxT0NBeU5ESWdOVFVnTWpRM1VUVTFJREkxTkNBMU9TQXlOVGRVTnpNZ01qWTBVVEV5TVNBeU9ETWdNVFU0SURNeE5GUXlNVFVnTXpjMVZESTBOeUEwTXpSVU1qWTBJRFE0TUV3eU5qY2dORGszVVRJMk9TQTFNRE1nTWpjd0lEVXdOVlF5TnpVZ05UQTVWREk0T0NBMU1URlJNekE0SURVeE1TQXpNRGdnTlRBd1VUTXdPQ0EwT1RNZ016QXpJRFEzTlZFeU9UTWdORE00SURJM09DQTBNRFpVTWpRMklETTFNbFF5TVRVZ016RTFWREU0TlNBeU9EZFVNVFkxSURJM01FZzVNamxST1RRMElESTJNU0E1TkRRZ01qVXdXaUl2UGp4d1lYUm9JR2xrUFNKTlNsZ3RNaTFVUlZndFRpMHlRaUlnWkQwaVRUVTJJREl6TjFRMU5pQXlOVEJVTnpBZ01qY3dTRE0yT1ZZME1qQk1NemN3SURVM01GRXpPREFnTlRneklETTRPU0ExT0ROUk5EQXlJRFU0TXlBME1Ea2dOVFk0VmpJM01FZzNNRGRSTnpJeUlESTJNaUEzTWpJZ01qVXdWRGN3TnlBeU16QklOREE1VmkwMk9GRTBNREVnTFRneUlETTVNU0F0T0RKSU16ZzVTRE00TjFFek56VWdMVGd5SURNMk9TQXROamhXTWpNd1NEY3dVVFUySURJek55QTFOaUF5TlRCYUlpOCtQSEJoZEdnZ2FXUTlJazFLV0MweUxWUkZXQzFKTFRGRU5rWkRJaUJrUFNKTk16UWdNVFUyVVRNMElESTNNQ0F4TWpBZ016VTJWRE13T1NBME5ESlJNemM1SURRME1pQTBNakVnTkRBeVZEUTNPQ0F6TURSUk5EZzBJREkzTlNBME9EVWdNak0zVmpJd09GRTFNelFnTWpneUlEVTJNQ0F6TnpSUk5UWTBJRE00T0NBMU5qWWdNemt3VkRVNE1pQXpPVE5STmpBeklETTVNeUEyTURNZ016ZzFVVFl3TXlBek56WWdOVGswSURNME5sUTFOVGdnTWpZeFZEUTVOeUF4TmpGTU5EZzJJREUwTjB3ME9EY2dNVEl6VVRRNE9TQTJOeUEwT1RVZ05EZFVOVEUwSURJMlVUVXlPQ0F5T0NBMU5EQWdNemRVTlRVM0lEWXdVVFUxT1NBMk55QTFOaklnTmpoVU5UYzNJRGN3VVRVNU55QTNNQ0ExT1RjZ05qSlJOVGszSURVMklEVTVNU0EwTTFFMU56a2dNVGtnTlRVMklEVlVOVEV5SUMweE1FZzFNRFZSTkRNNElDMHhNQ0EwTVRRZ05qSk1OREV4SURZNVREUXdNQ0EyTVZFek9UQWdOVE1nTXpjd0lEUXhWRE15TlNBeE9GUXlOamNnTFRKVU1qQXpJQzB4TVZFeE1qUWdMVEV4SURjNUlETTVWRE0wSURFMU5scE5NakE0SURJMlVUSTFOeUF5TmlBek1EWWdORGRVTXpjNUlEa3dURFF3TXlBeE1USlJOREF4SURJMU5TQXpPVFlnTWprd1VUTTRNaUEwTURVZ016QTBJRFF3TlZFeU16VWdOREExSURFNE15QXpNekpSTVRVMklESTVNaUF4TXprZ01qSTBWREV5TVNBeE1qQlJNVEl4SURjeElERTBOaUEwT1ZReU1EZ2dNalphSWk4K1BIQmhkR2dnYVdROUlrMUtXQzB5TFZSRldDMU1UeTAxUWlJZ1pEMGlUVEl5TkNBdE5qUTVWakV4TlRCSU5EVTFWakV3T1RsSU1qYzFWaTAxT1RoSU5EVTFWaTAyTkRsSU1qSTBXaUl2UGp4d1lYUm9JR2xrUFNKTlNsZ3RNaTFVUlZndFNTMHhSRFExUmlJZ1pEMGlUVEl4SURJNE4xRXlNaUF5T1RBZ01qTWdNamsxVkRJNElETXhOMVF6T0NBek5EaFVOVE1nTXpneFZEY3pJRFF4TVZRNU9TQTBNek5VTVRNeUlEUTBNbEV4TmpFZ05EUXlJREU0TXlBME16QlVNakUwSURRd09GUXlNalVnTXpnNFVUSXlOeUF6T0RJZ01qSTRJRE00TWxReU16WWdNemc1VVRJNE5DQTBOREVnTXpRM0lEUTBNVWd6TlRCUk16azRJRFEwTVNBME1qSWdOREF3VVRRek1DQXpPREVnTkRNd0lETTJNMUUwTXpBZ016TXpJRFF4TnlBek1UVlVNemt4SURJNU1sUXpOallnTWpnNFVUTTBOaUF5T0RnZ016TTBJREk1T1ZRek1qSWdNekk0VVRNeU1pQXpOellnTXpjNElETTVNbEV6TlRZZ05EQTFJRE0wTWlBME1EVlJNamcySURRd05TQXlNemtnTXpNeFVUSXlPU0F6TVRVZ01qSTBJREk1T0ZReE9UQWdNVFkxVVRFMU5pQXlOU0F4TlRFZ01UWlJNVE00SUMweE1TQXhNRGdnTFRFeFVUazFJQzB4TVNBNE55QXROVlEzTmlBM1ZEYzBJREUzVVRjMElETXdJREV4TkNBeE9EbFVNVFUwSURNMk5sRXhOVFFnTkRBMUlERXlPQ0EwTURWUk1UQTNJRFF3TlNBNU1pQXpOemRVTmpnZ016RTJWRFUzSURJNE1GRTFOU0F5TnpnZ05ERWdNamM0U0RJM1VUSXhJREk0TkNBeU1TQXlPRGRhSWk4K1BIQmhkR2dnYVdROUlrMUtXQzB5TFZSRldDMUpMVEZFTmtaRklpQmtQU0pOTXpFZ01qUTVVVEV4SURJME9TQXhNU0F5TlRoUk1URWdNamMxSURJMklETXdORlEyTmlBek5qVlVNVEk1SURReE9GUXlNRFlnTkRReFVUSXpNeUEwTkRFZ01qTTVJRFEwTUZFeU9EY2dOREk1SURNeE9DQXpPRFpVTXpjeElESTFOVkV6T0RVZ01UazFJRE00TlNBeE56QlJNemcxSURFMk5pQXpPRFlnTVRZMlRETTVPQ0F4T1ROUk5ERTRJREkwTkNBME5ETWdNekF3VkRRNE5pQXpPVEZVTlRBNElEUXpNRkUxTVRBZ05ETXhJRFV5TkNBME16RklOVE0zVVRVME15QTBNalVnTlRReklEUXlNbEUxTkRNZ05ERTRJRFV5TWlBek56aFVORFl6SURJMU1WUXpPVEVnTnpGUk16ZzFJRFUxSURNM09DQTJWRE0xTnlBdE1UQXdVVE0wTVNBdE1UWTFJRE16TUNBdE1Ua3dWRE13TXlBdE1qRTJVVEk0TmlBdE1qRTJJREk0TmlBdE1UZzRVVEk0TmlBdE1UTTRJRE0wTUNBek1rd3pORFlnTlRGTU16UTNJRFk1VVRNME9DQTNPU0F6TkRnZ01UQXdVVE0wT0NBeU5UY2dNamt4SURNeE4xRXlOVEVnTXpVMUlERTVOaUF6TlRWUk1UUTRJRE0xTlNBeE1EZ2dNekk1VkRVeElESTJNRkUwT1NBeU5URWdORGNnTWpVeFVUUTFJREkwT1NBek1TQXlORGxhSWk4K1BIQmhkR2dnYVdROUlrMUtXQzB5TFZSRldDMU9MVFpFSWlCa1BTSk5OREVnTkRaSU5UVlJPVFFnTkRZZ01UQXlJRFl3VmpZNFVURXdNaUEzTnlBeE1ESWdPVEZVTVRBeUlERXlNbFF4TURNZ01UWXhWREV3TXlBeU1ETlJNVEF6SURJek5DQXhNRE1nTWpZNVZERXdNaUF6TWpoV016VXhVVGs1SURNM01DQTRPQ0F6TnpaVU5ETWdNemcxU0RJMVZqUXdPRkV5TlNBME16RWdNamNnTkRNeFRETTNJRFF6TWxFME55QTBNek1nTmpVZ05ETTBWREV3TWlBME16WlJNVEU1SURRek55QXhNemdnTkRNNFZERTJOeUEwTkRGVU1UYzRJRFEwTWtneE9ERldOREF5VVRFNE1TQXpOalFnTVRneUlETTJORlF4T0RjZ016WTVWREU1T1NBek9EUlVNakU0SURRd01sUXlORGNnTkRJeFZESTROU0EwTXpkUk16QTFJRFEwTWlBek16WWdORFF5VVRNMU1TQTBORElnTXpZMElEUTBNRlF6T0RjZ05ETTBWRFF3TmlBME1qWlVOREl4SURReE4xUTBNeklnTkRBMlZEUTBNU0F6T1RWVU5EUTRJRE00TkZRME5USWdNemMwVkRRMU5TQXpOalpNTkRVM0lETTJNVXcwTmpBZ016WTFVVFEyTXlBek5qa2dORFkySURNM00xUTBOelVnTXpnMFZEUTRPQ0F6T1RkVU5UQXpJRFF4TUZRMU1qTWdOREl5VkRVME5pQTBNekpVTlRjeUlEUXpPVlEyTURNZ05EUXlVVGN5T1NBME5ESWdOelF3SURNeU9WRTNOREVnTXpJeUlEYzBNU0F4T1RCV01UQTBVVGMwTVNBMk5pQTNORE1nTlRsVU56VTBJRFE1VVRjM05TQTBOaUE0TURNZ05EWklPREU1VmpCSU9ERXhURGM0T0NBeFVUYzJOQ0F5SURjek55QXlWRFk1T1NBelVUVTVOaUF6SURVNE55QXdTRFUzT1ZZME5rZzFPVFZSTmpVMklEUTJJRFkxTmlBMk1sRTJOVGNnTmpRZ05qVTNJREl3TUZFMk5UWWdNek0xSURZMU5TQXpORE5STmpRNUlETTNNU0EyTXpVZ016ZzFWRFl4TVNBME1ESlVOVGcxSURRd05GRTFOREFnTkRBMElEVXdOaUF6TnpCUk5EYzVJRE0wTXlBME56SWdNekUxVkRRMk5DQXlNekpXTVRZNFZqRXdPRkUwTmpRZ056Z2dORFkxSURZNFZEUTJPQ0ExTlZRME56Y2dORGxSTkRrNElEUTJJRFV5TmlBME5rZzFOREpXTUVnMU16Uk1OVEV3SURGUk5EZzNJRElnTkRZd0lESlVOREl5SUROUk16RTVJRE1nTXpFd0lEQklNekF5VmpRMlNETXhPRkV6TnprZ05EWWdNemM1SURZeVVUTTRNQ0EyTkNBek9EQWdNakF3VVRNM09TQXpNelVnTXpjNElETTBNMUV6TnpJZ016Y3hJRE0xT0NBek9EVlVNek0wSURRd01sUXpNRGdnTkRBMFVUSTJNeUEwTURRZ01qSTVJRE0zTUZFeU1ESWdNelF6SURFNU5TQXpNVFZVTVRnM0lESXpNbFl4TmpoV01UQTRVVEU0TnlBM09DQXhPRGdnTmpoVU1Ua3hJRFUxVkRJd01DQTBPVkV5TWpFZ05EWWdNalE1SURRMlNESTJOVll3U0RJMU4wd3lNelFnTVZFeU1UQWdNaUF4T0RNZ01sUXhORFVnTTFFME1pQXpJRE16SURCSU1qVldORFpJTkRGYUlpOCtQSEJoZEdnZ2FXUTlJazFLV0MweUxWUkZXQzFPTFRZeElpQmtQU0pOTVRNM0lETXdOVlF4TVRVZ016QTFWRGM0SURNeU1GUTJNeUF6TlRsUk5qTWdNemswSURrM0lEUXlNVlF5TVRnZ05EUTRVVEk1TVNBME5EZ2dNek0ySURReE5sUXpPVFlnTXpRd1VUUXdNU0F6TWpZZ05EQXhJRE13T1ZRME1ESWdNVGswVmpFeU5GRTBNRElnTnpZZ05EQTNJRFU0VkRReU9DQTBNRkUwTkRNZ05EQWdORFE0SURVMlZEUTFNeUF4TURsV01UUTFTRFE1TTFZeE1EWlJORGt5SURZMklEUTVNQ0ExT1ZFME9ERWdNamtnTkRVMUlERXlWRFF3TUNBdE5sUXpOVE1nTVRKVU16STVJRFUwVmpVNFRETXlOeUExTlZFek1qVWdOVElnTXpJeUlEUTVWRE14TkNBME1GUXpNRElnTWpsVU1qZzNJREUzVkRJMk9TQTJWREkwTnlBdE1sUXlNakVnTFRoVU1Ua3dJQzB4TVZFeE16QWdMVEV4SURneUlESXdWRE0wSURFd04xRXpOQ0F4TWpnZ05ERWdNVFEzVkRZNElERTRPRlF4TVRZZ01qSTFWREU1TkNBeU5UTlVNekEwSURJMk9FZ3pNVGhXTWprd1VUTXhPQ0F6TWpRZ016RXlJRE0wTUZFeU9UQWdOREV4SURJeE5TQTBNVEZSTVRrM0lEUXhNU0F4T0RFZ05ERXdWREUxTmlBME1EWlVNVFE0SURRd00xRXhOekFnTXpnNElERTNNQ0F6TlRsUk1UY3dJRE16TkNBeE5UUWdNekl3V2sweE1qWWdNVEEyVVRFeU5pQTNOU0F4TlRBZ05URlVNakE1SURJMlVUSTBOeUF5TmlBeU56WWdORGxVTXpFMUlERXdPVkV6TVRjZ01URTJJRE14T0NBeE56VlJNekU0SURJek15QXpNVGNnTWpNelVUTXdPU0F5TXpNZ01qazJJREl6TWxReU5URWdNakl6VkRFNU15QXlNRE5VTVRRM0lERTJObFF4TWpZZ01UQTJXaUl2UGp4d1lYUm9JR2xrUFNKTlNsZ3RNaTFVUlZndFRpMDNPQ0lnWkQwaVRUSXdNU0F3VVRFNE9TQXpJREV3TWlBelVUSTJJRE1nTVRjZ01FZ3hNVlkwTmtneU5WRTBPQ0EwTnlBMk55QTFNbFE1TmlBMk1WUXhNakVnTnpoVU1UTTVJRGsyVkRFMk1DQXhNakpVTVRnd0lERTFNRXd5TWpZZ01qRXdUREUyT0NBeU9EaFJNVFU1SURNd01TQXhORGtnTXpFMVZERXpNeUF6TXpaVU1USXlJRE0xTVZReE1UTWdNell6VkRFd055QXpOekJVTVRBd0lETTNObFE1TkNBek56bFVPRGdnTXpneFZEZ3dJRE00TTFFM05DQXpPRE1nTkRRZ016ZzFTREUyVmpRek1VZ3lNMUUxT1NBME1qa2dNVEkySURReU9WRXlNVGtnTkRJNUlESXlPU0EwTXpGSU1qTTNWak00TlZFeU1ERWdNemd4SURJd01TQXpOamxSTWpBeElETTJOeUF5TVRFZ016VXpWREl6T1NBek1UVlVNalk0SURJM05Fd3lOeklnTWpjd1RESTVOeUF6TURSUk16STVJRE0wTlNBek1qa2dNelU0VVRNeU9TQXpOalFnTXpJM0lETTJPVlF6TWpJZ016YzJWRE14TnlBek9EQlVNekV3SURNNE5Fd3pNRGNnTXpnMVNETXdNbFkwTXpGSU16QTVVVE15TkNBME1qZ2dOREE0SURReU9GRTBPRGNnTkRJNElEUTVNeUEwTXpGSU5EazVWak00TlVnME9USlJORFF6SURNNE5TQTBNVEVnTXpZNFVUTTVOQ0F6TmpBZ016YzNJRE0wTVZRek1USWdNalUzVERJNU5pQXlNelpNTXpVNElERTFNVkUwTWpRZ05qRWdOREk1SURVM1ZEUTBOaUExTUZFME5qUWdORFlnTkRrNUlEUTJTRFV4TmxZd1NEVXhNRWcxTURKUk5EazBJREVnTkRneUlERlVORFUzSURKVU5ETXlJREpVTkRFMElETlJOREF6SURNZ016YzNJRE5VTXpJM0lERk1NekEwSURCSU1qazFWalEyU0RJNU9GRXpNRGtnTkRZZ016SXdJRFV4VkRNek1TQTJNMUV6TXpFZ05qVWdNamt4SURFeU1Fd3lOVEFnTVRjMVVUSTBPU0F4TnpRZ01qRTVJREV6TTFReE9EVWdPRGhSTVRneElEZ3pJREU0TVNBM05GRXhPREVnTmpNZ01UZzRJRFUxVkRJd05pQTBObEV5TURnZ05EWWdNakE0SURJelZqQklNakF4V2lJdlBqeHdZWFJvSUdsa1BTSk5TbGd0TWkxVVJWZ3RWaTB5TURNeUlpQmtQU0pOTnprZ05ETlJOek1nTkRNZ05USWdORGxVTXpBZ05qRlJNekFnTmpnZ09EVWdNamt6VkRFME5pQTFNamhSTVRZeElEVTJNQ0F4T1RnZ05UWXdVVEl4T0NBMU5qQWdNalF3SURVME5WUXlOaklnTlRBeFVUSTJNaUEwT1RZZ01qWXdJRFE0TmxFeU5Ua2dORGM1SURFM015QXlOak5VT0RRZ05EVlVOemtnTkROYUlpOCtQSEJoZEdnZ2FXUTlJazFLV0MweUxWUkZXQzFPTFRJeU1USWlJR1E5SWswNE5DQXlNemRVT0RRZ01qVXdWRGs0SURJM01FZzJOemxSTmprMElESTJNaUEyT1RRZ01qVXdWRFkzT1NBeU16QklPVGhST0RRZ01qTTNJRGcwSURJMU1Gb2lMejQ4Y0dGMGFDQnBaRDBpVFVwWUxUSXRWRVZZTFV4UExUVkVJaUJrUFNKTk1UWWdNVEE1T1ZZeE1UVXdTREkwTjFZdE5qUTVTREUyVmkwMU9UaElNVGsyVmpFd09UbElNVFphSWk4K1BDOWtaV1p6UGp4bklITjBjbTlyWlQwaVkzVnljbVZ1ZEVOdmJHOXlJaUJtYVd4c1BTSmpkWEp5Wlc1MFEyOXNiM0lpSUhOMGNtOXJaUzEzYVdSMGFEMGlNQ0lnZEhKaGJuTm1iM0p0UFNKelkyRnNaU2d4TEMweEtTSStQR2NnWkdGMFlTMXRiV3d0Ym05a1pUMGliV0YwYUNJK1BHY2daR0YwWVMxdGJXd3RibTlrWlQwaWJXa2lQangxYzJVZ1pHRjBZUzFqUFNJeFJEUTBOQ0lnZUd4cGJtczZhSEpsWmowaUkwMUtXQzB5TFZSRldDMUpMVEZFTkRRMElpOCtQQzluUGp4bklHUmhkR0V0Ylcxc0xXNXZaR1U5SW0xdklpQjBjbUZ1YzJadmNtMDlJblJ5WVc1emJHRjBaU2czT1RFc01Da2lQangxYzJVZ1pHRjBZUzFqUFNJeU9DSWdlR3hwYm1zNmFISmxaajBpSTAxS1dDMHlMVlJGV0MxT0xUSTRJaTgrUEM5blBqeG5JR1JoZEdFdGJXMXNMVzV2WkdVOUltMXBJaUIwY21GdWMyWnZjbTA5SW5SeVlXNXpiR0YwWlNneE1UZ3dMREFwSWo0OGRYTmxJR1JoZEdFdFl6MGlNVVEwTmpBaUlIaHNhVzVyT21oeVpXWTlJaU5OU2xndE1pMVVSVmd0U1MweFJEUTJNQ0l2UGp3dlp6NDhaeUJrWVhSaExXMXRiQzF1YjJSbFBTSnRieUlnZEhKaGJuTm1iM0p0UFNKMGNtRnVjMnhoZEdVb01UWTBPU3d3S1NJK1BIVnpaU0JrWVhSaExXTTlJakpESWlCNGJHbHVhenBvY21WbVBTSWpUVXBZTFRJdFZFVllMVTR0TWtNaUx6NDhMMmMrUEdjZ1pHRjBZUzF0Yld3dGJtOWtaVDBpYldraUlIUnlZVzV6Wm05eWJUMGlkSEpoYm5Oc1lYUmxLREl3T1RNdU55d3dLU0krUEhWelpTQmtZWFJoTFdNOUlqRkVORFJGSWlCNGJHbHVhenBvY21WbVBTSWpUVXBZTFRJdFZFVllMVWt0TVVRME5FVWlMejQ4TDJjK1BHY2daR0YwWVMxdGJXd3RibTlrWlQwaWJXOGlJSFJ5WVc1elptOXliVDBpZEhKaGJuTnNZWFJsS0RJMk1qSXVOeXd3S1NJK1BIVnpaU0JrWVhSaExXTTlJakk1SWlCNGJHbHVhenBvY21WbVBTSWpUVXBZTFRJdFZFVllMVTR0TWpraUx6NDhMMmMrUEdjZ1pHRjBZUzF0Yld3dGJtOWtaVDBpYlc4aUlIUnlZVzV6Wm05eWJUMGlkSEpoYm5Oc1lYUmxLRE15T0RrdU5Dd3dLU0krUEhWelpTQmtZWFJoTFdNOUlqSXhPVEFpSUhoc2FXNXJPbWh5WldZOUlpTk5TbGd0TWkxVVJWZ3RUaTB5TVRrd0lpOCtQQzluUGp4bklHUmhkR0V0Ylcxc0xXNXZaR1U5SW0xcElpQjBjbUZ1YzJadmNtMDlJblJ5WVc1emJHRjBaU2cwTlRZM0xqSXNNQ2tpUGp4MWMyVWdaR0YwWVMxalBTSXhSRFEwTkNJZ2VHeHBibXM2YUhKbFpqMGlJMDFLV0MweUxWUkZXQzFKTFRGRU5EUTBJaTgrUEM5blBqeG5JR1JoZEdFdGJXMXNMVzV2WkdVOUltMXZJaUIwY21GdWMyWnZjbTA5SW5SeVlXNXpiR0YwWlNnMU16VTRMaklzTUNraVBqeDFjMlVnWkdGMFlTMWpQU0l5T0NJZ2VHeHBibXM2YUhKbFpqMGlJMDFLV0MweUxWUkZXQzFPTFRJNElpOCtQQzluUGp4bklHUmhkR0V0Ylcxc0xXNXZaR1U5SW0xcElpQjBjbUZ1YzJadmNtMDlJblJ5WVc1emJHRjBaU2cxTnpRM0xqSXNNQ2tpUGp4MWMyVWdaR0YwWVMxalBTSXhSRFEyTUNJZ2VHeHBibXM2YUhKbFpqMGlJMDFLV0MweUxWUkZXQzFKTFRGRU5EWXdJaTgrUEM5blBqeG5JR1JoZEdFdGJXMXNMVzV2WkdVOUltMXZJaUIwY21GdWMyWnZjbTA5SW5SeVlXNXpiR0YwWlNnMk1qRTJMaklzTUNraVBqeDFjMlVnWkdGMFlTMWpQU0l5UXlJZ2VHeHBibXM2YUhKbFpqMGlJMDFLV0MweUxWUkZXQzFPTFRKRElpOCtQQzluUGp4bklHUmhkR0V0Ylcxc0xXNXZaR1U5SW0xcElpQjBjbUZ1YzJadmNtMDlJblJ5WVc1emJHRjBaU2cyTmpZd0xqa3NNQ2tpUGp4MWMyVWdaR0YwWVMxalBTSXhSRFEwUlNJZ2VHeHBibXM2YUhKbFpqMGlJMDFLV0MweUxWUkZXQzFKTFRGRU5EUkZJaTgrUEM5blBqeG5JR1JoZEdFdGJXMXNMVzV2WkdVOUltMXZJaUIwY21GdWMyWnZjbTA5SW5SeVlXNXpiR0YwWlNnM01UZzVMamtzTUNraVBqeDFjMlVnWkdGMFlTMWpQU0l5T1NJZ2VHeHBibXM2YUhKbFpqMGlJMDFLV0MweUxWUkZXQzFPTFRJNUlpOCtQQzluUGp4bklHUmhkR0V0Ylcxc0xXNXZaR1U5SW0xdklpQjBjbUZ1YzJadmNtMDlJblJ5WVc1emJHRjBaU2czT0RBeExqRXNNQ2tpUGp4MWMyVWdaR0YwWVMxalBTSXlRaUlnZUd4cGJtczZhSEpsWmowaUkwMUtXQzB5TFZSRldDMU9MVEpDSWk4K1BDOW5QanhuSUdSaGRHRXRiVzFzTFc1dlpHVTlJbTFwSWlCMGNtRnVjMlp2Y20wOUluUnlZVzV6YkdGMFpTZzRPREF4TGpNc01Da2lQangxYzJVZ1pHRjBZUzFqUFNJeFJEWkdReUlnZUd4cGJtczZhSEpsWmowaUkwMUtXQzB5TFZSRldDMUpMVEZFTmtaRElpOCtQQzluUGp4bklHUmhkR0V0Ylcxc0xXNXZaR1U5SWxSbFdFRjBiMjBpSUdSaGRHRXRiV3A0TFhSbGVHTnNZWE56UFNKUFVrUWlJSFJ5WVc1elptOXliVDBpZEhKaGJuTnNZWFJsS0RrME5ERXVNeXd3S1NJK1BHY2daR0YwWVMxdGJXd3RibTlrWlQwaWJXOGlJSFJ5WVc1elptOXliVDBpZEhKaGJuTnNZWFJsS0RBZ0xUQXVOU2tpUGp4MWMyVWdaR0YwWVMxalBTSTFRaUlnZUd4cGJtczZhSEpsWmowaUkwMUtXQzB5TFZSRldDMU1UeTAxUWlJdlBqd3ZaejQ4TDJjK1BHY2daR0YwWVMxdGJXd3RibTlrWlQwaWJXa2lJSFJ5WVc1elptOXliVDBpZEhKaGJuTnNZWFJsS0RrNU1UTXVNeXd3S1NJK1BIVnpaU0JrWVhSaExXTTlJakZFTkRWR0lpQjRiR2x1YXpwb2NtVm1QU0lqVFVwWUxUSXRWRVZZTFVrdE1VUTBOVVlpTHo0OEwyYytQR2NnWkdGMFlTMXRiV3d0Ym05a1pUMGliVzhpSUhSeVlXNXpabTl5YlQwaWRISmhibk5zWVhSbEtERXdOVGcyTGpZc01Da2lQangxYzJVZ1pHRjBZUzFqUFNJeVFpSWdlR3hwYm1zNmFISmxaajBpSTAxS1dDMHlMVlJGV0MxT0xUSkNJaTgrUEM5blBqeG5JR1JoZEdFdGJXMXNMVzV2WkdVOUltMXBJaUIwY21GdWMyWnZjbTA5SW5SeVlXNXpiR0YwWlNneE1UVTROaTQ0TERBcElqNDhkWE5sSUdSaGRHRXRZejBpTVVRMlJrVWlJSGhzYVc1ck9taHlaV1k5SWlOTlNsZ3RNaTFVUlZndFNTMHhSRFpHUlNJdlBqd3ZaejQ4WnlCa1lYUmhMVzF0YkMxdWIyUmxQU0p0ZFc1a1pYSWlJSFJ5WVc1elptOXliVDBpZEhKaGJuTnNZWFJsS0RFeU1qazJMalFzTUNraVBqeG5JR1JoZEdFdGJXMXNMVzV2WkdVOUltMXZJajQ4ZFhObElHUmhkR0V0WXowaU5rUWlJSGhzYVc1ck9taHlaV1k5SWlOTlNsZ3RNaTFVUlZndFRpMDJSQ0l2UGp4MWMyVWdaR0YwWVMxalBTSTJNU0lnZUd4cGJtczZhSEpsWmowaUkwMUtXQzB5TFZSRldDMU9MVFl4SWlCMGNtRnVjMlp2Y20wOUluUnlZVzV6YkdGMFpTZzRNek1zTUNraUx6NDhkWE5sSUdSaGRHRXRZejBpTnpnaUlIaHNhVzVyT21oeVpXWTlJaU5OU2xndE1pMVVSVmd0VGkwM09DSWdkSEpoYm5ObWIzSnRQU0owY21GdWMyeGhkR1VvTVRNek15d3dLU0l2UGp3dlp6NDhaeUJrWVhSaExXMXRiQzF1YjJSbFBTSlVaVmhCZEc5dElpQjBjbUZ1YzJadmNtMDlJblJ5WVc1emJHRjBaU2cyTkRVdU5Dd3ROall5TGpRcElITmpZV3hsS0RBdU56QTNLU0lnWkdGMFlTMXRhbmd0ZEdWNFkyeGhjM005SWs5U1JDSStQR2NnWkdGMFlTMXRiV3d0Ym05a1pUMGliWE4xY0NJK1BHY2daR0YwWVMxdGJXd3RibTlrWlQwaWJXa2lQangxYzJVZ1pHRjBZUzFqUFNJeFJEUTBSU0lnZUd4cGJtczZhSEpsWmowaUkwMUtXQzB5TFZSRldDMUpMVEZFTkRSRklpOCtQQzluUGp4bklHUmhkR0V0Ylcxc0xXNXZaR1U5SW0xdklpQjBjbUZ1YzJadmNtMDlJblJ5WVc1emJHRjBaU2cxTmpJc01qZzVLU0J6WTJGc1pTZ3dMamN3TnlraVBqeDFjMlVnWkdGMFlTMWpQU0l5TURNeUlpQjRiR2x1YXpwb2NtVm1QU0lqVFVwWUxUSXRWRVZZTFZZdE1qQXpNaUl2UGp3dlp6NDhMMmMrUEM5blBqd3ZaejQ4WnlCa1lYUmhMVzF0YkMxdWIyUmxQU0p0YVNJZ2RISmhibk5tYjNKdFBTSjBjbUZ1YzJ4aGRHVW9NVFF6TWpRdU1Td3dLU0krUEhWelpTQmtZWFJoTFdNOUlqRkVORFEwSWlCNGJHbHVhenBvY21WbVBTSWpUVXBZTFRJdFZFVllMVWt0TVVRME5EUWlMejQ4TDJjK1BHY2daR0YwWVMxdGJXd3RibTlrWlQwaWJXOGlJSFJ5WVc1elptOXliVDBpZEhKaGJuTnNZWFJsS0RFMU1URTFMakVzTUNraVBqeDFjMlVnWkdGMFlTMWpQU0l5T0NJZ2VHeHBibXM2YUhKbFpqMGlJMDFLV0MweUxWUkZXQzFPTFRJNElpOCtQQzluUGp4bklHUmhkR0V0Ylcxc0xXNXZaR1U5SW0xemRYQWlJSFJ5WVc1elptOXliVDBpZEhKaGJuTnNZWFJsS0RFMU5UQTBMakVzTUNraVBqeG5JR1JoZEdFdGJXMXNMVzV2WkdVOUltMXBJajQ4ZFhObElHUmhkR0V0WXowaU1VUTBOakFpSUhoc2FXNXJPbWh5WldZOUlpTk5TbGd0TWkxVVJWZ3RTUzB4UkRRMk1DSXZQand2Wno0OFp5QmtZWFJoTFcxdGJDMXViMlJsUFNKdGJ5SWdkSEpoYm5ObWIzSnRQU0owY21GdWMyeGhkR1VvTlRBeUxEUXhNeWtnYzJOaGJHVW9NQzQzTURjcElqNDhkWE5sSUdSaGRHRXRZejBpTWpBek1pSWdlR3hwYm1zNmFISmxaajBpSTAxS1dDMHlMVlJGV0MxV0xUSXdNeklpTHo0OEwyYytQQzluUGp4bklHUmhkR0V0Ylcxc0xXNXZaR1U5SW0xdklpQjBjbUZ1YzJadmNtMDlJblJ5WVc1emJHRjBaU2d4TmpJMU1DNDJMREFwSWo0OGRYTmxJR1JoZEdFdFl6MGlNa01pSUhoc2FXNXJPbWh5WldZOUlpTk5TbGd0TWkxVVJWZ3RUaTB5UXlJdlBqd3ZaejQ4WnlCa1lYUmhMVzF0YkMxdWIyUmxQU0p0YzNWd0lpQjBjbUZ1YzJadmNtMDlJblJ5WVc1emJHRjBaU2d4TmpZNU5TNHlMREFwSWo0OFp5QmtZWFJoTFcxdGJDMXViMlJsUFNKdGFTSStQSFZ6WlNCa1lYUmhMV005SWpGRU5EUkZJaUI0YkdsdWF6cG9jbVZtUFNJalRVcFlMVEl0VkVWWUxVa3RNVVEwTkVVaUx6NDhMMmMrUEdjZ1pHRjBZUzF0Yld3dGJtOWtaVDBpYlc4aUlIUnlZVzV6Wm05eWJUMGlkSEpoYm5Oc1lYUmxLRFUyTWl3ME1UTXBJSE5qWVd4bEtEQXVOekEzS1NJK1BIVnpaU0JrWVhSaExXTTlJakl3TXpJaUlIaHNhVzVyT21oeVpXWTlJaU5OU2xndE1pMVVSVmd0VmkweU1ETXlJaTgrUEM5blBqd3ZaejQ4WnlCa1lYUmhMVzF0YkMxdWIyUmxQU0p0YnlJZ2RISmhibk5tYjNKdFBTSjBjbUZ1YzJ4aGRHVW9NVGMxTURFdU55d3dLU0krUEhWelpTQmtZWFJoTFdNOUlqSTVJaUI0YkdsdWF6cG9jbVZtUFNJalRVcFlMVEl0VkVWWUxVNHRNamtpTHo0OEwyYytQR2NnWkdGMFlTMXRiV3d0Ym05a1pUMGliVzhpSUhSeVlXNXpabTl5YlQwaWRISmhibk5zWVhSbEtERTRNVEV5TGprc01Da2lQangxYzJVZ1pHRjBZUzFqUFNJeU1qRXlJaUI0YkdsdWF6cG9jbVZtUFNJalRVcFlMVEl0VkVWWUxVNHRNakl4TWlJdlBqd3ZaejQ4WnlCa1lYUmhMVzF0YkMxdWIyUmxQU0p0YVNJZ2RISmhibk5tYjNKdFBTSjBjbUZ1YzJ4aGRHVW9NVGt4TVRNdU1Td3dLU0krUEhWelpTQmtZWFJoTFdNOUlqRkVORFEwSWlCNGJHbHVhenBvY21WbVBTSWpUVXBZTFRJdFZFVllMVWt0TVVRME5EUWlMejQ4TDJjK1BHY2daR0YwWVMxdGJXd3RibTlrWlQwaWJXOGlJSFJ5WVc1elptOXliVDBpZEhKaGJuTnNZWFJsS0RFNU9UQTBMakVzTUNraVBqeDFjMlVnWkdGMFlTMWpQU0l5T0NJZ2VHeHBibXM2YUhKbFpqMGlJMDFLV0MweUxWUkZXQzFPTFRJNElpOCtQQzluUGp4bklHUmhkR0V0Ylcxc0xXNXZaR1U5SW0xcElpQjBjbUZ1YzJadmNtMDlJblJ5WVc1emJHRjBaU2d5TURJNU15NHhMREFwSWo0OGRYTmxJR1JoZEdFdFl6MGlNVVEwTmpBaUlIaHNhVzVyT21oeVpXWTlJaU5OU2xndE1pMVVSVmd0U1MweFJEUTJNQ0l2UGp3dlp6NDhaeUJrWVhSaExXMXRiQzF1YjJSbFBTSnRieUlnZEhKaGJuTm1iM0p0UFNKMGNtRnVjMnhoZEdVb01qQTNOakl1TVN3d0tTSStQSFZ6WlNCa1lYUmhMV005SWpKRElpQjRiR2x1YXpwb2NtVm1QU0lqVFVwWUxUSXRWRVZZTFU0dE1rTWlMejQ4TDJjK1BHY2daR0YwWVMxdGJXd3RibTlrWlQwaWJXa2lJSFJ5WVc1elptOXliVDBpZEhKaGJuTnNZWFJsS0RJeE1qQTJMamdzTUNraVBqeDFjMlVnWkdGMFlTMWpQU0l4UkRRMFJTSWdlR3hwYm1zNmFISmxaajBpSTAxS1dDMHlMVlJGV0MxSkxURkVORFJGSWk4K1BDOW5QanhuSUdSaGRHRXRiVzFzTFc1dlpHVTlJbTF2SWlCMGNtRnVjMlp2Y20wOUluUnlZVzV6YkdGMFpTZ3lNVGN6TlM0NExEQXBJajQ4ZFhObElHUmhkR0V0WXowaU1qa2lJSGhzYVc1ck9taHlaV1k5SWlOTlNsZ3RNaTFVUlZndFRpMHlPU0l2UGp3dlp6NDhaeUJrWVhSaExXMXRiQzF1YjJSbFBTSlVaVmhCZEc5dElpQmtZWFJoTFcxcWVDMTBaWGhqYkdGemN6MGlUMUpFSWlCMGNtRnVjMlp2Y20wOUluUnlZVzV6YkdGMFpTZ3lNakV5TkM0NExEQXBJajQ4WnlCa1lYUmhMVzF0YkMxdWIyUmxQU0p0YnlJZ2RISmhibk5tYjNKdFBTSjBjbUZ1YzJ4aGRHVW9NQ0F0TUM0MUtTSStQSFZ6WlNCa1lYUmhMV005SWpWRUlpQjRiR2x1YXpwb2NtVm1QU0lqVFVwWUxUSXRWRVZZTFV4UExUVkVJaTgrUEM5blBqd3ZaejQ4TDJjK1BDOW5Qand2YzNablBnPT0iLAoJIlJlYWxWaWV3U2l6ZUpzb24iIDogIntcImhlaWdodFwiOjY3NixcIndpZHRoXCI6Nzk2NH0iCn0K"/>
    </extobj>
    <extobj name="2384804F-3998-4D57-9195-F3826E402611-6">
      <extobjdata type="2384804F-3998-4D57-9195-F3826E402611" data="ewoJIkltZ1NldHRpbmdKc29uIiA6ICJ7XCJoZWlnaHRcIjo3My4yMTQyODU3MTQyODU3MSxcIndpZHRoXCI6NDU4LjkyODU3MTQyODU3MTR9IiwKCSJMYXRleCIgOiAiXFxiZWdpbnthbGlnbmVkfVxuXG5RKHMsYSkgJiA6IFxcdGV4dHtFc3RpbWF0ZWQgYWN0aW9uLXZhbHVlIGZvciBzdGF0ZS1hY3Rpb24gcGFpciB9IChzLGEpIFxcXFxcblxcYWxwaGEgJiA6IFxcdGV4dHtMZWFybmluZyByYXRlIChzdGVwIHNpemUpfSBcXFxcXG5cXG1heF97YSd9IFEocycsYScpICYgOiBcXHRleHR7TWF4aW11bSBleHBlY3RlZCBmdXR1cmUgcmV3YXJkIGZyb20gbmV4dCBzdGF0ZSB9IHMnIFxcXFxcblxcZW5ke2FsaWduZWR9IiwKCSJMYXRleEltZ0Jhc2U2NCIgOiAiUEhOMlp5QjRiV3h1Y3owaWFIUjBjRG92TDNkM2R5NTNNeTV2Y21jdk1qQXdNQzl6ZG1jaUlIZHBaSFJvUFNJMk5TNHpOVFpsZUNJZ2FHVnBaMmgwUFNJNUxqUTFNMlY0SWlCeWIyeGxQU0pwYldjaUlHWnZZM1Z6WVdKc1pUMGlabUZzYzJVaUlIWnBaWGRDYjNnOUlqQWdMVEl6TXprdU1pQXlPRGc0Tnk0eklEUXhOemd1TkNJZ2VHMXNibk02ZUd4cGJtczlJbWgwZEhBNkx5OTNkM2N1ZHpNdWIzSm5MekU1T1RrdmVHeHBibXNpSUdGeWFXRXRhR2xrWkdWdVBTSjBjblZsSWlCemRIbHNaVDBpZG1WeWRHbGpZV3d0WVd4cFoyNDZJQzAwTGpFMk1XVjRPeUJ0WVhndGQybGtkR2c2SURrNEpUc2lQanhrWldaelBqeHdZWFJvSUdsa1BTSk5TbGd0TXpNdFZFVllMVWt0TVVRME5EUWlJR1E5SWswek9Ua2dMVGd3VVRNNU9TQXRORGNnTkRBd0lDMHpNRlEwTURJZ0xURXhWaTAzVERNNE55QXRNVEZSTXpReElDMHlNaUF6TURNZ0xUSXlVVEl3T0NBdE1qSWdNVE00SURNMVZEVXhJREl3TVZFMU1DQXlNRGtnTlRBZ01qUTBVVFV3SURNME5pQTVPQ0EwTXpoVU1qSTNJRFl3TVZFek5URWdOekEwSURRM05pQTNNRFJSTlRFMElEY3dOQ0ExTWpRZ056QXpVVFl5TVNBMk9Ea2dOamd3SURZeE4xUTNOREFnTkRNMVVUYzBNQ0F5TlRVZ05Ua3lJREV3TjFFMU1qa2dORGNnTkRZeElERTJURFEwTkNBNFZqTlJORFEwSURJZ05EUTVJQzB5TkZRME56QWdMVFkyVkRVeE5pQXRPREpSTlRVeElDMDRNaUExT0RNZ0xUWXdWRFl5TlNBdE0xRTJNekVnTVRFZ05qTTRJREV4VVRZME55QXhNU0EyTkRrZ01sRTJORGtnTFRZZ05qTTVJQzB6TkZRMk1URWdMVEV3TUZRMU5UY2dMVEUyTlZRME9ERWdMVEU1TkZFek9Ua2dMVEU1TkNBek9Ua2dMVGczVmkwNE1GcE5Oak0ySURRMk9GRTJNellnTlRJeklEWXlNU0ExTmpSVU5UZ3dJRFl5TlZRMU16QWdOalUxVkRRM055QTJOalZSTkRJNUlEWTJOU0F6TnprZ05qUXdVVEkzTnlBMU9URWdNakUxSURRMk5GUXhOVE1nTWpFMlVURTFNeUF4TVRBZ01qQTNJRFU1VVRJek1TQXpPQ0F5TXpZZ016aFdORFpSTWpNMklEZzJJREkyT1NBeE1qQlVNelEzSURFMU5WRXpOeklnTVRVMUlETTVNQ0F4TkRSVU5ERTNJREV4TkZRME1qa2dPREpVTkRNMUlEVTFURFEwT0NBMk5GRTFNVElnTVRBNElEVTFOeUF4T0RWVU5qRTVJRE16TkZRMk16WWdORFk0V2swek1UUWdNVGhSTXpZeUlERTRJRFF3TkNBek9VdzBNRE1nTkRsUk16azVJREV3TkNBek5qWWdNVEUxVVRNMU5DQXhNVGNnTXpRM0lERXhOMUV6TkRRZ01URTNJRE0wTVNBeE1UZFVNek0zSURFeE9GRXpNVGNnTVRFNElESTVOaUE1T0ZReU56UWdOVEpSTWpjMElERTRJRE14TkNBeE9Gb2lMejQ4Y0dGMGFDQnBaRDBpVFVwWUxUTXpMVlJGV0MxT0xUSTRJaUJrUFNKTk9UUWdNalV3VVRrMElETXhPU0F4TURRZ016Z3hWREV5TnlBME9EaFVNVFkwSURVM05sUXlNRElnTmpRelZESTBOQ0EyT1RWVU1qYzNJRGN5T1ZRek1ESWdOelV3U0RNeE5VZ3pNVGxSTXpNeklEYzFNQ0F6TXpNZ056UXhVVE16TXlBM016Z2dNekUySURjeU1GUXlOelVnTmpZM1ZESXlOaUExT0RGVU1UZzBJRFEwTTFReE5qY2dNalV3VkRFNE5DQTFPRlF5TWpVZ0xUZ3hWREkzTkNBdE1UWTNWRE14TmlBdE1qSXdWRE16TXlBdE1qUXhVVE16TXlBdE1qVXdJRE14T0NBdE1qVXdTRE14TlVnek1ESk1NamMwSUMweU1qWlJNVGd3SUMweE5ERWdNVE0zSUMweE5GUTVOQ0F5TlRCYUlpOCtQSEJoZEdnZ2FXUTlJazFLV0Mwek15MVVSVmd0U1MweFJEUTJNQ0lnWkQwaVRURXpNU0F5T0RsUk1UTXhJRE15TVNBeE5EY2dNelUwVkRJd015QTBNVFZVTXpBd0lEUTBNbEV6TmpJZ05EUXlJRE01TUNBME1UVlVOREU1SURNMU5WRTBNVGtnTXpJeklEUXdNaUF6TURoVU16WTBJREk1TWxFek5URWdNamt5SURNME1DQXpNREJVTXpJNElETXlObEV6TWpnZ016UXlJRE16TnlBek5UUlVNelUwSURNM01sUXpOamNnTXpjNFVUTTJPQ0F6TnpnZ016WTRJRE0zT1ZFek5qZ2dNemd5SURNMk1TQXpPRGhVTXpNMklETTVPVlF5T1RjZ05EQTFVVEkwT1NBME1EVWdNakkzSURNM09WUXlNRFFnTXpJMlVUSXdOQ0F6TURFZ01qSXpJREk1TVZReU56Z2dNamMwVkRNek1DQXlOVGxSTXprMklESXpNQ0F6T1RZZ01UWXpVVE01TmlBeE16VWdNemcxSURFd04xUXpOVElnTlRGVU1qZzVJRGRVTVRrMUlDMHhNRkV4TVRnZ0xURXdJRGcySURFNVZEVXpJRGczVVRVeklERXlOaUEzTkNBeE5ETlVNVEU0SURFMk1GRXhNek1nTVRZd0lERTBOaUF4TlRGVU1UWXdJREV5TUZFeE5qQWdPVFFnTVRReUlEYzJWREV4TVNBMU9GRXhNRGtnTlRjZ01UQTRJRFUzVkRFd055QTFOVkV4TURnZ05USWdNVEUxSURRM1ZERTBOaUF6TkZReU1ERWdNamRSTWpNM0lESTNJREkyTXlBek9GUXpNREVnTmpaVU16RTRJRGszVkRNeU15QXhNakpSTXpJeklERTFNQ0F6TURJZ01UWTBWREkxTkNBeE9ERlVNVGsxSURFNU5sUXhORGdnTWpNeFVURXpNU0F5TlRZZ01UTXhJREk0T1ZvaUx6NDhjR0YwYUNCcFpEMGlUVXBZTFRNekxWUkZXQzFPTFRKRElpQmtQU0pOTnpnZ016VlVOemdnTmpCVU9UUWdNVEF6VkRFek55QXhNakZSTVRZMUlERXlNU0F4T0RjZ09UWlVNakV3SURoUk1qRXdJQzB5TnlBeU1ERWdMVFl3VkRFNE1DQXRNVEUzVkRFMU5DQXRNVFU0VkRFek1DQXRNVGcxVkRFeE55QXRNVGswVVRFeE15QXRNVGswSURFd05DQXRNVGcxVkRrMUlDMHhOekpST1RVZ0xURTJPQ0F4TURZZ0xURTFObFF4TXpFZ0xURXlObFF4TlRjZ0xUYzJWREUzTXlBdE0xWTVUREUzTWlBNFVURTNNQ0EzSURFMk55QTJWREUyTVNBelZERTFNaUF4VkRFME1DQXdVVEV4TXlBd0lEazJJREUzV2lJdlBqeHdZWFJvSUdsa1BTSk5TbGd0TXpNdFZFVllMVWt0TVVRME5FVWlJR1E5SWswek15QXhOVGRSTXpNZ01qVTRJREV3T1NBek5EbFVNamd3SURRME1WRXpNekVnTkRReElETTNNQ0F6T1RKUk16ZzJJRFF5TWlBME1UWWdOREl5VVRReU9TQTBNaklnTkRNNUlEUXhORlEwTkRrZ016azBVVFEwT1NBek9ERWdOREV5SURJek5GUXpOelFnTmpoUk16YzBJRFF6SURNNE1TQXpOVlEwTURJZ01qWlJOREV4SURJM0lEUXlNaUF6TlZFME5ETWdOVFVnTkRZeklERXpNVkUwTmprZ01UVXhJRFEzTXlBeE5USlJORGMxSURFMU15QTBPRE1nTVRVelNEUTROMUUxTURZZ01UVXpJRFV3TmlBeE5EUlJOVEEySURFek9DQTFNREVnTVRFM1ZEUTRNU0EyTTFRME5Ea2dNVE5STkRNMklEQWdOREUzSUMwNFVUUXdPU0F0TVRBZ016a3pJQzB4TUZFek5Ua2dMVEV3SURNek5pQTFWRE13TmlBek5rd3pNREFnTlRGUk1qazVJRFV5SURJNU5pQTFNRkV5T1RRZ05EZ2dNamt5SURRMlVUSXpNeUF0TVRBZ01UY3lJQzB4TUZFeE1UY2dMVEV3SURjMUlETXdWRE16SURFMU4xcE5NelV4SURNeU9GRXpOVEVnTXpNMElETTBOaUF6TlRCVU16SXpJRE00TlZReU56Y2dOREExVVRJME1pQTBNRFVnTWpFd0lETTNORlF4TmpBZ01qa3pVVEV6TVNBeU1UUWdNVEU1SURFeU9WRXhNVGtnTVRJMklERXhPU0F4TVRoVU1URTRJREV3TmxFeE1UZ2dOakVnTVRNMklEUTBWREUzT1NBeU5sRXlNVGNnTWpZZ01qVTBJRFU1VkRJNU9DQXhNVEJSTXpBd0lERXhOQ0F6TWpVZ01qRTNWRE0xTVNBek1qaGFJaTgrUEhCaGRHZ2dhV1E5SWsxS1dDMHpNeTFVUlZndFRpMHlPU0lnWkQwaVRUWXdJRGMwT1V3Mk5DQTNOVEJSTmprZ056VXdJRGMwSURjMU1FZzROa3d4TVRRZ056STJVVEl3T0NBMk5ERWdNalV4SURVeE5GUXlPVFFnTWpVd1VUSTVOQ0F4T0RJZ01qZzBJREV4T1ZReU5qRWdNVEpVTWpJMElDMDNObFF4T0RZZ0xURTBNMVF4TkRVZ0xURTVORlF4TVRNZ0xUSXlOMVE1TUNBdE1qUTJVVGczSUMweU5Ea2dPRFlnTFRJMU1FZzNORkUyTmlBdE1qVXdJRFl6SUMweU5UQlVOVGdnTFRJME4xUTFOU0F0TWpNNFVUVTJJQzB5TXpjZ05qWWdMVEl5TlZFeU1qRWdMVFkwSURJeU1TQXlOVEJVTmpZZ056STFVVFUySURjek55QTFOU0EzTXpoUk5UVWdOelEySURZd0lEYzBPVm9pTHo0OGNHRjBhQ0JwWkQwaVRVcFlMVE16TFZSRldDMU9MVE5CSWlCa1BTSk5OemdnTXpjd1VUYzRJRE01TkNBNU5TQTBNVEpVTVRNNElEUXpNRkV4TmpJZ05ETXdJREU0TUNBME1UUlVNVGs1SURNM01WRXhPVGtnTXpRMklERTRNaUF6TWpoVU1UTTVJRE14TUZRNU5pQXpNamRVTnpnZ016Y3dXazAzT0NBMk1GRTNPQ0E0TkNBNU5TQXhNREpVTVRNNElERXlNRkV4TmpJZ01USXdJREU0TUNBeE1EUlVNVGs1SURZeFVURTVPU0F6TmlBeE9ESWdNVGhVTVRNNUlEQlVPVFlnTVRkVU56Z2dOakJhSWk4K1BIQmhkR2dnYVdROUlrMUtXQzB6TXkxVVJWZ3RUaTAwTlNJZ1pEMGlUVEV5T0NBMk1UbFJNVEl4SURZeU5pQXhNVGNnTmpJNFZERXdNU0EyTXpGVU5UZ2dOak0wU0RJMVZqWTRNRWcxT1RkV05qYzJVVFU1T1NBMk56QWdOakV4SURVMk1GUTJNalVnTkRRMFZqUTBNRWcxT0RWV05EUTBVVFU0TkNBME5EY2dOVGd5SURRMk5WRTFOemdnTlRBd0lEVTNNQ0ExTWpaVU5UVXpJRFUzTVZRMU1qZ2dOakF4VkRRNU9DQTJNVGxVTkRVM0lEWXlPVlEwTVRFZ05qTXpWRE0xTXlBMk16UlJNalkySURZek5DQXlOVEVnTmpNelZESXpNeUEyTWpKUk1qTXpJRFl5TWlBeU16TWdOakl4VVRJek1pQTJNVGtnTWpNeUlEUTVOMVl6TnpaSU1qZzJVVE0xT1NBek56Z2dNemMzSURNNE5WRTBNVE1nTkRBeElEUXhOaUEwTmpsUk5ERTJJRFEzTVNBME1UWWdORGN6VmpRNU0wZzBOVFpXTWpFelNEUXhObFl5TXpOUk5ERTFJREkyT0NBME1EZ2dNamc0VkRNNE15QXpNVGRVTXpRNUlETXlPRlF5T1RjZ016TXdVVEk1TUNBek16QWdNamcySURNek1FZ3lNekpXTVRrMlZqRXhORkV5TXpJZ05UY2dNak0zSURVeVVUSTBNeUEwTnlBeU9Ea2dORGRJTXpRd1NETTVNVkUwTWpnZ05EY2dORFV5SURVd1ZEVXdOU0EyTWxRMU5USWdPVEpVTlRnMElERTBObEUxT1RRZ01UY3lJRFU1T1NBeU1EQlVOakEzSURJME4xUTJNVElnTWpjd1ZqSTNNMGcyTlRKV01qY3dVVFkxTVNBeU5qY2dOak15SURFek4xUTJNVEFnTTFZd1NESTFWalEyU0RVNFVURXdNQ0EwTnlBeE1Ea2dORGxVTVRJNElEWXhWall4T1ZvaUx6NDhjR0YwYUNCcFpEMGlUVXBZTFRNekxWUkZXQzFPTFRjeklpQmtQU0pOTWprMUlETXhObEV5T1RVZ016VTJJREkyT0NBek9EVlVNVGt3SURReE5GRXhOVFFnTkRFMElERXlPQ0EwTURGUk9UZ2dNemd5SURrNElETTBPVkU1TnlBek5EUWdPVGdnTXpNMlZERXhOQ0F6TVRKVU1UVTNJREk0TjFFeE56VWdNamd5SURJd01TQXlOemhVTWpRMUlESTJPVlF5TnpjZ01qVTJVVEk1TkNBeU5EZ2dNekV3SURJek5sUXpORElnTVRrMVZETTFPU0F4TXpOUk16VTVJRGN4SURNeU1TQXpNVlF4T1RnZ0xURXdTREU1TUZFeE16Z2dMVEV3SURrMElESTJURGcySURFNVREYzNJREV3VVRjeElEUWdOalVnTFRGTU5UUWdMVEV4U0RRMlNEUXlVVE01SUMweE1TQXpNeUF0TlZZM05GWXhNekpSTXpNZ01UVXpJRE0xSURFMU4xUTBOU0F4TmpKSU5UUlJOallnTVRZeUlEY3dJREUxT0ZRM05TQXhORFpVT0RJZ01URTVWREV3TVNBM04xRXhNellnTWpZZ01UazRJREkyVVRJNU5TQXlOaUF5T1RVZ01UQTBVVEk1TlNBeE16TWdNamMzSURFMU1WRXlOVGNnTVRjMUlERTVOQ0F4T0RkVU1URXhJREl4TUZFM05TQXlNamNnTlRRZ01qVTJWRE16SURNeE9GRXpNeUF6TlRjZ05UQWdNemcwVkRreklEUXlORlF4TkRNZ05EUXlWREU0TnlBME5EZElNVGs0VVRJek9DQTBORGNnTWpZNElEUXpNa3d5T0RNZ05ESTBUREk1TWlBME16RlJNekF5SURRME1DQXpNVFFnTkRRNFNETXlNa2d6TWpaUk16STVJRFEwT0NBek16VWdORFF5VmpNeE1Fd3pNamtnTXpBMFNETXdNVkV5T1RVZ016RXdJREk1TlNBek1UWmFJaTgrUEhCaGRHZ2dhV1E5SWsxS1dDMHpNeTFVUlZndFRpMDNOQ0lnWkQwaVRUSTNJRFF5TWxFNE1DQTBNallnTVRBNUlEUTNPRlF4TkRFZ05qQXdWall4TlVneE9ERldORE14U0RNeE5sWXpPRFZJTVRneFZqSTBNVkV4T0RJZ01URTJJREU0TWlBeE1EQlVNVGc1SURZNFVUSXdNeUF5T1NBeU16Z2dNamxSTWpneUlESTVJREk1TWlBeE1EQlJNamt6SURFd09DQXlPVE1nTVRRMlZqRTRNVWd6TXpOV01UUTJWakV6TkZFek16TWdOVGNnTWpreElERTNVVEkyTkNBdE1UQWdNakl4SUMweE1GRXhPRGNnTFRFd0lERTJNaUF5VkRFeU5DQXpNMVF4TURVZ05qaFVPVGdnTVRBd1VUazNJREV3TnlBNU55QXlORGhXTXpnMVNERTRWalF5TWtneU4xb2lMejQ4Y0dGMGFDQnBaRDBpVFVwWUxUTXpMVlJGV0MxT0xUWTVJaUJrUFNKTk5qa2dOakE1VVRZNUlEWXpOeUE0TnlBMk5UTlVNVE14SURZMk9WRXhOVFFnTmpZM0lERTNNU0EyTlRKVU1UZzRJRFl3T1ZFeE9EZ2dOVGM1SURFM01TQTFOalJVTVRJNUlEVTBPVkV4TURRZ05UUTVJRGczSURVMk5GUTJPU0EyTURsYVRUSTBOeUF3VVRJek1pQXpJREUwTXlBelVURXpNaUF6SURFd05pQXpWRFUySURGTU16UWdNRWd5TmxZME5rZzBNbEUzTUNBME5pQTVNU0EwT1ZFeE1EQWdOVE1nTVRBeUlEWXdWREV3TkNBeE1ESldNakExVmpJNU0xRXhNRFFnTXpRMUlERXdNaUF6TlRsVU9EZ2dNemM0VVRjMElETTROU0EwTVNBek9EVklNekJXTkRBNFVUTXdJRFF6TVNBek1pQTBNekZNTkRJZ05ETXlVVFV5SURRek15QTNNQ0EwTXpSVU1UQTJJRFF6TmxFeE1qTWdORE0zSURFME1pQTBNemhVTVRjeElEUTBNVlF4T0RJZ05EUXlTREU0TlZZMk1sRXhPVEFnTlRJZ01UazNJRFV3VkRJek1pQTBOa2d5TlRWV01FZ3lORGRhSWk4K1BIQmhkR2dnYVdROUlrMUtXQzB6TXkxVVJWZ3RUaTAyUkNJZ1pEMGlUVFF4SURRMlNEVTFVVGswSURRMklERXdNaUEyTUZZMk9GRXhNRElnTnpjZ01UQXlJRGt4VkRFd01pQXhNakpVTVRBeklERTJNVlF4TURNZ01qQXpVVEV3TXlBeU16UWdNVEF6SURJMk9WUXhNRElnTXpJNFZqTTFNVkU1T1NBek56QWdPRGdnTXpjMlZEUXpJRE00TlVneU5WWTBNRGhSTWpVZ05ETXhJREkzSURRek1Vd3pOeUEwTXpKUk5EY2dORE16SURZMUlEUXpORlF4TURJZ05ETTJVVEV4T1NBME16Y2dNVE00SURRek9GUXhOamNnTkRReFZERTNPQ0EwTkRKSU1UZ3hWalF3TWxFeE9ERWdNelkwSURFNE1pQXpOalJVTVRnM0lETTJPVlF4T1RrZ016ZzBWREl4T0NBME1ESlVNalEzSURReU1WUXlPRFVnTkRNM1VUTXdOU0EwTkRJZ016TTJJRFEwTWxFek5URWdORFF5SURNMk5DQTBOREJVTXpnM0lEUXpORlEwTURZZ05ESTJWRFF5TVNBME1UZFVORE15SURRd05sUTBOREVnTXprMVZEUTBPQ0F6T0RSVU5EVXlJRE0zTkZRME5UVWdNelkyVERRMU55QXpOakZNTkRZd0lETTJOVkUwTmpNZ016WTVJRFEyTmlBek56TlVORGMxSURNNE5GUTBPRGdnTXprM1ZEVXdNeUEwTVRCVU5USXpJRFF5TWxRMU5EWWdORE15VkRVM01pQTBNemxVTmpBeklEUTBNbEUzTWprZ05EUXlJRGMwTUNBek1qbFJOelF4SURNeU1pQTNOREVnTVRrd1ZqRXdORkUzTkRFZ05qWWdOelF6SURVNVZEYzFOQ0EwT1ZFM056VWdORFlnT0RBeklEUTJTRGd4T1ZZd1NEZ3hNVXczT0RnZ01WRTNOalFnTWlBM016Y2dNbFEyT1RrZ00xRTFPVFlnTXlBMU9EY2dNRWcxTnpsV05EWklOVGsxVVRZMU5pQTBOaUEyTlRZZ05qSlJOalUzSURZMElEWTFOeUF5TURCUk5qVTJJRE16TlNBMk5UVWdNelF6VVRZME9TQXpOekVnTmpNMUlETTROVlEyTVRFZ05EQXlWRFU0TlNBME1EUlJOVFF3SURRd05DQTFNRFlnTXpjd1VUUTNPU0F6TkRNZ05EY3lJRE14TlZRME5qUWdNak15VmpFMk9GWXhNRGhSTkRZMElEYzRJRFEyTlNBMk9GUTBOamdnTlRWVU5EYzNJRFE1VVRRNU9DQTBOaUExTWpZZ05EWklOVFF5VmpCSU5UTTBURFV4TUNBeFVUUTROeUF5SURRMk1DQXlWRFF5TWlBelVUTXhPU0F6SURNeE1DQXdTRE13TWxZME5rZ3pNVGhSTXpjNUlEUTJJRE0zT1NBMk1sRXpPREFnTmpRZ016Z3dJREl3TUZFek56a2dNek0xSURNM09DQXpORE5STXpjeUlETTNNU0F6TlRnZ016ZzFWRE16TkNBME1ESlVNekE0SURRd05GRXlOak1nTkRBMElESXlPU0F6TnpCUk1qQXlJRE0wTXlBeE9UVWdNekUxVkRFNE55QXlNekpXTVRZNFZqRXdPRkV4T0RjZ056Z2dNVGc0SURZNFZERTVNU0ExTlZReU1EQWdORGxSTWpJeElEUTJJREkwT1NBME5rZ3lOalZXTUVneU5UZE1Nak0wSURGUk1qRXdJRElnTVRneklESlVNVFExSUROUk5ESWdNeUF6TXlBd1NESTFWalEyU0RReFdpSXZQanh3WVhSb0lHbGtQU0pOU2xndE16TXRWRVZZTFU0dE5qRWlJR1E5SWsweE16Y2dNekExVkRFeE5TQXpNRFZVTnpnZ016SXdWRFl6SURNMU9WRTJNeUF6T1RRZ09UY2dOREl4VkRJeE9DQTBORGhSTWpreElEUTBPQ0F6TXpZZ05ERTJWRE01TmlBek5EQlJOREF4SURNeU5pQTBNREVnTXpBNVZEUXdNaUF4T1RSV01USTBVVFF3TWlBM05pQTBNRGNnTlRoVU5ESTRJRFF3VVRRME15QTBNQ0EwTkRnZ05UWlVORFV6SURFd09WWXhORFZJTkRrelZqRXdObEUwT1RJZ05qWWdORGt3SURVNVVUUTRNU0F5T1NBME5UVWdNVEpVTkRBd0lDMDJWRE0xTXlBeE1sUXpNamtnTlRSV05UaE1NekkzSURVMVVUTXlOU0ExTWlBek1qSWdORGxVTXpFMElEUXdWRE13TWlBeU9WUXlPRGNnTVRkVU1qWTVJRFpVTWpRM0lDMHlWREl5TVNBdE9GUXhPVEFnTFRFeFVURXpNQ0F0TVRFZ09ESWdNakJVTXpRZ01UQTNVVE0wSURFeU9DQTBNU0F4TkRkVU5qZ2dNVGc0VkRFeE5pQXlNalZVTVRrMElESTFNMVF6TURRZ01qWTRTRE14T0ZZeU9UQlJNekU0SURNeU5DQXpNVElnTXpRd1VUSTVNQ0EwTVRFZ01qRTFJRFF4TVZFeE9UY2dOREV4SURFNE1TQTBNVEJVTVRVMklEUXdObFF4TkRnZ05EQXpVVEUzTUNBek9EZ2dNVGN3SURNMU9WRXhOekFnTXpNMElERTFOQ0F6TWpCYVRURXlOaUF4TURaUk1USTJJRGMxSURFMU1DQTFNVlF5TURrZ01qWlJNalEzSURJMklESTNOaUEwT1ZRek1UVWdNVEE1VVRNeE55QXhNVFlnTXpFNElERTNOVkV6TVRnZ01qTXpJRE14TnlBeU16TlJNekE1SURJek15QXlPVFlnTWpNeVZESTFNU0F5TWpOVU1Ua3pJREl3TTFReE5EY2dNVFkyVkRFeU5pQXhNRFphSWk4K1BIQmhkR2dnYVdROUlrMUtXQzB6TXkxVVJWZ3RUaTAyTlNJZ1pEMGlUVEk0SURJeE9GRXlPQ0F5TnpNZ05EZ2dNekU0VkRrNElETTVNVlF4TmpNZ05ETXpWREl5T1NBME5EaFJNamd5SURRME9DQXpNakFnTkRNd1ZETTNPQ0F6T0RCVU5EQTJJRE14TmxRME1UVWdNalExVVRReE5TQXlNemdnTkRBNElESXpNVWd4TWpaV01qRTJVVEV5TmlBMk9DQXlNallnTXpaUk1qUTJJRE13SURJM01DQXpNRkV6TVRJZ016QWdNelF5SURZeVVUTTFPU0EzT1NBek5qa2dNVEEwVERNM09TQXhNamhSTXpneUlERXpNU0F6T1RVZ01UTXhTRE01T0ZFME1UVWdNVE14SURReE5TQXhNakZSTkRFMUlERXhOeUEwTVRJZ01UQTRVVE01TXlBMU15QXpORGtnTWpGVU1qVXdJQzB4TVZFeE5UVWdMVEV4SURreUlEVTRWREk0SURJeE9GcE5Nek16SURJM05WRXpNaklnTkRBeklESXpPQ0EwTVRGSU1qTTJVVEl5T0NBME1URWdNakl3SURReE1GUXhPVFVnTkRBeVZERTJOaUF6T0RGVU1UUXpJRE0wTUZReE1qY2dNamMwVmpJMk4wZ3pNek5XTWpjMVdpSXZQanh3WVhSb0lHbGtQU0pOU2xndE16TXRWRVZZTFU0dE5qUWlJR1E5SWswek56WWdORGsxVVRNM05pQTFNVEVnTXpjMklEVXpOVlF6TnpjZ05UWTRVVE0zTnlBMk1UTWdNelkzSURZeU5GUXpNVFlnTmpNM1NESTVPRlkyTmpCUk1qazRJRFk0TXlBek1EQWdOamd6VERNeE1DQTJPRFJSTXpJd0lEWTROU0F6TXprZ05qZzJWRE0zTmlBMk9EaFJNemt6SURZNE9TQTBNVE1nTmprd1ZEUTBNeUEyT1ROVU5EVTBJRFk1TkVnME5UZFdNemt3VVRRMU55QTROQ0EwTlRnZ09ERlJORFl4SURZeElEUTNNaUExTlZRMU1UY2dORFpJTlRNMVZqQlJOVE16SURBZ05EVTVJQzAxVkRNNE1DQXRNVEZJTXpjelZqUTBURE0yTlNBek4xRXpNRGNnTFRFeElESXpOU0F0TVRGUk1UVTRJQzB4TVNBNU5pQTFNRlF6TkNBeU1UVlJNelFnTXpFMUlEazNJRE0zT0ZReU5EUWdORFF5VVRNeE9TQTBORElnTXpjMklETTVNMVkwT1RWYVRUTTNNeUF6TkRKUk16STRJRFF3TlNBeU5qQWdOREExVVRJeE1TQTBNRFVnTVRjeklETTJPVkV4TkRZZ016UXhJREV6T1NBek1EVlVNVE14SURJeE1WRXhNekVnTVRVMUlERXpPQ0F4TWpCVU1UY3pJRFU1VVRJd015QXlOaUF5TlRFZ01qWlJNekl5SURJMklETTNNeUF4TUROV016UXlXaUl2UGp4d1lYUm9JR2xrUFNKTlNsZ3RNek10VkVWWUxVNHRNakFpSUdROUlpSXZQanh3WVhSb0lHbGtQU0pOU2xndE16TXRWRVZZTFU0dE5qTWlJR1E5SWswek56QWdNekExVkRNME9TQXpNRFZVTXpFeklETXlNRlF5T1RjZ016VTRVVEk1TnlBek9ERWdNekV5SURNNU5sRXpNVGNnTkRBeElETXhOeUEwTURKVU16QTNJRFF3TkZFeU9ERWdOREE0SURJMU9DQTBNRGhSTWpBNUlEUXdPQ0F4TnpnZ016YzJVVEV6TVNBek1qa2dNVE14SURJeE9WRXhNekVnTVRNM0lERTJNaUE1TUZFeU1ETWdNamtnTWpjeUlESTVVVE14TXlBeU9TQXpNemdnTlRWVU16YzBJREV4TjFFek56WWdNVEkxSURNM09TQXhNamRVTXprMUlERXlPVWcwTURsUk5ERTFJREV5TXlBME1UVWdNVEl3VVRReE5TQXhNVFlnTkRFeElERXdORlF6T1RVZ056RlVNelkySURNelZETXhPQ0F5VkRJME9TQXRNVEZSTVRZeklDMHhNU0E1T1NBMU0xUXpOQ0F5TVRSUk16UWdNekU0SURrNUlETTRNMVF5TlRBZ05EUTRWRE0zTUNBME1qRlVOREEwSURNMU4xRTBNRFFnTXpNMElETTROeUF6TWpCYUlpOCtQSEJoZEdnZ2FXUTlJazFLV0Mwek15MVVSVmd0VGkwMlJpSWdaRDBpVFRJNElESXhORkV5T0NBek1Ea2dPVE1nTXpjNFZESTFNQ0EwTkRoUk16UXdJRFEwT0NBME1EVWdNemd3VkRRM01TQXlNVFZSTkRjeElERXlNQ0EwTURjZ05UVlVNalV3SUMweE1GRXhOVE1nTFRFd0lEa3hJRFUzVkRJNElESXhORnBOTWpVd0lETXdVVE0zTWlBek1DQXpOeklnTVRrelZqSXlOVll5TlRCUk16Y3lJREkzTWlBek56RWdNamc0VkRNMk5DQXpNalpVTXpRNElETTJNbFF6TVRjZ016a3dWREkyT0NBME1UQlJNall6SURReE1TQXlOVElnTkRFeFVUSXlNaUEwTVRFZ01UazFJRE01T1ZFeE5USWdNemMzSURFek9TQXpNemhVTVRJMklESTBObFl5TWpaUk1USTJJREV6TUNBeE5EVWdPVEZSTVRjM0lETXdJREkxTUNBek1Gb2lMejQ4Y0dGMGFDQnBaRDBpVFVwWUxUTXpMVlJGV0MxT0xUWkZJaUJrUFNKTk5ERWdORFpJTlRWUk9UUWdORFlnTVRBeUlEWXdWalk0VVRFd01pQTNOeUF4TURJZ09URlVNVEF5SURFeU1sUXhNRE1nTVRZeFZERXdNeUF5TUROUk1UQXpJREl6TkNBeE1ETWdNalk1VkRFd01pQXpNamhXTXpVeFVUazVJRE0zTUNBNE9DQXpOelpVTkRNZ016ZzFTREkxVmpRd09GRXlOU0EwTXpFZ01qY2dORE14VERNM0lEUXpNbEUwTnlBME16TWdOalVnTkRNMFZERXdNaUEwTXpaUk1URTVJRFF6TnlBeE16Z2dORE00VkRFMk55QTBOREZVTVRjNElEUTBNa2d4T0RGV05EQXlVVEU0TVNBek5qUWdNVGd5SURNMk5GUXhPRGNnTXpZNVZERTVPU0F6T0RSVU1qRTRJRFF3TWxReU5EY2dOREl4VkRJNE5TQTBNemRSTXpBMUlEUTBNaUF6TXpZZ05EUXlVVFExTUNBME16Z2dORFl6SURNeU9WRTBOalFnTXpJeUlEUTJOQ0F4T1RCV01UQTBVVFEyTkNBMk5pQTBOallnTlRsVU5EYzNJRFE1VVRRNU9DQTBOaUExTWpZZ05EWklOVFF5VmpCSU5UTTBURFV4TUNBeFVUUTROeUF5SURRMk1DQXlWRFF5TWlBelVUTXhPU0F6SURNeE1DQXdTRE13TWxZME5rZ3pNVGhSTXpjNUlEUTJJRE0zT1NBMk1sRXpPREFnTmpRZ016Z3dJREl3TUZFek56a2dNek0xSURNM09DQXpORE5STXpjeUlETTNNU0F6TlRnZ016ZzFWRE16TkNBME1ESlVNekE0SURRd05GRXlOak1nTkRBMElESXlPU0F6TnpCUk1qQXlJRE0wTXlBeE9UVWdNekUxVkRFNE55QXlNekpXTVRZNFZqRXdPRkV4T0RjZ056Z2dNVGc0SURZNFZERTVNU0ExTlZReU1EQWdORGxSTWpJeElEUTJJREkwT1NBME5rZ3lOalZXTUVneU5UZE1Nak0wSURGUk1qRXdJRElnTVRneklESlVNVFExSUROUk5ESWdNeUF6TXlBd1NESTFWalEyU0RReFdpSXZQanh3WVhSb0lHbGtQU0pOU2xndE16TXRWRVZZTFU0dE1rUWlJR1E5SWsweE1TQXhOemxXTWpVeVNESTNOMVl4TnpsSU1URmFJaTgrUEhCaGRHZ2dhV1E5SWsxS1dDMHpNeTFVUlZndFRpMDNOaUlnWkQwaVRUTXpPQ0EwTXpGUk16UTBJRFF5T1NBME1qSWdOREk1VVRRM09TQTBNamtnTlRBeklEUXpNVWcxTURoV016ZzFTRFE1TjFFME16a2dNemd4SURReU15QXpORFZSTkRJeElETTBNU0F6TlRZZ01UY3lWREk0T0NBdE1sRXlPRE1nTFRFeElESTJNeUF0TVRGUk1qUTBJQzB4TVNBeU16a2dMVEpST1RrZ016VTVJRGs0SURNMk5GRTVNeUF6TnpnZ09ESWdNemd4VkRReklETTROVWd4T1ZZME16RklNalZNTXpNZ05ETXdVVFF4SURRek1DQTFNeUEwTXpCVU56a2dORE13VkRFd05DQTBNamxVTVRJeUlEUXlPRkV5TVRjZ05ESTRJREl6TWlBME16RklNalF3VmpNNE5VZ3lNalpSTVRnM0lETTROQ0F4T0RRZ016Y3dVVEU0TkNBek5qWWdNak0xSURJek5Fd3lPRFlnTVRBeVRETTNOeUF6TkRGV016UTVVVE0zTnlBek5qTWdNelkzSURNM01sUXpORGtnTXpnelZETXpOU0F6T0RWSU16TXhWalF6TVVnek16aGFJaTgrUEhCaGRHZ2dhV1E5SWsxS1dDMHpNeTFVUlZndFRpMDJReUlnWkQwaVRUUXlJRFEyU0RVMlVUazFJRFEySURFd015QTJNRlkyT0ZFeE1ETWdOemNnTVRBeklEa3hWREV3TXlBeE1qUlVNVEEwSURFMk4xUXhNRFFnTWpFM1ZERXdOQ0F5TnpKVU1UQTBJRE15T1ZFeE1EUWdNelkySURFd05DQTBNRGRVTVRBMElEUTRNbFF4TURRZ05UUXlWREV3TXlBMU9EWlVNVEF6SURZd00xRXhNREFnTmpJeUlEZzVJRFl5T0ZRME5DQTJNemRJTWpaV05qWXdVVEkySURZNE15QXlPQ0EyT0ROTU16Z2dOamcwVVRRNElEWTROU0EyTnlBMk9EWlVNVEEwSURZNE9GRXhNakVnTmpnNUlERTBNU0EyT1RCVU1UY3hJRFk1TTFReE9ESWdOamswU0RFNE5WWXpOemxSTVRnMUlEWXlJREU0TmlBMk1GRXhPVEFnTlRJZ01UazRJRFE1VVRJeE9TQTBOaUF5TkRjZ05EWklNall6VmpCSU1qVTFUREl6TWlBeFVUSXdPU0F5SURFNE15QXlWREUwTlNBelZERXdOeUF6VkRVM0lERk1NelFnTUVneU5sWTBOa2cwTWxvaUx6NDhjR0YwYUNCcFpEMGlUVXBZTFRNekxWUkZXQzFPTFRjMUlpQmtQU0pOTXpneklEVTRVVE15TnlBdE1UQWdNalUySUMweE1FZ3lORGxSTVRJMElDMHhNQ0F4TURVZ09EbFJNVEEwSURrMklERXdNeUF5TWpaUk1UQXlJRE16TlNBeE1ESWdNelE0VkRrMklETTJPVkU0TmlBek9EVWdNellnTXpnMVNESTFWalF3T0ZFeU5TQTBNekVnTWpjZ05ETXhURE00SURRek1sRTBPQ0EwTXpNZ05qY2dORE0wVkRFd05TQTBNelpSTVRJeUlEUXpOeUF4TkRJZ05ETTRWREUzTWlBME5ERlVNVGcwSURRME1rZ3hPRGRXTWpZeFVURTRPQ0EzTnlBeE9UQWdOalJSTVRreklEUTVJREl3TkNBME1GRXlNalFnTWpZZ01qWTBJREkyVVRJNU1DQXlOaUF6TVRFZ016VlVNelF6SURVNFZETTJNeUE1TUZRek56VWdNVEl3VkRNM09TQXhORFJSTXpjNUlERTBOU0F6TnprZ01UWXhWRE00TUNBeU1ERlVNemd3SURJME9GWXpNVFZSTXpnd0lETTJNU0F6TnpBZ016Y3lWRE15TUNBek9EVklNekF5VmpRek1WRXpNRFFnTkRNeElETTNPQ0EwTXpaVU5EVTNJRFEwTWtnME5qUldNalkwVVRRMk5DQTROQ0EwTmpVZ09ERlJORFk0SURZeElEUTNPU0ExTlZRMU1qUWdORFpJTlRReVZqQlJOVFF3SURBZ05EWTNJQzAxVkRNNU1DQXRNVEZJTXpnelZqVTRXaUl2UGp4d1lYUm9JR2xrUFNKTlNsZ3RNek10VkVWWUxVNHROallpSUdROUlrMHlOek1nTUZFeU5UVWdNeUF4TkRZZ00xRTBNeUF6SURNMElEQklNalpXTkRaSU5ESlJOekFnTkRZZ09URWdORGxST1RrZ05USWdNVEF6SURZd1VURXdOQ0EyTWlBeE1EUWdNakkwVmpNNE5VZ3pNMVkwTXpGSU1UQTBWalE1TjB3eE1EVWdOVFkwVERFd055QTFOelJSTVRJMklEWXpPU0F4TnpFZ05qWTRWREkyTmlBM01EUlJNalkzSURjd05DQXlOelVnTnpBMFZESTRPU0EzTURWUk16TXdJRGN3TWlBek5URWdOamM1VkRNM01pQTJNamRSTXpjeUlEWXdOQ0F6TlRnZ05Ua3dWRE15TVNBMU56WlVNamcwSURVNU1GUXlOekFnTmpJM1VUSTNNQ0EyTkRjZ01qZzRJRFkyTjBneU9EUlJNamd3SURZMk9DQXlOek1nTmpZNFVUSTBOU0EyTmpnZ01qSXpJRFkwTjFReE9Ea2dOVGt5VVRFNE15QTFOeklnTVRneUlEUTVOMVkwTXpGSU1qa3pWak00TlVneE9EVldNakkxVVRFNE5TQTJNeUF4T0RZZ05qRlVNVGc1SURVM1ZERTVOQ0ExTkZReE9Ua2dOVEZVTWpBMklEUTVWREl4TXlBME9GUXlNaklnTkRkVU1qTXhJRFEzVkRJME1TQTBObFF5TlRFZ05EWklNamd5VmpCSU1qY3pXaUl2UGp4d1lYUm9JR2xrUFNKTlNsZ3RNek10VkVWWUxVNHROeklpSUdROUlrMHpOaUEwTmtnMU1GRTRPU0EwTmlBNU55QTJNRlkyT0ZFNU55QTNOeUE1TnlBNU1WUTVPQ0F4TWpKVU9UZ2dNVFl4VkRrNElESXdNMUU1T0NBeU16UWdPVGdnTWpZNVZEazRJRE15T0V3NU55QXpOVEZST1RRZ016Y3dJRGd6SURNM05sUXpPQ0F6T0RWSU1qQldOREE0VVRJd0lEUXpNU0F5TWlBME16Rk1NeklnTkRNeVVUUXlJRFF6TXlBMk1DQTBNelJVT1RZZ05ETTJVVEV4TWlBME16Y2dNVE14SURRek9GUXhOakFnTkRReFZERTNNU0EwTkRKSU1UYzBWak0zTTFFeU1UTWdORFF4SURJM01TQTBOREZJTWpjM1VUTXlNaUEwTkRFZ016UXpJRFF4T1ZRek5qUWdNemN6VVRNMk5DQXpOVElnTXpVeElETXpOMVF6TVRNZ016SXlVVEk0T0NBek1qSWdNamMySURNek9GUXlOak1nTXpjeVVUSTJNeUF6T0RFZ01qWTFJRE00T0ZReU56QWdOREF3VkRJM015QTBNRFZSTWpjeElEUXdOeUF5TlRBZ05EQXhVVEl6TkNBek9UTWdNakkySURNNE5sRXhOemtnTXpReElERTNPU0F5TURkV01UVTBVVEUzT1NBeE5ERWdNVGM1SURFeU4xUXhOemtnTVRBeFZERTRNQ0E0TVZReE9EQWdOalpXTmpGUk1UZ3hJRFU1SURFNE15QTFOMVF4T0RnZ05UUlVNVGt6SURVeFZESXdNQ0EwT1ZReU1EY2dORGhVTWpFMklEUTNWREl5TlNBME4xUXlNelVnTkRaVU1qUTFJRFEyU0RJM05sWXdTREkyTjFFeU5Ea2dNeUF4TkRBZ00xRXpOeUF6SURJNElEQklNakJXTkRaSU16WmFJaTgrUEhCaGRHZ2dhV1E5SWsxS1dDMHpNeTFVUlZndFRpMDNNQ0lnWkQwaVRUTTJJQzB4TkRoSU5UQlJPRGtnTFRFME9DQTVOeUF0TVRNMFZpMHhNalpST1RjZ0xURXhPU0E1TnlBdE1UQTNWRGszSUMwM04xUTVPQ0F0TXpoVU9UZ2dObFE1T0NBMU5WUTVPQ0F4TURaUk9UZ2dNVFF3SURrNElERTNOMVE1T0NBeU5ETlVPVGdnTWprMlZEazNJRE16TlZRNU55QXpOVEZST1RRZ016Y3dJRGd6SURNM05sUXpPQ0F6T0RWSU1qQldOREE0VVRJd0lEUXpNU0F5TWlBME16Rk1NeklnTkRNeVVUUXlJRFF6TXlBMk1TQTBNelJVT1RnZ05ETTJVVEV4TlNBME16Y2dNVE0xSURRek9GUXhOalVnTkRReFZERTNOaUEwTkRKSU1UYzVWalF4Tmt3eE9EQWdNemt3VERFNE9DQXpPVGRSTWpRM0lEUTBNU0F6TWpZZ05EUXhVVFF3TnlBME5ERWdORFkwSURNM04xUTFNaklnTWpFMlVUVXlNaUF4TVRVZ05EVTNJRFV5VkRNeE1DQXRNVEZSTWpReUlDMHhNU0F4T1RBZ016Tk1NVGd5SURRd1ZpMDBOVll0TVRBeFVURTRNaUF0TVRJNElERTROQ0F0TVRNMFZERTVOU0F0TVRRMVVUSXhOaUF0TVRRNElESTBOQ0F0TVRRNFNESTJNRll0TVRrMFNESTFNa3d5TWpnZ0xURTVNMUV5TURVZ0xURTVNaUF4TnpnZ0xURTVNbFF4TkRBZ0xURTVNVkV6TnlBdE1Ua3hJREk0SUMweE9UUklNakJXTFRFME9FZ3pObHBOTkRJMElESXhPRkUwTWpRZ01qa3lJRE01TUNBek5EZFVNekExSURRd01sRXlNelFnTkRBeUlERTRNaUF6TXpkV09UaFJNakl5SURJMklESTVOQ0F5TmxFek5EVWdNallnTXpnMElEZ3dWRFF5TkNBeU1UaGFJaTgrUEhCaGRHZ2dhV1E5SWsxS1dDMHpNeTFVUlZndFRpMUJNQ0lnWkQwaUlpOCtQSEJoZEdnZ2FXUTlJazFLV0Mwek15MVVSVmd0U1MweFJEWkdReUlnWkQwaVRUTTBJREUxTmxFek5DQXlOekFnTVRJd0lETTFObFF6TURrZ05EUXlVVE0zT1NBME5ESWdOREl4SURRd01sUTBOemdnTXpBMFVUUTROQ0F5TnpVZ05EZzFJREl6TjFZeU1EaFJOVE0wSURJNE1pQTFOakFnTXpjMFVUVTJOQ0F6T0RnZ05UWTJJRE01TUZRMU9ESWdNemt6VVRZd015QXpPVE1nTmpBeklETTROVkUyTURNZ016YzJJRFU1TkNBek5EWlVOVFU0SURJMk1WUTBPVGNnTVRZeFREUTROaUF4TkRkTU5EZzNJREV5TTFFME9Ea2dOamNnTkRrMUlEUTNWRFV4TkNBeU5sRTFNamdnTWpnZ05UUXdJRE0zVkRVMU55QTJNRkUxTlRrZ05qY2dOVFl5SURZNFZEVTNOeUEzTUZFMU9UY2dOekFnTlRrM0lEWXlVVFU1TnlBMU5pQTFPVEVnTkROUk5UYzVJREU1SURVMU5pQTFWRFV4TWlBdE1UQklOVEExVVRRek9DQXRNVEFnTkRFMElEWXlURFF4TVNBMk9VdzBNREFnTmpGUk16a3dJRFV6SURNM01DQTBNVlF6TWpVZ01UaFVNalkzSUMweVZESXdNeUF0TVRGUk1USTBJQzB4TVNBM09TQXpPVlF6TkNBeE5UWmFUVEl3T0NBeU5sRXlOVGNnTWpZZ016QTJJRFEzVkRNM09TQTVNRXcwTURNZ01URXlVVFF3TVNBeU5UVWdNemsySURJNU1GRXpPRElnTkRBMUlETXdOQ0EwTURWUk1qTTFJRFF3TlNBeE9ETWdNek15VVRFMU5pQXlPVElnTVRNNUlESXlORlF4TWpFZ01USXdVVEV5TVNBM01TQXhORFlnTkRsVU1qQTRJREkyV2lJdlBqeHdZWFJvSUdsa1BTSk5TbGd0TXpNdFZFVllMVTR0TkVNaUlHUTlJazB4TWpnZ05qSXlVVEV5TVNBMk1qa2dNVEUzSURZek1WUXhNREVnTmpNMFZEVTRJRFl6TjBneU5WWTJPRE5JTXpaUk5EZ2dOamd3SURFNE1pQTJPREJSTXpJMElEWTRNQ0F6TkRnZ05qZ3pTRE0yTUZZMk16ZElNek16VVRJM015QTJNemNnTWpVNElEWXpOVlF5TXpNZ05qSXlUREl6TWlBek5ESldNVEk1VVRJek1pQTFOeUF5TXpjZ05USlJNalF6SURRM0lETXhNeUEwTjFFek9EUWdORGNnTkRFd0lEVXpVVFEzTUNBM01DQTBPVGdnTVRFd1ZEVXpOaUF5TWpGUk5UTTJJREl5TmlBMU16Y2dNak00VkRVME1DQXlOakZVTlRReUlESTNNbFExTmpJZ01qY3pTRFU0TWxZeU5qaFJOVGd3SURJMk5TQTFOamdnTVRNM1ZEVTFOQ0ExVmpCSU1qVldORFpJTlRoUk1UQXdJRFEzSURFd09TQTBPVlF4TWpnZ05qRldOakl5V2lJdlBqeHdZWFJvSUdsa1BTSk5TbGd0TXpNdFZFVllMVTR0TmpjaUlHUTlJazB6TWprZ05EQTVVVE0zTXlBME5UTWdOREk1SURRMU0xRTBOVGtnTkRVeklEUTNNaUEwTXpSVU5EZzFJRE01TmxFME9EVWdNemd5SURRM05pQXpOekZVTkRRNUlETTJNRkUwTVRZZ016WXdJRFF4TWlBek9UQlJOREV3SURRd05DQTBNVFVnTkRFeFVUUXhOU0EwTVRJZ05ERTJJRFF4TkZZME1UVlJNemc0SURReE1pQXpOak1nTXprelVUTTFOU0F6T0RnZ016VTFJRE00TmxFek5UVWdNemcxSURNMU9TQXpPREZVTXpZNElETTJPVlF6TnprZ016VXhWRE00T0NBek1qVlVNemt5SURJNU1sRXpPVElnTWpNd0lETTBNeUF4T0RkVU1qSXlJREUwTTFFeE56SWdNVFF6SURFeU15QXhOekZSTVRFeUlERTFNeUF4TVRJZ01UTXpVVEV4TWlBNU9DQXhNemdnT0RGUk1UUTNJRGMxSURFMU5TQTNOVlF5TWpjZ056TlJNekV4SURjeUlETXpOU0EyTjFFek9UWWdOVGdnTkRNeElESTJVVFEzTUNBdE1UTWdORGN3SUMwM01sRTBOekFnTFRFek9TQXpPVElnTFRFM05WRXpNeklnTFRJd05pQXlOVEFnTFRJd05sRXhOamNnTFRJd05pQXhNRGNnTFRFM05WRXlPU0F0TVRRd0lESTVJQzAzTlZFeU9TQXRNemtnTlRBZ0xURTFWRGt5SURFNFRERXdNeUF5TkZFMk55QTFOU0EyTnlBeE1EaFJOamNnTVRVMUlEazJJREU1TTFFMU1pQXlNemNnTlRJZ01qa3lVVFV5SURNMU5TQXhNRElnTXprNFZESXlNeUEwTkRKUk1qYzBJRFEwTWlBek1UZ2dOREUyVERNeU9TQTBNRGxhVFRJNU9TQXpORE5STWprMElETTNNU0F5TnpNZ016ZzNWREl5TVNBME1EUlJNVGt5SURRd05DQXhOekVnTXpnNFZERTBOU0F6TkROUk1UUXlJRE15TmlBeE5ESWdNamt5VVRFME1pQXlORGdnTVRRNUlESXlOMVF4TnprZ01Ua3lVVEU1TmlBeE9ESWdNakl5SURFNE1sRXlORFFnTVRneUlESTJNQ0F4T0RsVU1qZ3pJREl3TjFReU9UUWdNakkzVkRJNU9TQXlOREpSTXpBeUlESTFPQ0F6TURJZ01qa3lWREk1T1NBek5ETmFUVFF3TXlBdE56VlJOREF6SUMwMU1DQXpPRGtnTFRNMFZETTBPQ0F0TVRGVU1qazVJQzB5VkRJME5TQXdTREl4T0ZFeE5URWdNQ0F4TXpnZ0xUWlJNVEU0SUMweE5TQXhNRGNnTFRNMFZEazFJQzAzTkZFNU5TQXRPRFFnTVRBeElDMDVOMVF4TWpJZ0xURXlOMVF4TnpBZ0xURTFOVlF5TlRBZ0xURTJOMUV6TVRrZ0xURTJOeUF6TmpFZ0xURXpPVlEwTURNZ0xUYzFXaUl2UGp4d1lYUm9JR2xrUFNKTlNsZ3RNek10VkVWWUxVNHROMEVpSUdROUlrMDBNaUF5TmpOUk5EUWdNamN3SURRNElETTBOVlExTXlBME1qTldORE14U0RNNU0xRXpPVGtnTkRJMUlETTVPU0EwTVRWUk16azVJRFF3TXlBek9UZ2dOREF5VERNNE1TQXpOemhSTXpZMElETTFOU0F6TXpFZ016QTVWREkyTlNBeU1qQk1NVE0wSURReFRERTRNaUEwTUVneU1EWlJNalUwSURRd0lESTRNeUEwTmxRek16RWdOemRSTXpVeUlERXdOU0F6TlRrZ01UZzFURE0yTVNBeU1ERlJNell4SURJd01pQXpPREVnTWpBeVNEUXdNVll4T1RaUk5EQXhJREU1TlNBek9UTWdNVEF6VkRNNE5DQTJWakJJTWpBNVRETTBJREZNTXpFZ00xRXlPQ0E0SURJNElERTNVVEk0SURNd0lESTVJRE14VkRFMk1DQXlNVEJVTWprMElETTVORWd5TXpaUk1UWTVJRE01TXlBeE5USWdNemc0VVRFeU55QXpPRElnTVRFeklETTJOMUU0T1NBek5EUWdPRElnTWpZMFZqSTFOVWcwTWxZeU5qTmFJaTgrUEhCaGRHZ2dhV1E5SWsxS1dDMHpNeTFVUlZndFRpMDNPQ0lnWkQwaVRUSXdNU0F3VVRFNE9TQXpJREV3TWlBelVUSTJJRE1nTVRjZ01FZ3hNVlkwTmtneU5WRTBPQ0EwTnlBMk55QTFNbFE1TmlBMk1WUXhNakVnTnpoVU1UTTVJRGsyVkRFMk1DQXhNakpVTVRnd0lERTFNRXd5TWpZZ01qRXdUREUyT0NBeU9EaFJNVFU1SURNd01TQXhORGtnTXpFMVZERXpNeUF6TXpaVU1USXlJRE0xTVZReE1UTWdNell6VkRFd055QXpOekJVTVRBd0lETTNObFE1TkNBek56bFVPRGdnTXpneFZEZ3dJRE00TTFFM05DQXpPRE1nTkRRZ016ZzFTREUyVmpRek1VZ3lNMUUxT1NBME1qa2dNVEkySURReU9WRXlNVGtnTkRJNUlESXlPU0EwTXpGSU1qTTNWak00TlZFeU1ERWdNemd4SURJd01TQXpOamxSTWpBeElETTJOeUF5TVRFZ016VXpWREl6T1NBek1UVlVNalk0SURJM05Fd3lOeklnTWpjd1RESTVOeUF6TURSUk16STVJRE0wTlNBek1qa2dNelU0VVRNeU9TQXpOalFnTXpJM0lETTJPVlF6TWpJZ016YzJWRE14TnlBek9EQlVNekV3SURNNE5Fd3pNRGNnTXpnMVNETXdNbFkwTXpGSU16QTVVVE15TkNBME1qZ2dOREE0SURReU9GRTBPRGNnTkRJNElEUTVNeUEwTXpGSU5EazVWak00TlVnME9USlJORFF6SURNNE5TQTBNVEVnTXpZNFVUTTVOQ0F6TmpBZ016YzNJRE0wTVZRek1USWdNalUzVERJNU5pQXlNelpNTXpVNElERTFNVkUwTWpRZ05qRWdOREk1SURVM1ZEUTBOaUExTUZFME5qUWdORFlnTkRrNUlEUTJTRFV4TmxZd1NEVXhNRWcxTURKUk5EazBJREVnTkRneUlERlVORFUzSURKVU5ETXlJREpVTkRFMElETlJOREF6SURNZ016YzNJRE5VTXpJM0lERk1NekEwSURCSU1qazFWalEyU0RJNU9GRXpNRGtnTkRZZ016SXdJRFV4VkRNek1TQTJNMUV6TXpFZ05qVWdNamt4SURFeU1Fd3lOVEFnTVRjMVVUSTBPU0F4TnpRZ01qRTVJREV6TTFReE9EVWdPRGhSTVRneElEZ3pJREU0TVNBM05GRXhPREVnTmpNZ01UZzRJRFUxVkRJd05pQTBObEV5TURnZ05EWWdNakE0SURJelZqQklNakF4V2lJdlBqeHdZWFJvSUdsa1BTSk5TbGd0TXpNdFZFVllMVll0TWpBek1pSWdaRDBpVFRjNUlEUXpVVGN6SURReklEVXlJRFE1VkRNd0lEWXhVVE13SURZNElEZzFJREk1TTFReE5EWWdOVEk0VVRFMk1TQTFOakFnTVRrNElEVTJNRkV5TVRnZ05UWXdJREkwTUNBMU5EVlVNall5SURVd01WRXlOaklnTkRrMklESTJNQ0EwT0RaUk1qVTVJRFEzT1NBeE56TWdNall6VkRnMElEUTFWRGM1SURReldpSXZQanh3WVhSb0lHbGtQU0pOU2xndE16TXRWRVZZTFU0dE5FUWlJR1E5SWsweE16SWdOakl5VVRFeU5TQTJNamtnTVRJeElEWXpNVlF4TURVZ05qTTBWRFl5SURZek4wZ3lPVlkyT0ROSU1UTTFVVEl5TVNBMk9ETWdNak15SURZNE1sUXlORGtnTmpjMVVUSTFNQ0EyTnpRZ016VTBJRE01T0V3ME5UZ2dNVEkwVERVMk1pQXpPVGhSTmpZMklEWTNOQ0EyTmpnZ05qYzFVVFkzTVNBMk9ERWdOamd6SURZNE1sUTNPREVnTmpnelNEZzROMVkyTXpkSU9EVTBVVGd4TkNBMk16WWdPREF6SURZek5GUTNPRFVnTmpJeVZqWXhVVGM1TVNBMU1TQTRNRElnTkRsVU9EVTBJRFEyU0RnNE4xWXdTRGczTmxFNE5UVWdNeUEzTXpZZ00xRTJNRFVnTXlBMU9UWWdNRWcxT0RWV05EWklOakU0VVRZMk1DQTBOeUEyTmprZ05EbFVOamc0SURZeFZqTTBOMUUyT0RnZ05ESTBJRFk0T0NBME5qRlVOamc0SURVME5sUTJPRGdnTmpFelREWTROeUEyTXpKUk5EVTBJREUwSURRMU1DQTNVVFEwTmlBeElEUXpNQ0F4VkRReE1DQTNVVFF3T1NBNUlESTVNaUF6TVRaTU1UYzJJRFl5TkZZMk1EWlJNVGMxSURVNE9DQXhOelVnTlRRelZERTNOU0EwTmpOVU1UYzFJRE0xTmt3eE56WWdPRFpSTVRnM0lEVXdJREkyTVNBME5rZ3lOemhXTUVneU5qbFJNalUwSURNZ01UVTBJRE5STlRJZ015QXpOeUF3U0RJNVZqUTJTRFEyVVRjNElEUTRJRGs0SURVMlZERXlNaUEyT1ZReE16SWdPRFpXTmpJeVdpSXZQanh3WVhSb0lHbGtQU0pOU2xndE16TXRWRVZZTFU0dE56Y2lJR1E5SWswNU1DQXpOamhST0RRZ016YzRJRGMySURNNE1GUTBNQ0F6T0RWSU1UaFdORE14U0RJMFREUXpJRFF6TUZFMk1pQTBNekFnT0RRZ05ESTVWREV4TmlBME1qaFJNakEySURReU9DQXlNakVnTkRNeFNESXlPVll6T0RWSU1qRTFVVEUzTnlBek9ETWdNVGMzSURNMk9GRXhOemNnTXpZM0lESXlNU0F5TXpsTU1qWTFJREV4TTB3ek16a2dNekk0VERNek15QXpORFZSTXpJeklETTNOQ0F6TVRZZ016YzVVVE13T0NBek9EUWdNamM0SURNNE5VZ3lOVGhXTkRNeFNESTJORkV5TnpBZ05ESTRJRE0wT0NBME1qaFJORE01SURReU9DQTBOVFFnTkRNeFNEUTJNVll6T0RWSU5EVXlVVFF3TkNBek9EVWdOREEwSURNMk9WRTBNRFFnTXpZMklEUXhPQ0F6TWpSVU5EUTVJREl6TkZRME9ERWdNVFF6VERRNU5pQXhNREJNTlRNM0lESXhPVkUxTnprZ016UXhJRFUzT1NBek5EZFJOVGM1SURNMk15QTFOalFnTXpjelZEVXpNQ0F6T0RWSU5USXlWalF6TVVnMU1qbFJOVFF4SURReU9DQTJNalFnTkRJNFVUWTVNaUEwTWpnZ05qazRJRFF6TVVnM01ETldNemcxU0RZNU4xRTJPVFlnTXpnMUlEWTVNU0F6T0RWVU5qZ3lJRE00TkZFMk16VWdNemMzSURZeE9TQXpNelJNTlRVNUlERTJNVkUxTkRZZ01USTBJRFV5T0NBM01WRTFNRGdnTVRJZ05UQXpJREZVTkRnM0lDMHhNVWcwTnpsUk5EWXdJQzB4TVNBME5UWWdMVFJSTkRVMUlDMHpJRFF3TnlBeE16Tk1Nell4SURJMk4xRXpOVGtnTWpZeklESTJOaUF0TkZFeU5qRWdMVEV4SURJME15QXRNVEZJTWpNNFVUSXlOU0F0TVRFZ01qSXdJQzB6VERrd0lETTJPRm9pTHo0OEwyUmxabk0rUEdjZ2MzUnliMnRsUFNKamRYSnlaVzUwUTI5c2IzSWlJR1pwYkd3OUltTjFjbkpsYm5SRGIyeHZjaUlnYzNSeWIydGxMWGRwWkhSb1BTSXdJaUIwY21GdWMyWnZjbTA5SW5OallXeGxLREVzTFRFcElqNDhaeUJrWVhSaExXMXRiQzF1YjJSbFBTSnRZWFJvSWo0OFp5QmtZWFJoTFcxdGJDMXViMlJsUFNKdGRHRmliR1VpUGp4bklHUmhkR0V0Ylcxc0xXNXZaR1U5SW0xMGNpSWdkSEpoYm5ObWIzSnRQU0owY21GdWMyeGhkR1VvTUN3eE5UZzVMaklwSWo0OFp5QmtZWFJoTFcxdGJDMXViMlJsUFNKdGRHUWlJSFJ5WVc1elptOXliVDBpZEhKaGJuTnNZWFJsS0RJMU9ESXVOaXd3S1NJK1BHY2daR0YwWVMxdGJXd3RibTlrWlQwaWJXa2lQangxYzJVZ1pHRjBZUzFqUFNJeFJEUTBOQ0lnZUd4cGJtczZhSEpsWmowaUkwMUtXQzB6TXkxVVJWZ3RTUzB4UkRRME5DSXZQand2Wno0OFp5QmtZWFJoTFcxdGJDMXViMlJsUFNKdGJ5SWdkSEpoYm5ObWIzSnRQU0owY21GdWMyeGhkR1VvTnpreExEQXBJajQ4ZFhObElHUmhkR0V0WXowaU1qZ2lJSGhzYVc1ck9taHlaV1k5SWlOTlNsZ3RNek10VkVWWUxVNHRNamdpTHo0OEwyYytQR2NnWkdGMFlTMXRiV3d0Ym05a1pUMGliV2tpSUhSeVlXNXpabTl5YlQwaWRISmhibk5zWVhSbEtERXhPREFzTUNraVBqeDFjMlVnWkdGMFlTMWpQU0l4UkRRMk1DSWdlR3hwYm1zNmFISmxaajBpSTAxS1dDMHpNeTFVUlZndFNTMHhSRFEyTUNJdlBqd3ZaejQ4WnlCa1lYUmhMVzF0YkMxdWIyUmxQU0p0YnlJZ2RISmhibk5tYjNKdFBTSjBjbUZ1YzJ4aGRHVW9NVFkwT1N3d0tTSStQSFZ6WlNCa1lYUmhMV005SWpKRElpQjRiR2x1YXpwb2NtVm1QU0lqVFVwWUxUTXpMVlJGV0MxT0xUSkRJaTgrUEM5blBqeG5JR1JoZEdFdGJXMXNMVzV2WkdVOUltMXBJaUIwY21GdWMyWnZjbTA5SW5SeVlXNXpiR0YwWlNneU1Ea3pMamNzTUNraVBqeDFjMlVnWkdGMFlTMWpQU0l4UkRRMFJTSWdlR3hwYm1zNmFISmxaajBpSTAxS1dDMHpNeTFVUlZndFNTMHhSRFEwUlNJdlBqd3ZaejQ4WnlCa1lYUmhMVzF0YkMxdWIyUmxQU0p0YnlJZ2RISmhibk5tYjNKdFBTSjBjbUZ1YzJ4aGRHVW9Nall5TWk0M0xEQXBJajQ4ZFhObElHUmhkR0V0WXowaU1qa2lJSGhzYVc1ck9taHlaV1k5SWlOTlNsZ3RNek10VkVWWUxVNHRNamtpTHo0OEwyYytQQzluUGp4bklHUmhkR0V0Ylcxc0xXNXZaR1U5SW0xMFpDSWdkSEpoYm5ObWIzSnRQU0owY21GdWMyeGhkR1VvTlRVNU5DNHlMREFwSWo0OFp5QmtZWFJoTFcxdGJDMXViMlJsUFNKdGFTSXZQanhuSUdSaGRHRXRiVzFzTFc1dlpHVTlJbTF2SWlCMGNtRnVjMlp2Y20wOUluUnlZVzV6YkdGMFpTZ3lOemN1T0N3d0tTSStQSFZ6WlNCa1lYUmhMV005SWpOQklpQjRiR2x1YXpwb2NtVm1QU0lqVFVwWUxUTXpMVlJGV0MxT0xUTkJJaTgrUEM5blBqeG5JR1JoZEdFdGJXMXNMVzV2WkdVOUltMTBaWGgwSWlCMGNtRnVjMlp2Y20wOUluUnlZVzV6YkdGMFpTZzRNek11Tml3d0tTSStQSFZ6WlNCa1lYUmhMV005SWpRMUlpQjRiR2x1YXpwb2NtVm1QU0lqVFVwWUxUTXpMVlJGV0MxT0xUUTFJaTgrUEhWelpTQmtZWFJoTFdNOUlqY3pJaUI0YkdsdWF6cG9jbVZtUFNJalRVcFlMVE16TFZSRldDMU9MVGN6SWlCMGNtRnVjMlp2Y20wOUluUnlZVzV6YkdGMFpTZzJPREVzTUNraUx6NDhkWE5sSUdSaGRHRXRZejBpTnpRaUlIaHNhVzVyT21oeVpXWTlJaU5OU2xndE16TXRWRVZZTFU0dE56UWlJSFJ5WVc1elptOXliVDBpZEhKaGJuTnNZWFJsS0RFd056VXNNQ2tpTHo0OGRYTmxJR1JoZEdFdFl6MGlOamtpSUhoc2FXNXJPbWh5WldZOUlpTk5TbGd0TXpNdFZFVllMVTR0TmpraUlIUnlZVzV6Wm05eWJUMGlkSEpoYm5Oc1lYUmxLREUwTmpRc01Da2lMejQ4ZFhObElHUmhkR0V0WXowaU5rUWlJSGhzYVc1ck9taHlaV1k5SWlOTlNsZ3RNek10VkVWWUxVNHROa1FpSUhSeVlXNXpabTl5YlQwaWRISmhibk5zWVhSbEtERTNORElzTUNraUx6NDhkWE5sSUdSaGRHRXRZejBpTmpFaUlIaHNhVzVyT21oeVpXWTlJaU5OU2xndE16TXRWRVZZTFU0dE5qRWlJSFJ5WVc1elptOXliVDBpZEhKaGJuTnNZWFJsS0RJMU56VXNNQ2tpTHo0OGRYTmxJR1JoZEdFdFl6MGlOelFpSUhoc2FXNXJPbWh5WldZOUlpTk5TbGd0TXpNdFZFVllMVTR0TnpRaUlIUnlZVzV6Wm05eWJUMGlkSEpoYm5Oc1lYUmxLRE13TnpVc01Da2lMejQ4ZFhObElHUmhkR0V0WXowaU5qVWlJSGhzYVc1ck9taHlaV1k5SWlOTlNsZ3RNek10VkVWWUxVNHROalVpSUhSeVlXNXpabTl5YlQwaWRISmhibk5zWVhSbEtETTBOalFzTUNraUx6NDhkWE5sSUdSaGRHRXRZejBpTmpRaUlIaHNhVzVyT21oeVpXWTlJaU5OU2xndE16TXRWRVZZTFU0dE5qUWlJSFJ5WVc1elptOXliVDBpZEhKaGJuTnNZWFJsS0RNNU1EZ3NNQ2tpTHo0OGRYTmxJR1JoZEdFdFl6MGlNakFpSUhoc2FXNXJPbWh5WldZOUlpTk5TbGd0TXpNdFZFVllMVTR0TWpBaUlIUnlZVzV6Wm05eWJUMGlkSEpoYm5Oc1lYUmxLRFEwTmpRc01Da2lMejQ4ZFhObElHUmhkR0V0WXowaU5qRWlJSGhzYVc1ck9taHlaV1k5SWlOTlNsZ3RNek10VkVWWUxVNHROakVpSUhSeVlXNXpabTl5YlQwaWRISmhibk5zWVhSbEtEUTNNVFFzTUNraUx6NDhkWE5sSUdSaGRHRXRZejBpTmpNaUlIaHNhVzVyT21oeVpXWTlJaU5OU2xndE16TXRWRVZZTFU0dE5qTWlJSFJ5WVc1elptOXliVDBpZEhKaGJuTnNZWFJsS0RVeU1UUXNNQ2tpTHo0OGRYTmxJR1JoZEdFdFl6MGlOelFpSUhoc2FXNXJPbWh5WldZOUlpTk5TbGd0TXpNdFZFVllMVTR0TnpRaUlIUnlZVzV6Wm05eWJUMGlkSEpoYm5Oc1lYUmxLRFUyTlRnc01Da2lMejQ4ZFhObElHUmhkR0V0WXowaU5qa2lJSGhzYVc1ck9taHlaV1k5SWlOTlNsZ3RNek10VkVWWUxVNHROamtpSUhSeVlXNXpabTl5YlQwaWRISmhibk5zWVhSbEtEWXdORGNzTUNraUx6NDhkWE5sSUdSaGRHRXRZejBpTmtZaUlIaHNhVzVyT21oeVpXWTlJaU5OU2xndE16TXRWRVZZTFU0dE5rWWlJSFJ5WVc1elptOXliVDBpZEhKaGJuTnNZWFJsS0RZek1qVXNNQ2tpTHo0OGRYTmxJR1JoZEdFdFl6MGlOa1VpSUhoc2FXNXJPbWh5WldZOUlpTk5TbGd0TXpNdFZFVllMVTR0TmtVaUlIUnlZVzV6Wm05eWJUMGlkSEpoYm5Oc1lYUmxLRFk0TWpVc01Da2lMejQ4ZFhObElHUmhkR0V0WXowaU1rUWlJSGhzYVc1ck9taHlaV1k5SWlOTlNsZ3RNek10VkVWWUxVNHRNa1FpSUhSeVlXNXpabTl5YlQwaWRISmhibk5zWVhSbEtEY3pPREVzTUNraUx6NDhkWE5sSUdSaGRHRXRZejBpTnpZaUlIaHNhVzVyT21oeVpXWTlJaU5OU2xndE16TXRWRVZZTFU0dE56WWlJSFJ5WVc1elptOXliVDBpZEhKaGJuTnNZWFJsS0RjM01UUXNNQ2tpTHo0OGRYTmxJR1JoZEdFdFl6MGlOakVpSUhoc2FXNXJPbWh5WldZOUlpTk5TbGd0TXpNdFZFVllMVTR0TmpFaUlIUnlZVzV6Wm05eWJUMGlkSEpoYm5Oc1lYUmxLRGd5TkRJc01Da2lMejQ4ZFhObElHUmhkR0V0WXowaU5rTWlJSGhzYVc1ck9taHlaV1k5SWlOTlNsZ3RNek10VkVWWUxVNHROa01pSUhSeVlXNXpabTl5YlQwaWRISmhibk5zWVhSbEtEZzNORElzTUNraUx6NDhkWE5sSUdSaGRHRXRZejBpTnpVaUlIaHNhVzVyT21oeVpXWTlJaU5OU2xndE16TXRWRVZZTFU0dE56VWlJSFJ5WVc1elptOXliVDBpZEhKaGJuTnNZWFJsS0Rrd01qQXNNQ2tpTHo0OGRYTmxJR1JoZEdFdFl6MGlOalVpSUhoc2FXNXJPbWh5WldZOUlpTk5TbGd0TXpNdFZFVllMVTR0TmpVaUlIUnlZVzV6Wm05eWJUMGlkSEpoYm5Oc1lYUmxLRGsxTnpZc01Da2lMejQ4ZFhObElHUmhkR0V0WXowaU1qQWlJSGhzYVc1ck9taHlaV1k5SWlOTlNsZ3RNek10VkVWWUxVNHRNakFpSUhSeVlXNXpabTl5YlQwaWRISmhibk5zWVhSbEtERXdNREl3TERBcElpOCtQSFZ6WlNCa1lYUmhMV005SWpZMklpQjRiR2x1YXpwb2NtVm1QU0lqVFVwWUxUTXpMVlJGV0MxT0xUWTJJaUIwY21GdWMyWnZjbTA5SW5SeVlXNXpiR0YwWlNneE1ESTNNQ3d3S1NJdlBqeDFjMlVnWkdGMFlTMWpQU0kyUmlJZ2VHeHBibXM2YUhKbFpqMGlJMDFLV0Mwek15MVVSVmd0VGkwMlJpSWdkSEpoYm5ObWIzSnRQU0owY21GdWMyeGhkR1VvTVRBMU56WXNNQ2tpTHo0OGRYTmxJR1JoZEdFdFl6MGlOeklpSUhoc2FXNXJPbWh5WldZOUlpTk5TbGd0TXpNdFZFVllMVTR0TnpJaUlIUnlZVzV6Wm05eWJUMGlkSEpoYm5Oc1lYUmxLREV4TURjMkxEQXBJaTgrUEhWelpTQmtZWFJoTFdNOUlqSXdJaUI0YkdsdWF6cG9jbVZtUFNJalRVcFlMVE16TFZSRldDMU9MVEl3SWlCMGNtRnVjMlp2Y20wOUluUnlZVzV6YkdGMFpTZ3hNVFEyT0N3d0tTSXZQangxYzJVZ1pHRjBZUzFqUFNJM015SWdlR3hwYm1zNmFISmxaajBpSTAxS1dDMHpNeTFVUlZndFRpMDNNeUlnZEhKaGJuTm1iM0p0UFNKMGNtRnVjMnhoZEdVb01URTNNVGdzTUNraUx6NDhkWE5sSUdSaGRHRXRZejBpTnpRaUlIaHNhVzVyT21oeVpXWTlJaU5OU2xndE16TXRWRVZZTFU0dE56UWlJSFJ5WVc1elptOXliVDBpZEhKaGJuTnNZWFJsS0RFeU1URXlMREFwSWk4K1BIVnpaU0JrWVhSaExXTTlJall4SWlCNGJHbHVhenBvY21WbVBTSWpUVXBZTFRNekxWUkZXQzFPTFRZeElpQjBjbUZ1YzJadmNtMDlJblJ5WVc1emJHRjBaU2d4TWpVd01Td3dLU0l2UGp4MWMyVWdaR0YwWVMxalBTSTNOQ0lnZUd4cGJtczZhSEpsWmowaUkwMUtXQzB6TXkxVVJWZ3RUaTAzTkNJZ2RISmhibk5tYjNKdFBTSjBjbUZ1YzJ4aGRHVW9NVE13TURFc01Da2lMejQ4ZFhObElHUmhkR0V0WXowaU5qVWlJSGhzYVc1ck9taHlaV1k5SWlOTlNsZ3RNek10VkVWWUxVNHROalVpSUhSeVlXNXpabTl5YlQwaWRISmhibk5zWVhSbEtERXpNemt3TERBcElpOCtQSFZ6WlNCa1lYUmhMV005SWpKRUlpQjRiR2x1YXpwb2NtVm1QU0lqVFVwWUxUTXpMVlJGV0MxT0xUSkVJaUIwY21GdWMyWnZjbTA5SW5SeVlXNXpiR0YwWlNneE16Z3pOQ3d3S1NJdlBqeDFjMlVnWkdGMFlTMWpQU0kyTVNJZ2VHeHBibXM2YUhKbFpqMGlJMDFLV0Mwek15MVVSVmd0VGkwMk1TSWdkSEpoYm5ObWIzSnRQU0owY21GdWMyeGhkR1VvTVRReE5qY3NNQ2tpTHo0OGRYTmxJR1JoZEdFdFl6MGlOak1pSUhoc2FXNXJPbWh5WldZOUlpTk5TbGd0TXpNdFZFVllMVTR0TmpNaUlIUnlZVzV6Wm05eWJUMGlkSEpoYm5Oc1lYUmxLREUwTmpZM0xEQXBJaTgrUEhWelpTQmtZWFJoTFdNOUlqYzBJaUI0YkdsdWF6cG9jbVZtUFNJalRVcFlMVE16TFZSRldDMU9MVGMwSWlCMGNtRnVjMlp2Y20wOUluUnlZVzV6YkdGMFpTZ3hOVEV4TVN3d0tTSXZQangxYzJVZ1pHRjBZUzFqUFNJMk9TSWdlR3hwYm1zNmFISmxaajBpSTAxS1dDMHpNeTFVUlZndFRpMDJPU0lnZEhKaGJuTm1iM0p0UFNKMGNtRnVjMnhoZEdVb01UVTFNREFzTUNraUx6NDhkWE5sSUdSaGRHRXRZejBpTmtZaUlIaHNhVzVyT21oeVpXWTlJaU5OU2xndE16TXRWRVZZTFU0dE5rWWlJSFJ5WVc1elptOXliVDBpZEhKaGJuTnNZWFJsS0RFMU56YzRMREFwSWk4K1BIVnpaU0JrWVhSaExXTTlJalpGSWlCNGJHbHVhenBvY21WbVBTSWpUVXBZTFRNekxWUkZXQzFPTFRaRklpQjBjbUZ1YzJadmNtMDlJblJ5WVc1emJHRjBaU2d4TmpJM09Dd3dLU0l2UGp4MWMyVWdaR0YwWVMxalBTSXlNQ0lnZUd4cGJtczZhSEpsWmowaUkwMUtXQzB6TXkxVVJWZ3RUaTB5TUNJZ2RISmhibk5tYjNKdFBTSjBjbUZ1YzJ4aGRHVW9NVFk0TXpRc01Da2lMejQ4ZFhObElHUmhkR0V0WXowaU56QWlJSGhzYVc1ck9taHlaV1k5SWlOTlNsZ3RNek10VkVWWUxVNHROekFpSUhSeVlXNXpabTl5YlQwaWRISmhibk5zWVhSbEtERTNNRGcwTERBcElpOCtQSFZ6WlNCa1lYUmhMV005SWpZeElpQjRiR2x1YXpwb2NtVm1QU0lqVFVwWUxUTXpMVlJGV0MxT0xUWXhJaUIwY21GdWMyWnZjbTA5SW5SeVlXNXpiR0YwWlNneE56WTBNQ3d3S1NJdlBqeDFjMlVnWkdGMFlTMWpQU0kyT1NJZ2VHeHBibXM2YUhKbFpqMGlJMDFLV0Mwek15MVVSVmd0VGkwMk9TSWdkSEpoYm5ObWIzSnRQU0owY21GdWMyeGhkR1VvTVRneE5EQXNNQ2tpTHo0OGRYTmxJR1JoZEdFdFl6MGlOeklpSUhoc2FXNXJPbWh5WldZOUlpTk5TbGd0TXpNdFZFVllMVTR0TnpJaUlIUnlZVzV6Wm05eWJUMGlkSEpoYm5Oc1lYUmxLREU0TkRFNExEQXBJaTgrUEhWelpTQmtZWFJoTFdNOUlrRXdJaUI0YkdsdWF6cG9jbVZtUFNJalRVcFlMVE16TFZSRldDMU9MVUV3SWlCMGNtRnVjMlp2Y20wOUluUnlZVzV6YkdGMFpTZ3hPRGd4TUN3d0tTSXZQand2Wno0OFp5QmtZWFJoTFcxdGJDMXViMlJsUFNKdGJ5SWdkSEpoYm5ObWIzSnRQU0owY21GdWMyeGhkR1VvTVRrNE9UTXVOaXd3S1NJK1BIVnpaU0JrWVhSaExXTTlJakk0SWlCNGJHbHVhenBvY21WbVBTSWpUVXBZTFRNekxWUkZXQzFPTFRJNElpOCtQQzluUGp4bklHUmhkR0V0Ylcxc0xXNXZaR1U5SW0xcElpQjBjbUZ1YzJadmNtMDlJblJ5WVc1emJHRjBaU2d5TURJNE1pNDJMREFwSWo0OGRYTmxJR1JoZEdFdFl6MGlNVVEwTmpBaUlIaHNhVzVyT21oeVpXWTlJaU5OU2xndE16TXRWRVZZTFVrdE1VUTBOakFpTHo0OEwyYytQR2NnWkdGMFlTMXRiV3d0Ym05a1pUMGliVzhpSUhSeVlXNXpabTl5YlQwaWRISmhibk5zWVhSbEtESXdOelV4TGpZc01Da2lQangxYzJVZ1pHRjBZUzFqUFNJeVF5SWdlR3hwYm1zNmFISmxaajBpSTAxS1dDMHpNeTFVUlZndFRpMHlReUl2UGp3dlp6NDhaeUJrWVhSaExXMXRiQzF1YjJSbFBTSnRhU0lnZEhKaGJuTm1iM0p0UFNKMGNtRnVjMnhoZEdVb01qRXhPVFl1TWl3d0tTSStQSFZ6WlNCa1lYUmhMV005SWpGRU5EUkZJaUI0YkdsdWF6cG9jbVZtUFNJalRVcFlMVE16TFZSRldDMUpMVEZFTkRSRklpOCtQQzluUGp4bklHUmhkR0V0Ylcxc0xXNXZaR1U5SW0xdklpQjBjbUZ1YzJadmNtMDlJblJ5WVc1emJHRjBaU2d5TVRjeU5TNHlMREFwSWo0OGRYTmxJR1JoZEdFdFl6MGlNamtpSUhoc2FXNXJPbWh5WldZOUlpTk5TbGd0TXpNdFZFVllMVTR0TWpraUx6NDhMMmMrUEM5blBqd3ZaejQ4WnlCa1lYUmhMVzF0YkMxdWIyUmxQU0p0ZEhJaUlIUnlZVzV6Wm05eWJUMGlkSEpoYm5Oc1lYUmxLREFzTWpnNUxqSXBJajQ4WnlCa1lYUmhMVzF0YkMxdWIyUmxQU0p0ZEdRaUlIUnlZVzV6Wm05eWJUMGlkSEpoYm5Oc1lYUmxLRFE1TlRRdU1pd3dLU0krUEdjZ1pHRjBZUzF0Yld3dGJtOWtaVDBpYldraVBqeDFjMlVnWkdGMFlTMWpQU0l4UkRaR1F5SWdlR3hwYm1zNmFISmxaajBpSTAxS1dDMHpNeTFVUlZndFNTMHhSRFpHUXlJdlBqd3ZaejQ4TDJjK1BHY2daR0YwWVMxdGJXd3RibTlrWlQwaWJYUmtJaUIwY21GdWMyWnZjbTA5SW5SeVlXNXpiR0YwWlNnMU5UazBMaklzTUNraVBqeG5JR1JoZEdFdGJXMXNMVzV2WkdVOUltMXBJaTgrUEdjZ1pHRjBZUzF0Yld3dGJtOWtaVDBpYlc4aUlIUnlZVzV6Wm05eWJUMGlkSEpoYm5Oc1lYUmxLREkzTnk0NExEQXBJajQ4ZFhObElHUmhkR0V0WXowaU0wRWlJSGhzYVc1ck9taHlaV1k5SWlOTlNsZ3RNek10VkVWWUxVNHRNMEVpTHo0OEwyYytQR2NnWkdGMFlTMXRiV3d0Ym05a1pUMGliWFJsZUhRaUlIUnlZVzV6Wm05eWJUMGlkSEpoYm5Oc1lYUmxLRGd6TXk0MkxEQXBJajQ4ZFhObElHUmhkR0V0WXowaU5FTWlJSGhzYVc1ck9taHlaV1k5SWlOTlNsZ3RNek10VkVWWUxVNHRORU1pTHo0OGRYTmxJR1JoZEdFdFl6MGlOalVpSUhoc2FXNXJPbWh5WldZOUlpTk5TbGd0TXpNdFZFVllMVTR0TmpVaUlIUnlZVzV6Wm05eWJUMGlkSEpoYm5Oc1lYUmxLRFl5TlN3d0tTSXZQangxYzJVZ1pHRjBZUzFqUFNJMk1TSWdlR3hwYm1zNmFISmxaajBpSTAxS1dDMHpNeTFVUlZndFRpMDJNU0lnZEhKaGJuTm1iM0p0UFNKMGNtRnVjMnhoZEdVb01UQTJPU3d3S1NJdlBqeDFjMlVnWkdGMFlTMWpQU0kzTWlJZ2VHeHBibXM2YUhKbFpqMGlJMDFLV0Mwek15MVVSVmd0VGkwM01pSWdkSEpoYm5ObWIzSnRQU0owY21GdWMyeGhkR1VvTVRVMk9Td3dLU0l2UGp4MWMyVWdaR0YwWVMxalBTSTJSU0lnZUd4cGJtczZhSEpsWmowaUkwMUtXQzB6TXkxVVJWZ3RUaTAyUlNJZ2RISmhibk5tYjNKdFBTSjBjbUZ1YzJ4aGRHVW9NVGsyTVN3d0tTSXZQangxYzJVZ1pHRjBZUzFqUFNJMk9TSWdlR3hwYm1zNmFISmxaajBpSTAxS1dDMHpNeTFVUlZndFRpMDJPU0lnZEhKaGJuTm1iM0p0UFNKMGNtRnVjMnhoZEdVb01qVXhOeXd3S1NJdlBqeDFjMlVnWkdGMFlTMWpQU0kyUlNJZ2VHeHBibXM2YUhKbFpqMGlJMDFLV0Mwek15MVVSVmd0VGkwMlJTSWdkSEpoYm5ObWIzSnRQU0owY21GdWMyeGhkR1VvTWpjNU5Td3dLU0l2UGp4MWMyVWdaR0YwWVMxalBTSTJOeUlnZUd4cGJtczZhSEpsWmowaUkwMUtXQzB6TXkxVVJWZ3RUaTAyTnlJZ2RISmhibk5tYjNKdFBTSjBjbUZ1YzJ4aGRHVW9Nek0xTVN3d0tTSXZQangxYzJVZ1pHRjBZUzFqUFNJeU1DSWdlR3hwYm1zNmFISmxaajBpSTAxS1dDMHpNeTFVUlZndFRpMHlNQ0lnZEhKaGJuTm1iM0p0UFNKMGNtRnVjMnhoZEdVb016ZzFNU3d3S1NJdlBqeDFjMlVnWkdGMFlTMWpQU0kzTWlJZ2VHeHBibXM2YUhKbFpqMGlJMDFLV0Mwek15MVVSVmd0VGkwM01pSWdkSEpoYm5ObWIzSnRQU0owY21GdWMyeGhkR1VvTkRFd01Td3dLU0l2UGp4MWMyVWdaR0YwWVMxalBTSTJNU0lnZUd4cGJtczZhSEpsWmowaUkwMUtXQzB6TXkxVVJWZ3RUaTAyTVNJZ2RISmhibk5tYjNKdFBTSjBjbUZ1YzJ4aGRHVW9ORFE1TXl3d0tTSXZQangxYzJVZ1pHRjBZUzFqUFNJM05DSWdlR3hwYm1zNmFISmxaajBpSTAxS1dDMHpNeTFVUlZndFRpMDNOQ0lnZEhKaGJuTm1iM0p0UFNKMGNtRnVjMnhoZEdVb05EazVNeXd3S1NJdlBqeDFjMlVnWkdGMFlTMWpQU0kyTlNJZ2VHeHBibXM2YUhKbFpqMGlJMDFLV0Mwek15MVVSVmd0VGkwMk5TSWdkSEpoYm5ObWIzSnRQU0owY21GdWMyeGhkR1VvTlRNNE1pd3dLU0l2UGp4MWMyVWdaR0YwWVMxalBTSXlNQ0lnZUd4cGJtczZhSEpsWmowaUkwMUtXQzB6TXkxVVJWZ3RUaTB5TUNJZ2RISmhibk5tYjNKdFBTSjBjbUZ1YzJ4aGRHVW9OVGd5Tml3d0tTSXZQangxYzJVZ1pHRjBZUzFqUFNJeU9DSWdlR3hwYm1zNmFISmxaajBpSTAxS1dDMHpNeTFVUlZndFRpMHlPQ0lnZEhKaGJuTm1iM0p0UFNKMGNtRnVjMnhoZEdVb05qQTNOaXd3S1NJdlBqeDFjMlVnWkdGMFlTMWpQU0kzTXlJZ2VHeHBibXM2YUhKbFpqMGlJMDFLV0Mwek15MVVSVmd0VGkwM015SWdkSEpoYm5ObWIzSnRQU0owY21GdWMyeGhkR1VvTmpRMk5Td3dLU0l2UGp4MWMyVWdaR0YwWVMxalBTSTNOQ0lnZUd4cGJtczZhSEpsWmowaUkwMUtXQzB6TXkxVVJWZ3RUaTAzTkNJZ2RISmhibk5tYjNKdFBTSjBjbUZ1YzJ4aGRHVW9OamcxT1N3d0tTSXZQangxYzJVZ1pHRjBZUzFqUFNJMk5TSWdlR3hwYm1zNmFISmxaajBpSTAxS1dDMHpNeTFVUlZndFRpMDJOU0lnZEhKaGJuTm1iM0p0UFNKMGNtRnVjMnhoZEdVb056STBPQ3d3S1NJdlBqeDFjMlVnWkdGMFlTMWpQU0kzTUNJZ2VHeHBibXM2YUhKbFpqMGlJMDFLV0Mwek15MVVSVmd0VGkwM01DSWdkSEpoYm5ObWIzSnRQU0owY21GdWMyeGhkR1VvTnpZNU1pd3dLU0l2UGp4MWMyVWdaR0YwWVMxalBTSXlNQ0lnZUd4cGJtczZhSEpsWmowaUkwMUtXQzB6TXkxVVJWZ3RUaTB5TUNJZ2RISmhibk5tYjNKdFBTSjBjbUZ1YzJ4aGRHVW9PREkwT0N3d0tTSXZQangxYzJVZ1pHRjBZUzFqUFNJM015SWdlR3hwYm1zNmFISmxaajBpSTAxS1dDMHpNeTFVUlZndFRpMDNNeUlnZEhKaGJuTm1iM0p0UFNKMGNtRnVjMnhoZEdVb09EUTVPQ3d3S1NJdlBqeDFjMlVnWkdGMFlTMWpQU0kyT1NJZ2VHeHBibXM2YUhKbFpqMGlJMDFLV0Mwek15MVVSVmd0VGkwMk9TSWdkSEpoYm5ObWIzSnRQU0owY21GdWMyeGhkR1VvT0RnNU1pd3dLU0l2UGp4MWMyVWdaR0YwWVMxalBTSTNRU0lnZUd4cGJtczZhSEpsWmowaUkwMUtXQzB6TXkxVVJWZ3RUaTAzUVNJZ2RISmhibk5tYjNKdFBTSjBjbUZ1YzJ4aGRHVW9PVEUzTUN3d0tTSXZQangxYzJVZ1pHRjBZUzFqUFNJMk5TSWdlR3hwYm1zNmFISmxaajBpSTAxS1dDMHpNeTFVUlZndFRpMDJOU0lnZEhKaGJuTm1iM0p0UFNKMGNtRnVjMnhoZEdVb09UWXhOQ3d3S1NJdlBqeDFjMlVnWkdGMFlTMWpQU0l5T1NJZ2VHeHBibXM2YUhKbFpqMGlJMDFLV0Mwek15MVVSVmd0VGkweU9TSWdkSEpoYm5ObWIzSnRQU0owY21GdWMyeGhkR1VvTVRBd05UZ3NNQ2tpTHo0OEwyYytQQzluUGp3dlp6NDhaeUJrWVhSaExXMXRiQzF1YjJSbFBTSnRkSElpSUhSeVlXNXpabTl5YlQwaWRISmhibk5zWVhSbEtEQXNMVEV3TmprdU9Da2lQanhuSUdSaGRHRXRiVzFzTFc1dlpHVTlJbTEwWkNJK1BHY2daR0YwWVMxdGJXd3RibTlrWlQwaWJYVnVaR1Z5SWo0OFp5QmtZWFJoTFcxdGJDMXViMlJsUFNKdGJ5SStQSFZ6WlNCa1lYUmhMV005SWpaRUlpQjRiR2x1YXpwb2NtVm1QU0lqVFVwWUxUTXpMVlJGV0MxT0xUWkVJaTgrUEhWelpTQmtZWFJoTFdNOUlqWXhJaUI0YkdsdWF6cG9jbVZtUFNJalRVcFlMVE16TFZSRldDMU9MVFl4SWlCMGNtRnVjMlp2Y20wOUluUnlZVzV6YkdGMFpTZzRNek1zTUNraUx6NDhkWE5sSUdSaGRHRXRZejBpTnpnaUlIaHNhVzVyT21oeVpXWTlJaU5OU2xndE16TXRWRVZZTFU0dE56Z2lJSFJ5WVc1elptOXliVDBpZEhKaGJuTnNZWFJsS0RFek16TXNNQ2tpTHo0OEwyYytQR2NnWkdGMFlTMXRiV3d0Ym05a1pUMGlWR1ZZUVhSdmJTSWdkSEpoYm5ObWIzSnRQU0owY21GdWMyeGhkR1VvTmpRMUxqUXNMVFkyTWk0MEtTQnpZMkZzWlNnd0xqY3dOeWtpSUdSaGRHRXRiV3A0TFhSbGVHTnNZWE56UFNKUFVrUWlQanhuSUdSaGRHRXRiVzFzTFc1dlpHVTlJbTF6ZFhBaVBqeG5JR1JoZEdFdGJXMXNMVzV2WkdVOUltMXBJajQ4ZFhObElHUmhkR0V0WXowaU1VUTBORVVpSUhoc2FXNXJPbWh5WldZOUlpTk5TbGd0TXpNdFZFVllMVWt0TVVRME5FVWlMejQ4TDJjK1BHY2daR0YwWVMxdGJXd3RibTlrWlQwaWJXOGlJSFJ5WVc1elptOXliVDBpZEhKaGJuTnNZWFJsS0RVMk1pd3lPRGtwSUhOallXeGxLREF1TnpBM0tTSStQSFZ6WlNCa1lYUmhMV005SWpJd016SWlJSGhzYVc1ck9taHlaV1k5SWlOTlNsZ3RNek10VkVWWUxWWXRNakF6TWlJdlBqd3ZaejQ4TDJjK1BDOW5Qand2Wno0OFp5QmtZWFJoTFcxdGJDMXViMlJsUFNKdGFTSWdkSEpoYm5ObWIzSnRQU0owY21GdWMyeGhkR1VvTWpBeU55NDNMREFwSWo0OGRYTmxJR1JoZEdFdFl6MGlNVVEwTkRRaUlIaHNhVzVyT21oeVpXWTlJaU5OU2xndE16TXRWRVZZTFVrdE1VUTBORFFpTHo0OEwyYytQR2NnWkdGMFlTMXRiV3d0Ym05a1pUMGliVzhpSUhSeVlXNXpabTl5YlQwaWRISmhibk5zWVhSbEtESTRNVGd1Tnl3d0tTSStQSFZ6WlNCa1lYUmhMV005SWpJNElpQjRiR2x1YXpwb2NtVm1QU0lqVFVwWUxUTXpMVlJGV0MxT0xUSTRJaTgrUEM5blBqeG5JR1JoZEdFdGJXMXNMVzV2WkdVOUltMXpkWEFpSUhSeVlXNXpabTl5YlQwaWRISmhibk5zWVhSbEtETXlNRGN1Tnl3d0tTSStQR2NnWkdGMFlTMXRiV3d0Ym05a1pUMGliV2tpUGp4MWMyVWdaR0YwWVMxalBTSXhSRFEyTUNJZ2VHeHBibXM2YUhKbFpqMGlJMDFLV0Mwek15MVVSVmd0U1MweFJEUTJNQ0l2UGp3dlp6NDhaeUJrWVhSaExXMXRiQzF1YjJSbFBTSnRieUlnZEhKaGJuTm1iM0p0UFNKMGNtRnVjMnhoZEdVb05UQXlMRFF4TXlrZ2MyTmhiR1VvTUM0M01EY3BJajQ4ZFhObElHUmhkR0V0WXowaU1qQXpNaUlnZUd4cGJtczZhSEpsWmowaUkwMUtXQzB6TXkxVVJWZ3RWaTB5TURNeUlpOCtQQzluUGp3dlp6NDhaeUJrWVhSaExXMXRiQzF1YjJSbFBTSnRieUlnZEhKaGJuTm1iM0p0UFNKMGNtRnVjMnhoZEdVb016azFOQzR4TERBcElqNDhkWE5sSUdSaGRHRXRZejBpTWtNaUlIaHNhVzVyT21oeVpXWTlJaU5OU2xndE16TXRWRVZZTFU0dE1rTWlMejQ4TDJjK1BHY2daR0YwWVMxdGJXd3RibTlrWlQwaWJYTjFjQ0lnZEhKaGJuTm1iM0p0UFNKMGNtRnVjMnhoZEdVb05ETTVPQzQ0TERBcElqNDhaeUJrWVhSaExXMXRiQzF1YjJSbFBTSnRhU0krUEhWelpTQmtZWFJoTFdNOUlqRkVORFJGSWlCNGJHbHVhenBvY21WbVBTSWpUVXBZTFRNekxWUkZXQzFKTFRGRU5EUkZJaTgrUEM5blBqeG5JR1JoZEdFdGJXMXNMVzV2WkdVOUltMXZJaUIwY21GdWMyWnZjbTA5SW5SeVlXNXpiR0YwWlNnMU5qSXNOREV6S1NCelkyRnNaU2d3TGpjd055a2lQangxYzJVZ1pHRjBZUzFqUFNJeU1ETXlJaUI0YkdsdWF6cG9jbVZtUFNJalRVcFlMVE16TFZSRldDMVdMVEl3TXpJaUx6NDhMMmMrUEM5blBqeG5JR1JoZEdFdGJXMXNMVzV2WkdVOUltMXZJaUIwY21GdWMyWnZjbTA5SW5SeVlXNXpiR0YwWlNnMU1qQTFMaklzTUNraVBqeDFjMlVnWkdGMFlTMWpQU0l5T1NJZ2VHeHBibXM2YUhKbFpqMGlJMDFLV0Mwek15MVVSVmd0VGkweU9TSXZQand2Wno0OEwyYytQR2NnWkdGMFlTMXRiV3d0Ym05a1pUMGliWFJrSWlCMGNtRnVjMlp2Y20wOUluUnlZVzV6YkdGMFpTZzFOVGswTGpJc01Da2lQanhuSUdSaGRHRXRiVzFzTFc1dlpHVTlJbTFwSWk4K1BHY2daR0YwWVMxdGJXd3RibTlrWlQwaWJXOGlJSFJ5WVc1elptOXliVDBpZEhKaGJuTnNZWFJsS0RJM055NDRMREFwSWo0OGRYTmxJR1JoZEdFdFl6MGlNMEVpSUhoc2FXNXJPbWh5WldZOUlpTk5TbGd0TXpNdFZFVllMVTR0TTBFaUx6NDhMMmMrUEdjZ1pHRjBZUzF0Yld3dGJtOWtaVDBpYlhSbGVIUWlJSFJ5WVc1elptOXliVDBpZEhKaGJuTnNZWFJsS0Rnek15NDJMREFwSWo0OGRYTmxJR1JoZEdFdFl6MGlORVFpSUhoc2FXNXJPbWh5WldZOUlpTk5TbGd0TXpNdFZFVllMVTR0TkVRaUx6NDhkWE5sSUdSaGRHRXRZejBpTmpFaUlIaHNhVzVyT21oeVpXWTlJaU5OU2xndE16TXRWRVZZTFU0dE5qRWlJSFJ5WVc1elptOXliVDBpZEhKaGJuTnNZWFJsS0RreE55d3dLU0l2UGp4MWMyVWdaR0YwWVMxalBTSTNPQ0lnZUd4cGJtczZhSEpsWmowaUkwMUtXQzB6TXkxVVJWZ3RUaTAzT0NJZ2RISmhibk5tYjNKdFBTSjBjbUZ1YzJ4aGRHVW9NVFF4Tnl3d0tTSXZQangxYzJVZ1pHRjBZUzFqUFNJMk9TSWdlR3hwYm1zNmFISmxaajBpSTAxS1dDMHpNeTFVUlZndFRpMDJPU0lnZEhKaGJuTm1iM0p0UFNKMGNtRnVjMnhoZEdVb01UazBOU3d3S1NJdlBqeDFjMlVnWkdGMFlTMWpQU0kyUkNJZ2VHeHBibXM2YUhKbFpqMGlJMDFLV0Mwek15MVVSVmd0VGkwMlJDSWdkSEpoYm5ObWIzSnRQU0owY21GdWMyeGhkR1VvTWpJeU15d3dLU0l2UGp4MWMyVWdaR0YwWVMxalBTSTNOU0lnZUd4cGJtczZhSEpsWmowaUkwMUtXQzB6TXkxVVJWZ3RUaTAzTlNJZ2RISmhibk5tYjNKdFBTSjBjbUZ1YzJ4aGRHVW9NekExTml3d0tTSXZQangxYzJVZ1pHRjBZUzFqUFNJMlJDSWdlR3hwYm1zNmFISmxaajBpSTAxS1dDMHpNeTFVUlZndFRpMDJSQ0lnZEhKaGJuTm1iM0p0UFNKMGNtRnVjMnhoZEdVb016WXhNaXd3S1NJdlBqeDFjMlVnWkdGMFlTMWpQU0l5TUNJZ2VHeHBibXM2YUhKbFpqMGlJMDFLV0Mwek15MVVSVmd0VGkweU1DSWdkSEpoYm5ObWIzSnRQU0owY21GdWMyeGhkR1VvTkRRME5Td3dLU0l2UGp4MWMyVWdaR0YwWVMxalBTSTJOU0lnZUd4cGJtczZhSEpsWmowaUkwMUtXQzB6TXkxVVJWZ3RUaTAyTlNJZ2RISmhibk5tYjNKdFBTSjBjbUZ1YzJ4aGRHVW9ORFk1TlN3d0tTSXZQangxYzJVZ1pHRjBZUzFqUFNJM09DSWdlR3hwYm1zNmFISmxaajBpSTAxS1dDMHpNeTFVUlZndFRpMDNPQ0lnZEhKaGJuTm1iM0p0UFNKMGNtRnVjMnhoZEdVb05URXpPU3d3S1NJdlBqeDFjMlVnWkdGMFlTMWpQU0kzTUNJZ2VHeHBibXM2YUhKbFpqMGlJMDFLV0Mwek15MVVSVmd0VGkwM01DSWdkSEpoYm5ObWIzSnRQU0owY21GdWMyeGhkR1VvTlRZMk55d3dLU0l2UGp4MWMyVWdaR0YwWVMxalBTSTJOU0lnZUd4cGJtczZhSEpsWmowaUkwMUtXQzB6TXkxVVJWZ3RUaTAyTlNJZ2RISmhibk5tYjNKdFBTSjBjbUZ1YzJ4aGRHVW9Oakl5TXl3d0tTSXZQangxYzJVZ1pHRjBZUzFqUFNJMk15SWdlR3hwYm1zNmFISmxaajBpSTAxS1dDMHpNeTFVUlZndFRpMDJNeUlnZEhKaGJuTm1iM0p0UFNKMGNtRnVjMnhoZEdVb05qWTJOeXd3S1NJdlBqeDFjMlVnWkdGMFlTMWpQU0kzTkNJZ2VHeHBibXM2YUhKbFpqMGlJMDFLV0Mwek15MVVSVmd0VGkwM05DSWdkSEpoYm5ObWIzSnRQU0owY21GdWMyeGhkR1VvTnpFeE1Td3dLU0l2UGp4MWMyVWdaR0YwWVMxalBTSTJOU0lnZUd4cGJtczZhSEpsWmowaUkwMUtXQzB6TXkxVVJWZ3RUaTAyTlNJZ2RISmhibk5tYjNKdFBTSjBjbUZ1YzJ4aGRHVW9OelV3TUN3d0tTSXZQangxYzJVZ1pHRjBZUzFqUFNJMk5DSWdlR3hwYm1zNmFISmxaajBpSTAxS1dDMHpNeTFVUlZndFRpMDJOQ0lnZEhKaGJuTm1iM0p0UFNKMGNtRnVjMnhoZEdVb056azBOQ3d3S1NJdlBqeDFjMlVnWkdGMFlTMWpQU0l5TUNJZ2VHeHBibXM2YUhKbFpqMGlJMDFLV0Mwek15MVVSVmd0VGkweU1DSWdkSEpoYm5ObWIzSnRQU0owY21GdWMyeGhkR1VvT0RVd01Dd3dLU0l2UGp4MWMyVWdaR0YwWVMxalBTSTJOaUlnZUd4cGJtczZhSEpsWmowaUkwMUtXQzB6TXkxVVJWZ3RUaTAyTmlJZ2RISmhibk5tYjNKdFBTSjBjbUZ1YzJ4aGRHVW9PRGMxTUN3d0tTSXZQangxYzJVZ1pHRjBZUzFqUFNJM05TSWdlR3hwYm1zNmFISmxaajBpSTAxS1dDMHpNeTFVUlZndFRpMDNOU0lnZEhKaGJuTm1iM0p0UFNKMGNtRnVjMnhoZEdVb09UQTFOaXd3S1NJdlBqeDFjMlVnWkdGMFlTMWpQU0kzTkNJZ2VHeHBibXM2YUhKbFpqMGlJMDFLV0Mwek15MVVSVmd0VGkwM05DSWdkSEpoYm5ObWIzSnRQU0owY21GdWMyeGhkR1VvT1RZeE1pd3dLU0l2UGp4MWMyVWdaR0YwWVMxalBTSTNOU0lnZUd4cGJtczZhSEpsWmowaUkwMUtXQzB6TXkxVVJWZ3RUaTAzTlNJZ2RISmhibk5tYjNKdFBTSjBjbUZ1YzJ4aGRHVW9NVEF3TURFc01Da2lMejQ4ZFhObElHUmhkR0V0WXowaU56SWlJSGhzYVc1ck9taHlaV1k5SWlOTlNsZ3RNek10VkVWWUxVNHROeklpSUhSeVlXNXpabTl5YlQwaWRISmhibk5zWVhSbEtERXdOVFUzTERBcElpOCtQSFZ6WlNCa1lYUmhMV005SWpZMUlpQjRiR2x1YXpwb2NtVm1QU0lqVFVwWUxUTXpMVlJGV0MxT0xUWTFJaUIwY21GdWMyWnZjbTA5SW5SeVlXNXpiR0YwWlNneE1EazBPU3d3S1NJdlBqeDFjMlVnWkdGMFlTMWpQU0l5TUNJZ2VHeHBibXM2YUhKbFpqMGlJMDFLV0Mwek15MVVSVmd0VGkweU1DSWdkSEpoYm5ObWIzSnRQU0owY21GdWMyeGhkR1VvTVRFek9UTXNNQ2tpTHo0OGRYTmxJR1JoZEdFdFl6MGlOeklpSUhoc2FXNXJPbWh5WldZOUlpTk5TbGd0TXpNdFZFVllMVTR0TnpJaUlIUnlZVzV6Wm05eWJUMGlkSEpoYm5Oc1lYUmxLREV4TmpRekxEQXBJaTgrUEhWelpTQmtZWFJoTFdNOUlqWTFJaUI0YkdsdWF6cG9jbVZtUFNJalRVcFlMVE16TFZSRldDMU9MVFkxSWlCMGNtRnVjMlp2Y20wOUluUnlZVzV6YkdGMFpTZ3hNakF6TlN3d0tTSXZQangxYzJVZ1pHRjBZUzFqUFNJM055SWdlR3hwYm1zNmFISmxaajBpSTAxS1dDMHpNeTFVUlZndFRpMDNOeUlnZEhKaGJuTm1iM0p0UFNKMGNtRnVjMnhoZEdVb01USTBOemtzTUNraUx6NDhkWE5sSUdSaGRHRXRZejBpTmpFaUlIaHNhVzVyT21oeVpXWTlJaU5OU2xndE16TXRWRVZZTFU0dE5qRWlJSFJ5WVc1elptOXliVDBpZEhKaGJuTnNZWFJsS0RFek1qQXhMREFwSWk4K1BIVnpaU0JrWVhSaExXTTlJamN5SWlCNGJHbHVhenBvY21WbVBTSWpUVXBZTFRNekxWUkZXQzFPTFRjeUlpQjBjbUZ1YzJadmNtMDlJblJ5WVc1emJHRjBaU2d4TXpjd01Td3dLU0l2UGp4MWMyVWdaR0YwWVMxalBTSTJOQ0lnZUd4cGJtczZhSEpsWmowaUkwMUtXQzB6TXkxVVJWZ3RUaTAyTkNJZ2RISmhibk5tYjNKdFBTSjBjbUZ1YzJ4aGRHVW9NVFF3T1RNc01Da2lMejQ4ZFhObElHUmhkR0V0WXowaU1qQWlJSGhzYVc1ck9taHlaV1k5SWlOTlNsZ3RNek10VkVWWUxVNHRNakFpSUhSeVlXNXpabTl5YlQwaWRISmhibk5zWVhSbEtERTBOalE1TERBcElpOCtQSFZ6WlNCa1lYUmhMV005SWpZMklpQjRiR2x1YXpwb2NtVm1QU0lqVFVwWUxUTXpMVlJGV0MxT0xUWTJJaUIwY21GdWMyWnZjbTA5SW5SeVlXNXpiR0YwWlNneE5EZzVPU3d3S1NJdlBqeDFjMlVnWkdGMFlTMWpQU0kzTWlJZ2VHeHBibXM2YUhKbFpqMGlJMDFLV0Mwek15MVVSVmd0VGkwM01pSWdkSEpoYm5ObWIzSnRQU0owY21GdWMyeGhkR1VvTVRVeU1EVXNNQ2tpTHo0OGRYTmxJR1JoZEdFdFl6MGlOa1lpSUhoc2FXNXJPbWh5WldZOUlpTk5TbGd0TXpNdFZFVllMVTR0TmtZaUlIUnlZVzV6Wm05eWJUMGlkSEpoYm5Oc1lYUmxLREUxTlRrM0xEQXBJaTgrUEhWelpTQmtZWFJoTFdNOUlqWkVJaUI0YkdsdWF6cG9jbVZtUFNJalRVcFlMVE16TFZSRldDMU9MVFpFSWlCMGNtRnVjMlp2Y20wOUluUnlZVzV6YkdGMFpTZ3hOakE1Tnl3d0tTSXZQangxYzJVZ1pHRjBZUzFqUFNJeU1DSWdlR3hwYm1zNmFISmxaajBpSTAxS1dDMHpNeTFVUlZndFRpMHlNQ0lnZEhKaGJuTm1iM0p0UFNKMGNtRnVjMnhoZEdVb01UWTVNekFzTUNraUx6NDhkWE5sSUdSaGRHRXRZejBpTmtVaUlIaHNhVzVyT21oeVpXWTlJaU5OU2xndE16TXRWRVZZTFU0dE5rVWlJSFJ5WVc1elptOXliVDBpZEhKaGJuTnNZWFJsS0RFM01UZ3dMREFwSWk4K1BIVnpaU0JrWVhSaExXTTlJalkxSWlCNGJHbHVhenBvY21WbVBTSWpUVXBZTFRNekxWUkZXQzFPTFRZMUlpQjBjbUZ1YzJadmNtMDlJblJ5WVc1emJHRjBaU2d4Tnpjek5pd3dLU0l2UGp4MWMyVWdaR0YwWVMxalBTSTNPQ0lnZUd4cGJtczZhSEpsWmowaUkwMUtXQzB6TXkxVVJWZ3RUaTAzT0NJZ2RISmhibk5tYjNKdFBTSjBjbUZ1YzJ4aGRHVW9NVGd4T0RBc01Da2lMejQ4ZFhObElHUmhkR0V0WXowaU56UWlJSGhzYVc1ck9taHlaV1k5SWlOTlNsZ3RNek10VkVWWUxVNHROelFpSUhSeVlXNXpabTl5YlQwaWRISmhibk5zWVhSbEtERTROekE0TERBcElpOCtQSFZ6WlNCa1lYUmhMV005SWpJd0lpQjRiR2x1YXpwb2NtVm1QU0lqVFVwWUxUTXpMVlJGV0MxT0xUSXdJaUIwY21GdWMyWnZjbTA5SW5SeVlXNXpiR0YwWlNneE9UQTVOeXd3S1NJdlBqeDFjMlVnWkdGMFlTMWpQU0kzTXlJZ2VHeHBibXM2YUhKbFpqMGlJMDFLV0Mwek15MVVSVmd0VGkwM015SWdkSEpoYm5ObWIzSnRQU0owY21GdWMyeGhkR1VvTVRrek5EY3NNQ2tpTHo0OGRYTmxJR1JoZEdFdFl6MGlOelFpSUhoc2FXNXJPbWh5WldZOUlpTk5TbGd0TXpNdFZFVllMVTR0TnpRaUlIUnlZVzV6Wm05eWJUMGlkSEpoYm5Oc1lYUmxLREU1TnpReExEQXBJaTgrUEhWelpTQmtZWFJoTFdNOUlqWXhJaUI0YkdsdWF6cG9jbVZtUFNJalRVcFlMVE16TFZSRldDMU9MVFl4SWlCMGNtRnVjMlp2Y20wOUluUnlZVzV6YkdGMFpTZ3lNREV6TUN3d0tTSXZQangxYzJVZ1pHRjBZUzFqUFNJM05DSWdlR3hwYm1zNmFISmxaajBpSTAxS1dDMHpNeTFVUlZndFRpMDNOQ0lnZEhKaGJuTm1iM0p0UFNKMGNtRnVjMnhoZEdVb01qQTJNekFzTUNraUx6NDhkWE5sSUdSaGRHRXRZejBpTmpVaUlIaHNhVzVyT21oeVpXWTlJaU5OU2xndE16TXRWRVZZTFU0dE5qVWlJSFJ5WVc1elptOXliVDBpZEhKaGJuTnNZWFJsS0RJeE1ERTVMREFwSWk4K1BIVnpaU0JrWVhSaExXTTlJa0V3SWlCNGJHbHVhenBvY21WbVBTSWpUVXBZTFRNekxWUkZXQzFPTFVFd0lpQjBjbUZ1YzJadmNtMDlJblJ5WVc1emJHRjBaU2d5TVRRMk15d3dLU0l2UGp3dlp6NDhaeUJrWVhSaExXMXRiQzF1YjJSbFBTSnRjM1Z3SWlCMGNtRnVjMlp2Y20wOUluUnlZVzV6YkdGMFpTZ3lNalUwTmk0MkxEQXBJajQ4WnlCa1lYUmhMVzF0YkMxdWIyUmxQU0p0YVNJK1BIVnpaU0JrWVhSaExXTTlJakZFTkRZd0lpQjRiR2x1YXpwb2NtVm1QU0lqVFVwWUxUTXpMVlJGV0MxSkxURkVORFl3SWk4K1BDOW5QanhuSUdSaGRHRXRiVzFzTFc1dlpHVTlJbTF2SWlCMGNtRnVjMlp2Y20wOUluUnlZVzV6YkdGMFpTZzFNRElzTkRFektTQnpZMkZzWlNnd0xqY3dOeWtpUGp4MWMyVWdaR0YwWVMxalBTSXlNRE15SWlCNGJHbHVhenBvY21WbVBTSWpUVXBZTFRNekxWUkZXQzFXTFRJd016SWlMejQ4TDJjK1BDOW5Qand2Wno0OEwyYytQQzluUGp3dlp6NDhMMmMrUEM5emRtYysiLAoJIlJlYWxWaWV3U2l6ZUpzb24iIDogIntcImhlaWdodFwiOjE0NjQuMjg1NzM2MDgzOTg0NCxcIndpZHRoXCI6OTE3OC41NzExNjY5OTIxODh9Igp9Cg=="/>
    </extobj>
  </extobjs>
</s:customData>
</file>

<file path=customXml/itemProps12.xml><?xml version="1.0" encoding="utf-8"?>
<ds:datastoreItem xmlns:ds="http://schemas.openxmlformats.org/officeDocument/2006/customXml" ds:itemID="s:customData">
  <ds:schemaRefs>
    <ds:schemaRef ds:uri="http://www.wps.cn/officeDocument/2013/wpsCustomData"/>
  </ds:schemaRefs>
</ds:datastoreItem>
</file>

<file path=docProps/app.xml><?xml version="1.0" encoding="utf-8"?>
<Properties xmlns="http://schemas.openxmlformats.org/officeDocument/2006/extended-properties" xmlns:vt="http://schemas.openxmlformats.org/officeDocument/2006/docPropsVTypes">
  <TotalTime>0</TotalTime>
  <Words>14378</Words>
  <Application>WPS Presentation</Application>
  <PresentationFormat>Widescreen</PresentationFormat>
  <Paragraphs>576</Paragraphs>
  <Slides>27</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27</vt:i4>
      </vt:variant>
    </vt:vector>
  </HeadingPairs>
  <TitlesOfParts>
    <vt:vector size="36" baseType="lpstr">
      <vt:lpstr>Arial</vt:lpstr>
      <vt:lpstr>SimSun</vt:lpstr>
      <vt:lpstr>Wingdings</vt:lpstr>
      <vt:lpstr>Cambria</vt:lpstr>
      <vt:lpstr>Wingdings</vt:lpstr>
      <vt:lpstr>Microsoft YaHei</vt:lpstr>
      <vt:lpstr>Arial Unicode MS</vt:lpstr>
      <vt:lpstr>Calibri</vt:lpstr>
      <vt:lpstr>Default Design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SHUBHAM</dc:creator>
  <cp:lastModifiedBy>LENOVO WORLD</cp:lastModifiedBy>
  <cp:revision>400</cp:revision>
  <dcterms:created xsi:type="dcterms:W3CDTF">2025-09-02T04:47:00Z</dcterms:created>
  <dcterms:modified xsi:type="dcterms:W3CDTF">2025-12-04T18:02:52Z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32C3DB3C1FD84838A40692C3FF2D318F_11</vt:lpwstr>
  </property>
  <property fmtid="{D5CDD505-2E9C-101B-9397-08002B2CF9AE}" pid="3" name="KSOProductBuildVer">
    <vt:lpwstr>1033-12.2.0.23155</vt:lpwstr>
  </property>
</Properties>
</file>